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"/>
  </p:notesMasterIdLst>
  <p:handoutMasterIdLst>
    <p:handoutMasterId r:id="rId7"/>
  </p:handoutMasterIdLst>
  <p:sldIdLst>
    <p:sldId id="317" r:id="rId5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onisha Rahman" initials="MR" lastIdx="46" clrIdx="0">
    <p:extLst>
      <p:ext uri="{19B8F6BF-5375-455C-9EA6-DF929625EA0E}">
        <p15:presenceInfo xmlns:p15="http://schemas.microsoft.com/office/powerpoint/2012/main" userId="S::RAHMANM@MITRE.ORG::6cf91401-9094-4e8f-a695-42ee7077f7e9" providerId="AD"/>
      </p:ext>
    </p:extLst>
  </p:cmAuthor>
  <p:cmAuthor id="2" name="Rachel E Gregorio" initials="REG" lastIdx="9" clrIdx="1">
    <p:extLst>
      <p:ext uri="{19B8F6BF-5375-455C-9EA6-DF929625EA0E}">
        <p15:presenceInfo xmlns:p15="http://schemas.microsoft.com/office/powerpoint/2012/main" userId="S::rgregorio@mitre.org::8bffd36a-0092-49e2-a094-14b10b84ee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DEFF"/>
    <a:srgbClr val="0B2338"/>
    <a:srgbClr val="005B93"/>
    <a:srgbClr val="0A2237"/>
    <a:srgbClr val="C8DFF4"/>
    <a:srgbClr val="00B0F0"/>
    <a:srgbClr val="C9EAFF"/>
    <a:srgbClr val="FFFFFF"/>
    <a:srgbClr val="E1F6FF"/>
    <a:srgbClr val="E2F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3333" autoAdjust="0"/>
  </p:normalViewPr>
  <p:slideViewPr>
    <p:cSldViewPr snapToGrid="0">
      <p:cViewPr varScale="1">
        <p:scale>
          <a:sx n="56" d="100"/>
          <a:sy n="56" d="100"/>
        </p:scale>
        <p:origin x="1440" y="52"/>
      </p:cViewPr>
      <p:guideLst>
        <p:guide orient="horz" pos="2448"/>
        <p:guide pos="31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2692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5C3CCF0-20A0-4277-B884-FCDC13D421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9C8C52-E96C-4D62-9306-4F2B3D25D33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CFA0B8-05D5-4D03-BED0-5F9DB4E2AD1C}" type="datetimeFigureOut">
              <a:rPr lang="en-US" smtClean="0"/>
              <a:t>6/2/2021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160679-50D1-49D8-B7AD-A9CF1516F28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18EA8-AA11-4184-9321-7F5274B194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B1F5E2-A98F-40FE-8D42-344BEA526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4712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A9B366-79F4-4B62-AF82-2B8B21D70C18}" type="datetimeFigureOut">
              <a:rPr lang="en-US" smtClean="0"/>
              <a:t>6/2/2021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21AF85-23DB-4EF3-AEBB-2F7BA47FD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424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C76307C-E903-4132-A77E-BC2083EF88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56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076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36CAA1B-F833-B74D-8E4B-3A6E9372A0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41064" y="269608"/>
            <a:ext cx="1826836" cy="15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52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C30DF5-EA82-804F-B290-E191C0017C5E}"/>
              </a:ext>
            </a:extLst>
          </p:cNvPr>
          <p:cNvSpPr txBox="1"/>
          <p:nvPr/>
        </p:nvSpPr>
        <p:spPr>
          <a:xfrm>
            <a:off x="159243" y="424392"/>
            <a:ext cx="7749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dirty="0">
                <a:solidFill>
                  <a:srgbClr val="00B0F0"/>
                </a:solidFill>
                <a:latin typeface="Trade Gothic LT Pro Bold" panose="020B0803040303020004" pitchFamily="34" charset="0"/>
              </a:rPr>
              <a:t>TRIZ PRISM: </a:t>
            </a:r>
            <a:r>
              <a:rPr lang="en-US" dirty="0">
                <a:solidFill>
                  <a:srgbClr val="0B2338"/>
                </a:solidFill>
                <a:latin typeface="Trade Gothic LT Pro Bold" panose="020B0803040303020004" pitchFamily="34" charset="0"/>
              </a:rPr>
              <a:t>Uncover solutions to difficult problems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rgbClr val="0B2338"/>
              </a:solidFill>
              <a:effectLst/>
              <a:uLnTx/>
              <a:uFillTx/>
              <a:latin typeface="Trade Gothic LT Pro Bold" panose="020B08030403030200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5E66380-90E5-4066-B001-F735DD66EEB4}"/>
              </a:ext>
            </a:extLst>
          </p:cNvPr>
          <p:cNvSpPr txBox="1"/>
          <p:nvPr/>
        </p:nvSpPr>
        <p:spPr>
          <a:xfrm>
            <a:off x="3286844" y="2764249"/>
            <a:ext cx="12139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Trade Gothic LT Pro Bold" panose="020B0503040303020004" pitchFamily="34" charset="77"/>
              </a:rPr>
              <a:t>What Supports?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E9591C7-E102-4B6F-9806-298A05C64698}"/>
              </a:ext>
            </a:extLst>
          </p:cNvPr>
          <p:cNvSpPr txBox="1"/>
          <p:nvPr/>
        </p:nvSpPr>
        <p:spPr>
          <a:xfrm>
            <a:off x="8125534" y="2771240"/>
            <a:ext cx="490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Trade Gothic LT Pro Bold" panose="020B0503040303020004" pitchFamily="34" charset="77"/>
              </a:rPr>
              <a:t>Who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723865B-690F-4255-B4A6-4A082B23D4B6}"/>
              </a:ext>
            </a:extLst>
          </p:cNvPr>
          <p:cNvSpPr txBox="1"/>
          <p:nvPr/>
        </p:nvSpPr>
        <p:spPr>
          <a:xfrm>
            <a:off x="5641413" y="2516554"/>
            <a:ext cx="12456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u="none" strike="noStrike" baseline="0" dirty="0">
                <a:solidFill>
                  <a:schemeClr val="bg1"/>
                </a:solidFill>
                <a:latin typeface="Trade Gothic LT Pro Bold" panose="020B0503040303020004"/>
              </a:rPr>
              <a:t>Disruptions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1012B21-1F42-44EE-A051-6B9894E01C31}"/>
              </a:ext>
            </a:extLst>
          </p:cNvPr>
          <p:cNvSpPr/>
          <p:nvPr/>
        </p:nvSpPr>
        <p:spPr>
          <a:xfrm>
            <a:off x="276447" y="937516"/>
            <a:ext cx="9526772" cy="6322274"/>
          </a:xfrm>
          <a:prstGeom prst="rect">
            <a:avLst/>
          </a:prstGeom>
          <a:noFill/>
          <a:ln w="1905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29F75B3-2FB3-41CE-8336-84E373B9A7FE}"/>
              </a:ext>
            </a:extLst>
          </p:cNvPr>
          <p:cNvCxnSpPr>
            <a:cxnSpLocks/>
          </p:cNvCxnSpPr>
          <p:nvPr/>
        </p:nvCxnSpPr>
        <p:spPr>
          <a:xfrm>
            <a:off x="5045150" y="937516"/>
            <a:ext cx="0" cy="6322274"/>
          </a:xfrm>
          <a:prstGeom prst="line">
            <a:avLst/>
          </a:prstGeom>
          <a:ln w="9525">
            <a:solidFill>
              <a:srgbClr val="7E8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A26ABF5-E7B2-43E5-A867-BFBE57FB1A8C}"/>
              </a:ext>
            </a:extLst>
          </p:cNvPr>
          <p:cNvCxnSpPr>
            <a:cxnSpLocks/>
            <a:stCxn id="100" idx="1"/>
            <a:endCxn id="100" idx="3"/>
          </p:cNvCxnSpPr>
          <p:nvPr/>
        </p:nvCxnSpPr>
        <p:spPr>
          <a:xfrm>
            <a:off x="276447" y="4098653"/>
            <a:ext cx="9526772" cy="0"/>
          </a:xfrm>
          <a:prstGeom prst="line">
            <a:avLst/>
          </a:prstGeom>
          <a:ln w="9525">
            <a:solidFill>
              <a:srgbClr val="7E8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63E3420-17A8-482F-86E7-122DC2BE3941}"/>
              </a:ext>
            </a:extLst>
          </p:cNvPr>
          <p:cNvSpPr/>
          <p:nvPr/>
        </p:nvSpPr>
        <p:spPr>
          <a:xfrm>
            <a:off x="287079" y="6878873"/>
            <a:ext cx="4758070" cy="380917"/>
          </a:xfrm>
          <a:prstGeom prst="rect">
            <a:avLst/>
          </a:prstGeom>
          <a:solidFill>
            <a:srgbClr val="0B2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rade Gothic LT Pro Bold" panose="020B0803040303020004" pitchFamily="34" charset="0"/>
              </a:rPr>
              <a:t>1. Specific Problem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8465DE8-2523-4431-AE4E-F8796BBF5A64}"/>
              </a:ext>
            </a:extLst>
          </p:cNvPr>
          <p:cNvSpPr/>
          <p:nvPr/>
        </p:nvSpPr>
        <p:spPr>
          <a:xfrm>
            <a:off x="287079" y="936973"/>
            <a:ext cx="4758070" cy="380917"/>
          </a:xfrm>
          <a:prstGeom prst="rect">
            <a:avLst/>
          </a:prstGeom>
          <a:solidFill>
            <a:srgbClr val="CAF0FC"/>
          </a:solidFill>
          <a:ln w="1905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B2338"/>
                </a:solidFill>
                <a:latin typeface="Trade Gothic LT Pro Bold" panose="020B0803040303020004" pitchFamily="34" charset="0"/>
              </a:rPr>
              <a:t>2. General Problem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BBF896-9BB6-4223-88F7-381B9B8573B3}"/>
              </a:ext>
            </a:extLst>
          </p:cNvPr>
          <p:cNvSpPr/>
          <p:nvPr/>
        </p:nvSpPr>
        <p:spPr>
          <a:xfrm>
            <a:off x="5045149" y="937516"/>
            <a:ext cx="4758070" cy="380917"/>
          </a:xfrm>
          <a:prstGeom prst="rect">
            <a:avLst/>
          </a:prstGeom>
          <a:solidFill>
            <a:srgbClr val="87DEFF"/>
          </a:solidFill>
          <a:ln w="1905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B2338"/>
                </a:solidFill>
                <a:latin typeface="Trade Gothic LT Pro Bold" panose="020B0803040303020004" pitchFamily="34" charset="0"/>
              </a:rPr>
              <a:t>3. General Solution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EE55EA2-FD0A-43E5-AB70-F648A6B377F9}"/>
              </a:ext>
            </a:extLst>
          </p:cNvPr>
          <p:cNvSpPr/>
          <p:nvPr/>
        </p:nvSpPr>
        <p:spPr>
          <a:xfrm>
            <a:off x="5045149" y="6889507"/>
            <a:ext cx="4758070" cy="370284"/>
          </a:xfrm>
          <a:prstGeom prst="rect">
            <a:avLst/>
          </a:prstGeom>
          <a:solidFill>
            <a:srgbClr val="005B93"/>
          </a:solidFill>
          <a:ln w="1905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  <a:latin typeface="Trade Gothic LT Pro Bold" panose="020B0803040303020004" pitchFamily="34" charset="0"/>
              </a:rPr>
              <a:t>4. Specific Solution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3C6FC3-1B89-45FF-9B01-DB62E5ABF8A0}"/>
              </a:ext>
            </a:extLst>
          </p:cNvPr>
          <p:cNvSpPr txBox="1"/>
          <p:nvPr/>
        </p:nvSpPr>
        <p:spPr>
          <a:xfrm>
            <a:off x="340242" y="4146699"/>
            <a:ext cx="25030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 Gothic LT Pro Bold" panose="020B0503040303020004"/>
                <a:ea typeface="+mn-ea"/>
                <a:cs typeface="+mn-cs"/>
              </a:rPr>
              <a:t>START HERE</a:t>
            </a:r>
          </a:p>
        </p:txBody>
      </p:sp>
      <p:sp>
        <p:nvSpPr>
          <p:cNvPr id="9" name="Arrow: Up 8">
            <a:extLst>
              <a:ext uri="{FF2B5EF4-FFF2-40B4-BE49-F238E27FC236}">
                <a16:creationId xmlns:a16="http://schemas.microsoft.com/office/drawing/2014/main" id="{381EA251-18C4-4CDE-ABE0-624C42534F4A}"/>
              </a:ext>
            </a:extLst>
          </p:cNvPr>
          <p:cNvSpPr/>
          <p:nvPr/>
        </p:nvSpPr>
        <p:spPr>
          <a:xfrm>
            <a:off x="2843270" y="3769650"/>
            <a:ext cx="443574" cy="601398"/>
          </a:xfrm>
          <a:prstGeom prst="upArrow">
            <a:avLst/>
          </a:prstGeom>
          <a:solidFill>
            <a:srgbClr val="0B2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Up 29">
            <a:extLst>
              <a:ext uri="{FF2B5EF4-FFF2-40B4-BE49-F238E27FC236}">
                <a16:creationId xmlns:a16="http://schemas.microsoft.com/office/drawing/2014/main" id="{CEC88545-81BB-41B0-8D7B-BD52C8A34A49}"/>
              </a:ext>
            </a:extLst>
          </p:cNvPr>
          <p:cNvSpPr/>
          <p:nvPr/>
        </p:nvSpPr>
        <p:spPr>
          <a:xfrm rot="5400000">
            <a:off x="4872466" y="2962066"/>
            <a:ext cx="443574" cy="601398"/>
          </a:xfrm>
          <a:prstGeom prst="upArrow">
            <a:avLst/>
          </a:prstGeom>
          <a:solidFill>
            <a:srgbClr val="87D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Up 30">
            <a:extLst>
              <a:ext uri="{FF2B5EF4-FFF2-40B4-BE49-F238E27FC236}">
                <a16:creationId xmlns:a16="http://schemas.microsoft.com/office/drawing/2014/main" id="{973E6BAC-38A2-4A2A-B4EA-7BFACB12ADF2}"/>
              </a:ext>
            </a:extLst>
          </p:cNvPr>
          <p:cNvSpPr/>
          <p:nvPr/>
        </p:nvSpPr>
        <p:spPr>
          <a:xfrm rot="10800000">
            <a:off x="6581670" y="3808587"/>
            <a:ext cx="443574" cy="601398"/>
          </a:xfrm>
          <a:prstGeom prst="upArrow">
            <a:avLst/>
          </a:prstGeom>
          <a:solidFill>
            <a:srgbClr val="005B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6F4609-4A32-4E7A-94F8-AE151112043B}"/>
              </a:ext>
            </a:extLst>
          </p:cNvPr>
          <p:cNvSpPr txBox="1"/>
          <p:nvPr/>
        </p:nvSpPr>
        <p:spPr>
          <a:xfrm>
            <a:off x="106162" y="7423572"/>
            <a:ext cx="15696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>
                <a:latin typeface="Trade Gothic LT Pro" panose="020B0503040303020004" pitchFamily="34" charset="77"/>
                <a:cs typeface="Arial" panose="020B0604020202020204" pitchFamily="34" charset="0"/>
              </a:rPr>
              <a:t>itk.mitre.org</a:t>
            </a:r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 | </a:t>
            </a:r>
            <a:r>
              <a:rPr lang="en-US" sz="900" dirty="0" err="1">
                <a:latin typeface="Trade Gothic LT Pro" panose="020B0503040303020004" pitchFamily="34" charset="77"/>
                <a:cs typeface="Arial" panose="020B0604020202020204" pitchFamily="34" charset="0"/>
              </a:rPr>
              <a:t>itk@mitre.org</a:t>
            </a:r>
            <a:endParaRPr lang="en-US" sz="900" dirty="0">
              <a:latin typeface="Trade Gothic LT Pro" panose="020B0503040303020004" pitchFamily="34" charset="77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8C3479-6AED-4B83-896B-2F8324EF72F3}"/>
              </a:ext>
            </a:extLst>
          </p:cNvPr>
          <p:cNvSpPr txBox="1"/>
          <p:nvPr/>
        </p:nvSpPr>
        <p:spPr>
          <a:xfrm>
            <a:off x="3720705" y="7433621"/>
            <a:ext cx="58336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© 2021 The MITRE Corporation. All rights reserved. Approved for public release. Distribution unlimited PR_20-01469-11.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064137-5CCE-4DC1-A51A-3E3A6B3AA3CE}"/>
              </a:ext>
            </a:extLst>
          </p:cNvPr>
          <p:cNvSpPr txBox="1"/>
          <p:nvPr/>
        </p:nvSpPr>
        <p:spPr>
          <a:xfrm>
            <a:off x="2273630" y="7433621"/>
            <a:ext cx="9156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TRIZ prism V1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3F28A4-86DF-4BF6-8D24-34BA2A22A724}"/>
              </a:ext>
            </a:extLst>
          </p:cNvPr>
          <p:cNvSpPr txBox="1"/>
          <p:nvPr/>
        </p:nvSpPr>
        <p:spPr>
          <a:xfrm>
            <a:off x="287079" y="6529518"/>
            <a:ext cx="44533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0B2338"/>
                </a:solidFill>
                <a:effectLst/>
                <a:uLnTx/>
                <a:uFillTx/>
                <a:latin typeface="Trade Gothic LT Pro" panose="020B0503040303020004" pitchFamily="34" charset="0"/>
                <a:ea typeface="+mn-ea"/>
                <a:cs typeface="+mn-cs"/>
              </a:rPr>
              <a:t>Describe the problem with lots of specific details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93047C-AEC3-434B-98D7-D183B08BC0F9}"/>
              </a:ext>
            </a:extLst>
          </p:cNvPr>
          <p:cNvSpPr txBox="1"/>
          <p:nvPr/>
        </p:nvSpPr>
        <p:spPr>
          <a:xfrm>
            <a:off x="256355" y="1353220"/>
            <a:ext cx="44533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0B2338"/>
                </a:solidFill>
                <a:effectLst/>
                <a:uLnTx/>
                <a:uFillTx/>
                <a:latin typeface="Trade Gothic LT Pro" panose="020B0503040303020004" pitchFamily="34" charset="0"/>
                <a:ea typeface="+mn-ea"/>
                <a:cs typeface="+mn-cs"/>
              </a:rPr>
              <a:t>Replace specific details with generalities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4CE2B9-7304-4383-9061-261934530CB1}"/>
              </a:ext>
            </a:extLst>
          </p:cNvPr>
          <p:cNvSpPr txBox="1"/>
          <p:nvPr/>
        </p:nvSpPr>
        <p:spPr>
          <a:xfrm>
            <a:off x="5101041" y="1353220"/>
            <a:ext cx="44533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0B2338"/>
                </a:solidFill>
                <a:effectLst/>
                <a:uLnTx/>
                <a:uFillTx/>
                <a:latin typeface="Trade Gothic LT Pro" panose="020B0503040303020004" pitchFamily="34" charset="0"/>
                <a:ea typeface="+mn-ea"/>
                <a:cs typeface="+mn-cs"/>
              </a:rPr>
              <a:t>Describe the general approach to solve the general solution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38179E-6369-4A46-9DA5-797909BB600B}"/>
              </a:ext>
            </a:extLst>
          </p:cNvPr>
          <p:cNvSpPr txBox="1"/>
          <p:nvPr/>
        </p:nvSpPr>
        <p:spPr>
          <a:xfrm>
            <a:off x="5090817" y="6525592"/>
            <a:ext cx="44533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0B2338"/>
                </a:solidFill>
                <a:effectLst/>
                <a:uLnTx/>
                <a:uFillTx/>
                <a:latin typeface="Trade Gothic LT Pro" panose="020B0503040303020004" pitchFamily="34" charset="0"/>
                <a:ea typeface="+mn-ea"/>
                <a:cs typeface="+mn-cs"/>
              </a:rPr>
              <a:t>Reintroduce the specific details removed in Step 2.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267F90-99A8-4D65-801A-B2F86177DE67}"/>
              </a:ext>
            </a:extLst>
          </p:cNvPr>
          <p:cNvSpPr/>
          <p:nvPr/>
        </p:nvSpPr>
        <p:spPr>
          <a:xfrm>
            <a:off x="4967584" y="4108742"/>
            <a:ext cx="141360" cy="27701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50679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2">
      <a:dk1>
        <a:srgbClr val="000000"/>
      </a:dk1>
      <a:lt1>
        <a:srgbClr val="FFFFFF"/>
      </a:lt1>
      <a:dk2>
        <a:srgbClr val="0B2338"/>
      </a:dk2>
      <a:lt2>
        <a:srgbClr val="E7E6E6"/>
      </a:lt2>
      <a:accent1>
        <a:srgbClr val="E51D3E"/>
      </a:accent1>
      <a:accent2>
        <a:srgbClr val="ED7D31"/>
      </a:accent2>
      <a:accent3>
        <a:srgbClr val="78C044"/>
      </a:accent3>
      <a:accent4>
        <a:srgbClr val="0DA8D9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94E99C172A24489941E5861361F779" ma:contentTypeVersion="8" ma:contentTypeDescription="Create a new document." ma:contentTypeScope="" ma:versionID="771431e25d0fe5f94154fb889c3e9476">
  <xsd:schema xmlns:xsd="http://www.w3.org/2001/XMLSchema" xmlns:xs="http://www.w3.org/2001/XMLSchema" xmlns:p="http://schemas.microsoft.com/office/2006/metadata/properties" xmlns:ns2="754fbc98-762c-4a90-9774-edf41ff53b67" targetNamespace="http://schemas.microsoft.com/office/2006/metadata/properties" ma:root="true" ma:fieldsID="aec298c6dc5a8bb722e4e4f30310d181" ns2:_="">
    <xsd:import namespace="754fbc98-762c-4a90-9774-edf41ff53b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4fbc98-762c-4a90-9774-edf41ff53b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516BBB1-1D72-424A-B5A0-2681626E672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09A9B2-11C0-4F68-986A-02670966B3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4fbc98-762c-4a90-9774-edf41ff53b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7E9386B-B9D4-4DD2-A9A2-BB4405422051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754fbc98-762c-4a90-9774-edf41ff53b67"/>
    <ds:schemaRef ds:uri="http://purl.org/dc/terms/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45199</TotalTime>
  <Words>97</Words>
  <Application>Microsoft Office PowerPoint</Application>
  <PresentationFormat>Custom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Trade Gothic LT Pro</vt:lpstr>
      <vt:lpstr>Trade Gothic LT Pro Bold</vt:lpstr>
      <vt:lpstr>1_Office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ITK Worksheet Updates</dc:title>
  <dc:creator>Moonisha Rahman</dc:creator>
  <cp:lastModifiedBy>Moonisha Rahman</cp:lastModifiedBy>
  <cp:revision>237</cp:revision>
  <dcterms:created xsi:type="dcterms:W3CDTF">2021-02-16T17:30:35Z</dcterms:created>
  <dcterms:modified xsi:type="dcterms:W3CDTF">2021-06-02T19:14:48Z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0x0101009894E99C172A24489941E5861361F779</vt:lpwstr>
  </property>
</Properties>
</file>