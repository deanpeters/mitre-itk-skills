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7"/>
  </p:notesMasterIdLst>
  <p:handoutMasterIdLst>
    <p:handoutMasterId r:id="rId8"/>
  </p:handoutMasterIdLst>
  <p:sldIdLst>
    <p:sldId id="344" r:id="rId5"/>
    <p:sldId id="343" r:id="rId6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56" d="100"/>
          <a:sy n="56" d="100"/>
        </p:scale>
        <p:origin x="1440" y="5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389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474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69875" y="382737"/>
            <a:ext cx="9326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STAKEHOLDER MAP &amp; MATRIX: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Get to know the people with an interest in the project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76447" y="861242"/>
            <a:ext cx="9526772" cy="6428906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A1B2E3-B659-4101-9BDF-9DF3FBF26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619158"/>
              </p:ext>
            </p:extLst>
          </p:nvPr>
        </p:nvGraphicFramePr>
        <p:xfrm>
          <a:off x="381000" y="977900"/>
          <a:ext cx="9296399" cy="6181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753">
                  <a:extLst>
                    <a:ext uri="{9D8B030D-6E8A-4147-A177-3AD203B41FA5}">
                      <a16:colId xmlns:a16="http://schemas.microsoft.com/office/drawing/2014/main" val="2283603975"/>
                    </a:ext>
                  </a:extLst>
                </a:gridCol>
                <a:gridCol w="1152047">
                  <a:extLst>
                    <a:ext uri="{9D8B030D-6E8A-4147-A177-3AD203B41FA5}">
                      <a16:colId xmlns:a16="http://schemas.microsoft.com/office/drawing/2014/main" val="1341420560"/>
                    </a:ext>
                  </a:extLst>
                </a:gridCol>
                <a:gridCol w="1149349">
                  <a:extLst>
                    <a:ext uri="{9D8B030D-6E8A-4147-A177-3AD203B41FA5}">
                      <a16:colId xmlns:a16="http://schemas.microsoft.com/office/drawing/2014/main" val="1206033716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326901147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110629926"/>
                    </a:ext>
                  </a:extLst>
                </a:gridCol>
                <a:gridCol w="1304573">
                  <a:extLst>
                    <a:ext uri="{9D8B030D-6E8A-4147-A177-3AD203B41FA5}">
                      <a16:colId xmlns:a16="http://schemas.microsoft.com/office/drawing/2014/main" val="3711097271"/>
                    </a:ext>
                  </a:extLst>
                </a:gridCol>
                <a:gridCol w="1019527">
                  <a:extLst>
                    <a:ext uri="{9D8B030D-6E8A-4147-A177-3AD203B41FA5}">
                      <a16:colId xmlns:a16="http://schemas.microsoft.com/office/drawing/2014/main" val="2058383457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3559591646"/>
                    </a:ext>
                  </a:extLst>
                </a:gridCol>
              </a:tblGrid>
              <a:tr h="5394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Stakeholder Name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Contact Person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Impact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Influence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Importance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Contribution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Block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Engagement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647339"/>
                  </a:ext>
                </a:extLst>
              </a:tr>
              <a:tr h="1061422"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</a:rPr>
                        <a:t>Phone, Email, Website, Address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How much does the project impact them? (Low, Medium, High)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How much influence do they have over the project? (Low, Medium, High)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What is important to the stakeholder?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How could the stakeholder contribute to the project?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How could the stakeholder block the project?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Strategy for engaging the stakeholder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443217"/>
                  </a:ext>
                </a:extLst>
              </a:tr>
              <a:tr h="876231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290127"/>
                  </a:ext>
                </a:extLst>
              </a:tr>
              <a:tr h="1041014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782362"/>
                  </a:ext>
                </a:extLst>
              </a:tr>
              <a:tr h="876231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039516"/>
                  </a:ext>
                </a:extLst>
              </a:tr>
              <a:tr h="876231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125276"/>
                  </a:ext>
                </a:extLst>
              </a:tr>
              <a:tr h="876231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447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EE874A-CAA7-4424-BEC0-17C877B9A052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8E4F1-D613-4E3A-80D0-F0E0469F8270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06E50F-7440-494F-AE00-4E321968674F}"/>
              </a:ext>
            </a:extLst>
          </p:cNvPr>
          <p:cNvSpPr txBox="1"/>
          <p:nvPr/>
        </p:nvSpPr>
        <p:spPr>
          <a:xfrm>
            <a:off x="2081267" y="7433621"/>
            <a:ext cx="13003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Stakeholder Matrix V1</a:t>
            </a:r>
          </a:p>
        </p:txBody>
      </p:sp>
    </p:spTree>
    <p:extLst>
      <p:ext uri="{BB962C8B-B14F-4D97-AF65-F5344CB8AC3E}">
        <p14:creationId xmlns:p14="http://schemas.microsoft.com/office/powerpoint/2010/main" val="30687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69876" y="382737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STAKEHOLDER MAP &amp; MATRIX: </a:t>
            </a:r>
            <a:r>
              <a:rPr lang="en-US" dirty="0">
                <a:solidFill>
                  <a:srgbClr val="0A2237"/>
                </a:solidFill>
                <a:latin typeface="Trade Gothic LT Pro Bold" panose="020B0803040303020004" pitchFamily="34" charset="0"/>
              </a:rPr>
              <a:t>Filled out example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76447" y="861242"/>
            <a:ext cx="9526772" cy="6428906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A1B2E3-B659-4101-9BDF-9DF3FBF26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959731"/>
              </p:ext>
            </p:extLst>
          </p:nvPr>
        </p:nvGraphicFramePr>
        <p:xfrm>
          <a:off x="381000" y="978164"/>
          <a:ext cx="9296399" cy="62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190">
                  <a:extLst>
                    <a:ext uri="{9D8B030D-6E8A-4147-A177-3AD203B41FA5}">
                      <a16:colId xmlns:a16="http://schemas.microsoft.com/office/drawing/2014/main" val="2283603975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341420560"/>
                    </a:ext>
                  </a:extLst>
                </a:gridCol>
                <a:gridCol w="1089659">
                  <a:extLst>
                    <a:ext uri="{9D8B030D-6E8A-4147-A177-3AD203B41FA5}">
                      <a16:colId xmlns:a16="http://schemas.microsoft.com/office/drawing/2014/main" val="1206033716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326901147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110629926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371109727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58383457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3559591646"/>
                    </a:ext>
                  </a:extLst>
                </a:gridCol>
              </a:tblGrid>
              <a:tr h="5656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Stakeholder Name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Contact Person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Impact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Influence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Importance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Contribution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Block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rade Gothic LT Pro Bold" panose="020B0803040303020004" pitchFamily="34" charset="0"/>
                        </a:rPr>
                        <a:t>Engagement</a:t>
                      </a:r>
                    </a:p>
                  </a:txBody>
                  <a:tcPr marL="124518" marR="124518" marT="62259" marB="62259" anchor="ctr">
                    <a:solidFill>
                      <a:srgbClr val="0B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647339"/>
                  </a:ext>
                </a:extLst>
              </a:tr>
              <a:tr h="1113090"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bg1">
                            <a:lumMod val="50000"/>
                          </a:schemeClr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</a:rPr>
                        <a:t>Phone, Email, Website, Address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How much does the project impact them? (Low, Medium, High)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How much influence do they have over the project? (Low, Medium, High)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What is important to the stakeholder?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How could the stakeholder contribute to the project?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How could the stakeholder block the project?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5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bg1"/>
                          </a:solidFill>
                          <a:latin typeface="Trade Gothic LT Pro Light" panose="020B0403040303020004" pitchFamily="34" charset="77"/>
                          <a:ea typeface="+mn-ea"/>
                          <a:cs typeface="+mn-cs"/>
                        </a:rPr>
                        <a:t>Strategy for engaging the stakeholder</a:t>
                      </a:r>
                    </a:p>
                  </a:txBody>
                  <a:tcPr marL="124518" marR="124518" marT="62259" marB="62259">
                    <a:solidFill>
                      <a:srgbClr val="4554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443217"/>
                  </a:ext>
                </a:extLst>
              </a:tr>
              <a:tr h="1118842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EXAMPLE</a:t>
                      </a:r>
                    </a:p>
                    <a:p>
                      <a:pPr algn="l"/>
                      <a:endParaRPr lang="en-US" sz="110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</a:endParaRP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Nurses &amp; Midwives Union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Carlos </a:t>
                      </a:r>
                      <a:r>
                        <a:rPr lang="es-ES" sz="1100" dirty="0" err="1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Davida</a:t>
                      </a:r>
                      <a:endParaRPr lang="es-ES" sz="110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</a:endParaRPr>
                    </a:p>
                    <a:p>
                      <a:pPr algn="l"/>
                      <a:r>
                        <a:rPr lang="es-E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cdavida@nu.org</a:t>
                      </a:r>
                    </a:p>
                    <a:p>
                      <a:pPr algn="l"/>
                      <a:r>
                        <a:rPr lang="es-E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0998 765 287</a:t>
                      </a:r>
                      <a:endParaRPr lang="en-US" sz="110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High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High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Maintaining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working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conditions for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nurses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Agree for union members to implement the new reforms 	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Going on strike 	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Monthly round-table discussions 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290127"/>
                  </a:ext>
                </a:extLst>
              </a:tr>
              <a:tr h="1284774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Patient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Advocacy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Group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b="0" i="0" u="none" strike="noStrike" kern="1200" baseline="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pl-PL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Viki Chan vchan@pag.org 888 587 101 	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High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Medium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Maximizing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quality of care for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patients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Communicate with other stakeholders to express their support for reforms 	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Making complaints about quality of service after the reports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Information and feedback meetings every 6 months 	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782362"/>
                  </a:ext>
                </a:extLst>
              </a:tr>
              <a:tr h="1118842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Sunday Times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Newspaper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Jane Smith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jsmith@stn.com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888 587 101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Low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High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Getting a good</a:t>
                      </a:r>
                    </a:p>
                    <a:p>
                      <a:pPr algn="l"/>
                      <a:r>
                        <a:rPr lang="en-US" sz="110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</a:rPr>
                        <a:t>story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b="0" i="0" u="none" strike="noStrike" kern="1200" baseline="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Print stories that support the new reforms 	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Printing stories that oppose the new reforms 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u="none" strike="noStrike" kern="1200" baseline="0" dirty="0">
                          <a:solidFill>
                            <a:srgbClr val="0B2338"/>
                          </a:solidFill>
                          <a:latin typeface="Trade Gothic LT Pro" panose="020B0503040303020004" pitchFamily="34" charset="0"/>
                          <a:ea typeface="+mn-ea"/>
                          <a:cs typeface="+mn-cs"/>
                        </a:rPr>
                        <a:t>Quarterly press meetings 	</a:t>
                      </a: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039516"/>
                  </a:ext>
                </a:extLst>
              </a:tr>
              <a:tr h="952910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i="0" u="none" strike="noStrike" kern="1200" baseline="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0" i="0" u="none" strike="noStrike" kern="1200" baseline="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0" i="0" u="none" strike="noStrike" kern="1200" baseline="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0" i="0" u="none" strike="noStrike" kern="1200" baseline="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0" i="0" u="none" strike="noStrike" kern="1200" baseline="0" dirty="0">
                        <a:solidFill>
                          <a:srgbClr val="0B2338"/>
                        </a:solidFill>
                        <a:latin typeface="Trade Gothic LT Pro" panose="020B0503040303020004" pitchFamily="34" charset="0"/>
                        <a:ea typeface="+mn-ea"/>
                        <a:cs typeface="+mn-cs"/>
                      </a:endParaRPr>
                    </a:p>
                  </a:txBody>
                  <a:tcPr marL="124518" marR="124518" marT="62259" marB="62259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016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27239A-E5A4-4CD9-911D-5671FB991225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F8901-30B5-481D-AB1F-4AB25B6D13AF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99ABE-2F94-4967-A0A5-635044555602}"/>
              </a:ext>
            </a:extLst>
          </p:cNvPr>
          <p:cNvSpPr txBox="1"/>
          <p:nvPr/>
        </p:nvSpPr>
        <p:spPr>
          <a:xfrm>
            <a:off x="2081267" y="7433621"/>
            <a:ext cx="13003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Stakeholder Matrix V1</a:t>
            </a:r>
          </a:p>
        </p:txBody>
      </p:sp>
    </p:spTree>
    <p:extLst>
      <p:ext uri="{BB962C8B-B14F-4D97-AF65-F5344CB8AC3E}">
        <p14:creationId xmlns:p14="http://schemas.microsoft.com/office/powerpoint/2010/main" val="173588884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E9386B-B9D4-4DD2-A9A2-BB4405422051}">
  <ds:schemaRefs>
    <ds:schemaRef ds:uri="754fbc98-762c-4a90-9774-edf41ff53b6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45200</TotalTime>
  <Words>377</Words>
  <Application>Microsoft Office PowerPoint</Application>
  <PresentationFormat>Custom</PresentationFormat>
  <Paragraphs>85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Trade Gothic LT Pro</vt:lpstr>
      <vt:lpstr>Trade Gothic LT Pro Bold</vt:lpstr>
      <vt:lpstr>Trade Gothic LT Pro Light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Moonisha Rahman</cp:lastModifiedBy>
  <cp:revision>238</cp:revision>
  <dcterms:created xsi:type="dcterms:W3CDTF">2021-02-16T17:30:35Z</dcterms:created>
  <dcterms:modified xsi:type="dcterms:W3CDTF">2021-06-02T19:10:27Z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