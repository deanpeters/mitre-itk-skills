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handoutMasterIdLst>
    <p:handoutMasterId r:id="rId7"/>
  </p:handoutMasterIdLst>
  <p:sldIdLst>
    <p:sldId id="342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isha Rahman" initials="MR" lastIdx="46" clrIdx="0">
    <p:extLst>
      <p:ext uri="{19B8F6BF-5375-455C-9EA6-DF929625EA0E}">
        <p15:presenceInfo xmlns:p15="http://schemas.microsoft.com/office/powerpoint/2012/main" userId="S::RAHMANM@MITRE.ORG::6cf91401-9094-4e8f-a695-42ee7077f7e9" providerId="AD"/>
      </p:ext>
    </p:extLst>
  </p:cmAuthor>
  <p:cmAuthor id="2" name="Rachel E Gregorio" initials="REG" lastIdx="9" clrIdx="1">
    <p:extLst>
      <p:ext uri="{19B8F6BF-5375-455C-9EA6-DF929625EA0E}">
        <p15:presenceInfo xmlns:p15="http://schemas.microsoft.com/office/powerpoint/2012/main" userId="S::rgregorio@mitre.org::8bffd36a-0092-49e2-a094-14b10b84ee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EFF"/>
    <a:srgbClr val="0B2338"/>
    <a:srgbClr val="005B93"/>
    <a:srgbClr val="0A2237"/>
    <a:srgbClr val="C8DFF4"/>
    <a:srgbClr val="00B0F0"/>
    <a:srgbClr val="C9EAFF"/>
    <a:srgbClr val="FFFFFF"/>
    <a:srgbClr val="E1F6FF"/>
    <a:srgbClr val="E2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295F9F-B838-0341-9C8D-EF3BCAC27186}" v="2" dt="2022-05-04T21:16:25.8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3333" autoAdjust="0"/>
  </p:normalViewPr>
  <p:slideViewPr>
    <p:cSldViewPr snapToGrid="0">
      <p:cViewPr varScale="1">
        <p:scale>
          <a:sx n="101" d="100"/>
          <a:sy n="101" d="100"/>
        </p:scale>
        <p:origin x="2152" y="200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3CCF0-20A0-4277-B884-FCDC13D421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8C52-E96C-4D62-9306-4F2B3D25D3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A0B8-05D5-4D03-BED0-5F9DB4E2AD1C}" type="datetimeFigureOut">
              <a:rPr lang="en-US" smtClean="0"/>
              <a:t>5/4/22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60679-50D1-49D8-B7AD-A9CF1516F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18EA8-AA11-4184-9321-7F5274B19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1F5E2-A98F-40FE-8D42-344BEA526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71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B366-79F4-4B62-AF82-2B8B21D70C18}" type="datetimeFigureOut">
              <a:rPr lang="en-US" smtClean="0"/>
              <a:t>5/4/22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1AF85-23DB-4EF3-AEBB-2F7BA47F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2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21AF85-23DB-4EF3-AEBB-2F7BA47FDD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418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07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6CAA1B-F833-B74D-8E4B-3A6E9372A0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41064" y="269608"/>
            <a:ext cx="1826836" cy="1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2FC2BDA-B52D-40DC-9D60-EA94E6E2C149}"/>
              </a:ext>
            </a:extLst>
          </p:cNvPr>
          <p:cNvSpPr/>
          <p:nvPr/>
        </p:nvSpPr>
        <p:spPr>
          <a:xfrm>
            <a:off x="208918" y="768839"/>
            <a:ext cx="6717655" cy="461665"/>
          </a:xfrm>
          <a:prstGeom prst="rect">
            <a:avLst/>
          </a:prstGeom>
          <a:solidFill>
            <a:srgbClr val="0B2338"/>
          </a:solidFill>
          <a:ln w="1270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de Gothic LT Pro Bold" panose="020B0803040303020004" pitchFamily="34" charset="0"/>
                <a:ea typeface="+mn-ea"/>
                <a:cs typeface="+mn-cs"/>
              </a:rPr>
              <a:t>Brainstorm Session Results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190477" y="301066"/>
            <a:ext cx="8400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rade Gothic LT Pro Bold" panose="020B0803040303020004" pitchFamily="34" charset="0"/>
                <a:ea typeface="+mn-ea"/>
                <a:cs typeface="+mn-cs"/>
              </a:rPr>
              <a:t>STORMDRAINING: </a:t>
            </a:r>
            <a:r>
              <a:rPr lang="en-US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Distill a large set of ideas to its essence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012B21-1F42-44EE-A051-6B9894E01C31}"/>
              </a:ext>
            </a:extLst>
          </p:cNvPr>
          <p:cNvSpPr/>
          <p:nvPr/>
        </p:nvSpPr>
        <p:spPr>
          <a:xfrm>
            <a:off x="208918" y="780269"/>
            <a:ext cx="9659005" cy="6577461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Graphic 7" descr="Rose with solid fill">
            <a:extLst>
              <a:ext uri="{FF2B5EF4-FFF2-40B4-BE49-F238E27FC236}">
                <a16:creationId xmlns:a16="http://schemas.microsoft.com/office/drawing/2014/main" id="{60D1572E-4D16-4611-9345-635756FC7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618" y="6729088"/>
            <a:ext cx="521208" cy="521208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1FCBE90-241C-4182-B345-2A139B288B58}"/>
              </a:ext>
            </a:extLst>
          </p:cNvPr>
          <p:cNvCxnSpPr>
            <a:cxnSpLocks/>
          </p:cNvCxnSpPr>
          <p:nvPr/>
        </p:nvCxnSpPr>
        <p:spPr>
          <a:xfrm>
            <a:off x="6926572" y="780269"/>
            <a:ext cx="0" cy="6577461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5A6BE6B-F637-480D-960B-1418AB68F2ED}"/>
              </a:ext>
            </a:extLst>
          </p:cNvPr>
          <p:cNvSpPr txBox="1"/>
          <p:nvPr/>
        </p:nvSpPr>
        <p:spPr>
          <a:xfrm>
            <a:off x="208918" y="1253433"/>
            <a:ext cx="67176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" panose="020B0503040303020004" pitchFamily="34" charset="0"/>
                <a:ea typeface="+mn-ea"/>
                <a:cs typeface="+mn-cs"/>
              </a:rPr>
              <a:t>Enter the ideas, requirements, design components, process steps, or other design elements here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598623-635A-4432-8F11-44BEE8EDDD40}"/>
              </a:ext>
            </a:extLst>
          </p:cNvPr>
          <p:cNvSpPr/>
          <p:nvPr/>
        </p:nvSpPr>
        <p:spPr>
          <a:xfrm>
            <a:off x="6926573" y="774161"/>
            <a:ext cx="2922903" cy="461647"/>
          </a:xfrm>
          <a:prstGeom prst="rect">
            <a:avLst/>
          </a:prstGeom>
          <a:solidFill>
            <a:srgbClr val="005B93"/>
          </a:solidFill>
          <a:ln w="1270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de Gothic LT Pro Bold" panose="020B0803040303020004" pitchFamily="34" charset="0"/>
                <a:ea typeface="+mn-ea"/>
                <a:cs typeface="+mn-cs"/>
              </a:rPr>
              <a:t>The 5 Rules of Storm Draining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A2AAE5-1981-41FC-80BD-9EE4E0D6ED80}"/>
              </a:ext>
            </a:extLst>
          </p:cNvPr>
          <p:cNvSpPr txBox="1"/>
          <p:nvPr/>
        </p:nvSpPr>
        <p:spPr>
          <a:xfrm>
            <a:off x="6947872" y="1305050"/>
            <a:ext cx="2920051" cy="5370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 pitchFamily="34" charset="0"/>
                <a:ea typeface="+mn-ea"/>
                <a:cs typeface="+mn-cs"/>
              </a:rPr>
              <a:t>Everything </a:t>
            </a:r>
            <a:r>
              <a:rPr lang="en-US" sz="1400" b="1" dirty="0">
                <a:solidFill>
                  <a:srgbClr val="000000"/>
                </a:solidFill>
                <a:latin typeface="Trade Gothic LT Pro Bold" panose="020B0503040303020004" pitchFamily="34" charset="0"/>
              </a:rPr>
              <a:t>i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 pitchFamily="34" charset="0"/>
                <a:ea typeface="+mn-ea"/>
                <a:cs typeface="+mn-cs"/>
              </a:rPr>
              <a:t>s on the </a:t>
            </a:r>
            <a:r>
              <a:rPr lang="en-US" sz="1400" b="1" dirty="0">
                <a:solidFill>
                  <a:srgbClr val="000000"/>
                </a:solidFill>
                <a:latin typeface="Trade Gothic LT Pro Bold" panose="020B0503040303020004" pitchFamily="34" charset="0"/>
              </a:rPr>
              <a:t>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 pitchFamily="34" charset="0"/>
                <a:ea typeface="+mn-ea"/>
                <a:cs typeface="+mn-cs"/>
              </a:rPr>
              <a:t>able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lang="en-US" sz="1050" i="1" dirty="0">
                <a:solidFill>
                  <a:srgbClr val="FFFFFF">
                    <a:lumMod val="50000"/>
                  </a:srgbClr>
                </a:solidFill>
                <a:latin typeface="Arial" panose="020B0604020202020204"/>
              </a:rPr>
              <a:t>Don’t mark anything as “Must Keep.”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Every single item is fair game for  going down the drain.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 pitchFamily="34" charset="0"/>
                <a:ea typeface="+mn-ea"/>
                <a:cs typeface="+mn-cs"/>
              </a:rPr>
              <a:t>Delete is the default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Trade Gothic LT Pro" panose="020B0503040303020004" pitchFamily="34" charset="0"/>
                <a:ea typeface="+mn-ea"/>
                <a:cs typeface="+mn-cs"/>
              </a:rPr>
              <a:t>Turn the pencil around and make liberal use of the eraser. Not sure if something should be deleted? Only one way to find out.… 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Trade Gothic LT Pro" panose="020B0503040303020004" pitchFamily="34" charset="0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 pitchFamily="34" charset="0"/>
                <a:ea typeface="+mn-ea"/>
                <a:cs typeface="+mn-cs"/>
              </a:rPr>
              <a:t>Build on other </a:t>
            </a:r>
            <a:r>
              <a:rPr lang="en-US" sz="1400" b="1" dirty="0">
                <a:solidFill>
                  <a:srgbClr val="000000"/>
                </a:solidFill>
                <a:latin typeface="Trade Gothic LT Pro Bold" panose="020B0503040303020004" pitchFamily="34" charset="0"/>
              </a:rPr>
              <a:t>people's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 pitchFamily="34" charset="0"/>
                <a:ea typeface="+mn-ea"/>
                <a:cs typeface="+mn-cs"/>
              </a:rPr>
              <a:t> deletions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Trade Gothic LT Pro" panose="020B0503040303020004" pitchFamily="34" charset="0"/>
                <a:ea typeface="+mn-ea"/>
                <a:cs typeface="+mn-cs"/>
              </a:rPr>
              <a:t>Your teammate’s suggestion to remove one thing likely points to other parts to remove. The objective is to reduce quantity and home in on the essentials, so practice “Yes, and.…” </a:t>
            </a:r>
          </a:p>
          <a:p>
            <a:pPr marL="228600" indent="-228600">
              <a:buFont typeface="+mj-lt"/>
              <a:buAutoNum type="arabicPeriod"/>
              <a:defRPr/>
            </a:pPr>
            <a:endParaRPr lang="en-US" sz="1100" dirty="0">
              <a:solidFill>
                <a:srgbClr val="000000"/>
              </a:solidFill>
              <a:latin typeface="Trade Gothic LT Pro" panose="020B0503040303020004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 pitchFamily="34" charset="0"/>
                <a:ea typeface="+mn-ea"/>
                <a:cs typeface="+mn-cs"/>
              </a:rPr>
              <a:t>Make it </a:t>
            </a:r>
            <a:r>
              <a:rPr lang="en-US" sz="1400" b="1" dirty="0">
                <a:solidFill>
                  <a:srgbClr val="000000"/>
                </a:solidFill>
                <a:latin typeface="Trade Gothic LT Pro Bold" panose="020B0503040303020004" pitchFamily="34" charset="0"/>
              </a:rPr>
              <a:t>f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 pitchFamily="34" charset="0"/>
                <a:ea typeface="+mn-ea"/>
                <a:cs typeface="+mn-cs"/>
              </a:rPr>
              <a:t>un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Trade Gothic LT Pro" panose="020B0503040303020004" pitchFamily="34" charset="0"/>
                <a:ea typeface="+mn-ea"/>
                <a:cs typeface="+mn-cs"/>
              </a:rPr>
              <a:t>Celebrate and encourage the deletions. Compliment people’s creativity and courage when they propose sending something down the drain. </a:t>
            </a:r>
          </a:p>
          <a:p>
            <a:pPr marL="228600" indent="-228600">
              <a:buFont typeface="+mj-lt"/>
              <a:buAutoNum type="arabicPeriod"/>
              <a:defRPr/>
            </a:pPr>
            <a:endParaRPr lang="en-US" sz="1100" i="1" dirty="0">
              <a:solidFill>
                <a:srgbClr val="FFFFFF">
                  <a:lumMod val="50000"/>
                </a:srgbClr>
              </a:solidFill>
              <a:latin typeface="Trade Gothic LT Pro" panose="020B0503040303020004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endParaRPr lang="en-US" sz="1100" i="1" dirty="0">
              <a:solidFill>
                <a:srgbClr val="FFFFFF">
                  <a:lumMod val="50000"/>
                </a:srgbClr>
              </a:solidFill>
              <a:latin typeface="Trade Gothic LT Pro" panose="020B0503040303020004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 pitchFamily="34" charset="0"/>
                <a:ea typeface="+mn-ea"/>
                <a:cs typeface="+mn-cs"/>
              </a:rPr>
              <a:t>When you </a:t>
            </a:r>
            <a:r>
              <a:rPr lang="en-US" sz="1400" b="1" dirty="0">
                <a:solidFill>
                  <a:srgbClr val="000000"/>
                </a:solidFill>
                <a:latin typeface="Trade Gothic LT Pro Bold" panose="020B0503040303020004" pitchFamily="34" charset="0"/>
              </a:rPr>
              <a:t>d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 pitchFamily="34" charset="0"/>
                <a:ea typeface="+mn-ea"/>
                <a:cs typeface="+mn-cs"/>
              </a:rPr>
              <a:t>elete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 pitchFamily="34" charset="0"/>
                <a:ea typeface="+mn-ea"/>
                <a:cs typeface="+mn-cs"/>
              </a:rPr>
              <a:t> something, really </a:t>
            </a:r>
            <a:r>
              <a:rPr lang="en-US" sz="1400" b="1" dirty="0">
                <a:solidFill>
                  <a:srgbClr val="000000"/>
                </a:solidFill>
                <a:latin typeface="Trade Gothic LT Pro Bold" panose="020B0503040303020004" pitchFamily="34" charset="0"/>
              </a:rPr>
              <a:t>d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 pitchFamily="34" charset="0"/>
                <a:ea typeface="+mn-ea"/>
                <a:cs typeface="+mn-cs"/>
              </a:rPr>
              <a:t>elete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 pitchFamily="34" charset="0"/>
                <a:ea typeface="+mn-ea"/>
                <a:cs typeface="+mn-cs"/>
              </a:rPr>
              <a:t> it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Trade Gothic LT Pro" panose="020B0503040303020004" pitchFamily="34" charset="0"/>
                <a:ea typeface="+mn-ea"/>
                <a:cs typeface="+mn-cs"/>
              </a:rPr>
              <a:t>Don’t set it aside and save it for posterity. Don’t take a photo to preserve the moment. Erase it. Drain it. Make it go away</a:t>
            </a:r>
          </a:p>
          <a:p>
            <a:pPr>
              <a:defRPr/>
            </a:pPr>
            <a:endParaRPr kumimoji="0" lang="en-US" sz="1050" b="0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Trade Gothic LT Pro" panose="020B0503040303020004" pitchFamily="34" charset="0"/>
              <a:ea typeface="+mn-ea"/>
              <a:cs typeface="+mn-cs"/>
            </a:endParaRPr>
          </a:p>
          <a:p>
            <a:pPr>
              <a:defRPr/>
            </a:pPr>
            <a:endParaRPr kumimoji="0" lang="en-US" sz="1200" b="0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Trade Gothic LT Pro" panose="020B0503040303020004" pitchFamily="34" charset="0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050" b="0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1AF22-2847-462A-BB21-474EB52D29A5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 dirty="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B7FB21-117F-4677-90B0-51B2862F6DD0}"/>
              </a:ext>
            </a:extLst>
          </p:cNvPr>
          <p:cNvSpPr txBox="1"/>
          <p:nvPr/>
        </p:nvSpPr>
        <p:spPr>
          <a:xfrm>
            <a:off x="3720705" y="7433621"/>
            <a:ext cx="5833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© 2021 The MITRE Corporation. All rights reserved. Approved for public release. Distribution unlimited PR_20-01469-11.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0970D2-FE0B-4066-9D94-5D00E2C9C6C0}"/>
              </a:ext>
            </a:extLst>
          </p:cNvPr>
          <p:cNvSpPr txBox="1"/>
          <p:nvPr/>
        </p:nvSpPr>
        <p:spPr>
          <a:xfrm>
            <a:off x="2198289" y="7433621"/>
            <a:ext cx="10663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Stormdraining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V1</a:t>
            </a:r>
          </a:p>
        </p:txBody>
      </p:sp>
    </p:spTree>
    <p:extLst>
      <p:ext uri="{BB962C8B-B14F-4D97-AF65-F5344CB8AC3E}">
        <p14:creationId xmlns:p14="http://schemas.microsoft.com/office/powerpoint/2010/main" val="27508680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B2338"/>
      </a:dk2>
      <a:lt2>
        <a:srgbClr val="E7E6E6"/>
      </a:lt2>
      <a:accent1>
        <a:srgbClr val="E51D3E"/>
      </a:accent1>
      <a:accent2>
        <a:srgbClr val="ED7D31"/>
      </a:accent2>
      <a:accent3>
        <a:srgbClr val="78C044"/>
      </a:accent3>
      <a:accent4>
        <a:srgbClr val="0DA8D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94E99C172A24489941E5861361F779" ma:contentTypeVersion="8" ma:contentTypeDescription="Create a new document." ma:contentTypeScope="" ma:versionID="771431e25d0fe5f94154fb889c3e9476">
  <xsd:schema xmlns:xsd="http://www.w3.org/2001/XMLSchema" xmlns:xs="http://www.w3.org/2001/XMLSchema" xmlns:p="http://schemas.microsoft.com/office/2006/metadata/properties" xmlns:ns2="754fbc98-762c-4a90-9774-edf41ff53b67" targetNamespace="http://schemas.microsoft.com/office/2006/metadata/properties" ma:root="true" ma:fieldsID="aec298c6dc5a8bb722e4e4f30310d181" ns2:_="">
    <xsd:import namespace="754fbc98-762c-4a90-9774-edf41ff53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4fbc98-762c-4a90-9774-edf41ff53b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09A9B2-11C0-4F68-986A-02670966B3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4fbc98-762c-4a90-9774-edf41ff53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E9386B-B9D4-4DD2-A9A2-BB4405422051}">
  <ds:schemaRefs>
    <ds:schemaRef ds:uri="http://www.w3.org/XML/1998/namespace"/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754fbc98-762c-4a90-9774-edf41ff53b67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8516BBB1-1D72-424A-B5A0-2681626E67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45200</TotalTime>
  <Words>228</Words>
  <Application>Microsoft Macintosh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Trade Gothic LT Pro</vt:lpstr>
      <vt:lpstr>Trade Gothic LT Pro Bold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 Worksheet Updates</dc:title>
  <dc:creator>Moonisha Rahman</dc:creator>
  <cp:lastModifiedBy>Rachel G Warshawsky</cp:lastModifiedBy>
  <cp:revision>239</cp:revision>
  <dcterms:created xsi:type="dcterms:W3CDTF">2021-02-16T17:30:35Z</dcterms:created>
  <dcterms:modified xsi:type="dcterms:W3CDTF">2022-05-04T21:16:25Z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0x0101009894E99C172A24489941E5861361F779</vt:lpwstr>
  </property>
</Properties>
</file>