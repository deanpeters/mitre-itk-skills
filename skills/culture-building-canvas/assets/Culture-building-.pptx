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</p:sldMasterIdLst>
  <p:notesMasterIdLst>
    <p:notesMasterId r:id="rId6"/>
  </p:notesMasterIdLst>
  <p:handoutMasterIdLst>
    <p:handoutMasterId r:id="rId7"/>
  </p:handoutMasterIdLst>
  <p:sldIdLst>
    <p:sldId id="361" r:id="rId5"/>
  </p:sldIdLst>
  <p:sldSz cx="10058400" cy="7772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48" userDrawn="1">
          <p15:clr>
            <a:srgbClr val="A4A3A4"/>
          </p15:clr>
        </p15:guide>
        <p15:guide id="2" pos="316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oonisha Rahman" initials="MR" lastIdx="46" clrIdx="0">
    <p:extLst>
      <p:ext uri="{19B8F6BF-5375-455C-9EA6-DF929625EA0E}">
        <p15:presenceInfo xmlns:p15="http://schemas.microsoft.com/office/powerpoint/2012/main" userId="S::RAHMANM@MITRE.ORG::6cf91401-9094-4e8f-a695-42ee7077f7e9" providerId="AD"/>
      </p:ext>
    </p:extLst>
  </p:cmAuthor>
  <p:cmAuthor id="2" name="Rachel E Gregorio" initials="REG" lastIdx="9" clrIdx="1">
    <p:extLst>
      <p:ext uri="{19B8F6BF-5375-455C-9EA6-DF929625EA0E}">
        <p15:presenceInfo xmlns:p15="http://schemas.microsoft.com/office/powerpoint/2012/main" userId="S::rgregorio@mitre.org::8bffd36a-0092-49e2-a094-14b10b84ee1b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7DEFF"/>
    <a:srgbClr val="0B2338"/>
    <a:srgbClr val="005B93"/>
    <a:srgbClr val="0A2237"/>
    <a:srgbClr val="C8DFF4"/>
    <a:srgbClr val="00B0F0"/>
    <a:srgbClr val="C9EAFF"/>
    <a:srgbClr val="FFFFFF"/>
    <a:srgbClr val="E1F6FF"/>
    <a:srgbClr val="E2F1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47" autoAdjust="0"/>
    <p:restoredTop sz="93333" autoAdjust="0"/>
  </p:normalViewPr>
  <p:slideViewPr>
    <p:cSldViewPr snapToGrid="0">
      <p:cViewPr varScale="1">
        <p:scale>
          <a:sx n="56" d="100"/>
          <a:sy n="56" d="100"/>
        </p:scale>
        <p:origin x="1440" y="52"/>
      </p:cViewPr>
      <p:guideLst>
        <p:guide orient="horz" pos="2448"/>
        <p:guide pos="316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51" d="100"/>
          <a:sy n="51" d="100"/>
        </p:scale>
        <p:origin x="2692" y="6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5C3CCF0-20A0-4277-B884-FCDC13D4216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D9C8C52-E96C-4D62-9306-4F2B3D25D33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CFA0B8-05D5-4D03-BED0-5F9DB4E2AD1C}" type="datetimeFigureOut">
              <a:rPr lang="en-US" smtClean="0"/>
              <a:t>6/2/2021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7160679-50D1-49D8-B7AD-A9CF1516F28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F18EA8-AA11-4184-9321-7F5274B1945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B1F5E2-A98F-40FE-8D42-344BEA5263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247121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A9B366-79F4-4B62-AF82-2B8B21D70C18}" type="datetimeFigureOut">
              <a:rPr lang="en-US" smtClean="0"/>
              <a:t>6/2/2021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431925" y="1143000"/>
            <a:ext cx="39941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21AF85-23DB-4EF3-AEBB-2F7BA47FDD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64244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692050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250764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36CAA1B-F833-B74D-8E4B-3A6E9372A07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041064" y="269608"/>
            <a:ext cx="1826836" cy="159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15200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</p:sldLayoutIdLst>
  <p:txStyles>
    <p:titleStyle>
      <a:lvl1pPr algn="l" defTabSz="1005840" rtl="0" eaLnBrk="1" latinLnBrk="0" hangingPunct="1">
        <a:lnSpc>
          <a:spcPct val="90000"/>
        </a:lnSpc>
        <a:spcBef>
          <a:spcPct val="0"/>
        </a:spcBef>
        <a:buNone/>
        <a:defRPr sz="484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51460" indent="-251460" algn="l" defTabSz="1005840" rtl="0" eaLnBrk="1" latinLnBrk="0" hangingPunct="1">
        <a:lnSpc>
          <a:spcPct val="90000"/>
        </a:lnSpc>
        <a:spcBef>
          <a:spcPts val="1100"/>
        </a:spcBef>
        <a:buFont typeface="Arial" panose="020B0604020202020204" pitchFamily="34" charset="0"/>
        <a:buChar char="•"/>
        <a:defRPr sz="308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5438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264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25730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76022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26314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76606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6pPr>
      <a:lvl7pPr marL="326898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7pPr>
      <a:lvl8pPr marL="377190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8pPr>
      <a:lvl9pPr marL="427482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3pPr>
      <a:lvl4pPr marL="150876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4pPr>
      <a:lvl5pPr marL="201168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6pPr>
      <a:lvl7pPr marL="301752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7pPr>
      <a:lvl8pPr marL="352044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8pPr>
      <a:lvl9pPr marL="402336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5C30DF5-EA82-804F-B290-E191C0017C5E}"/>
              </a:ext>
            </a:extLst>
          </p:cNvPr>
          <p:cNvSpPr txBox="1"/>
          <p:nvPr/>
        </p:nvSpPr>
        <p:spPr>
          <a:xfrm>
            <a:off x="169875" y="529379"/>
            <a:ext cx="96021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2400" dirty="0">
                <a:solidFill>
                  <a:srgbClr val="00B0F0"/>
                </a:solidFill>
                <a:latin typeface="Trade Gothic LT Pro Bold" panose="020B0803040303020004" pitchFamily="34" charset="0"/>
              </a:rPr>
              <a:t>CULTURE BUILDING TOOL: </a:t>
            </a:r>
            <a:r>
              <a:rPr lang="en-US" dirty="0">
                <a:solidFill>
                  <a:srgbClr val="0B2338"/>
                </a:solidFill>
                <a:latin typeface="Trade Gothic LT Pro Bold" panose="020B0803040303020004" pitchFamily="34" charset="0"/>
              </a:rPr>
              <a:t>Develop strategic plan to establish shared beliefs &amp; behaviors</a:t>
            </a:r>
            <a:endParaRPr kumimoji="0" lang="en-US" sz="1800" i="0" u="none" strike="noStrike" kern="1200" cap="none" spc="0" normalizeH="0" baseline="0" noProof="0" dirty="0">
              <a:ln>
                <a:noFill/>
              </a:ln>
              <a:solidFill>
                <a:srgbClr val="0B2338"/>
              </a:solidFill>
              <a:effectLst/>
              <a:uLnTx/>
              <a:uFillTx/>
              <a:latin typeface="Trade Gothic LT Pro Bold" panose="020B0803040303020004" pitchFamily="34" charset="0"/>
            </a:endParaRP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B1012B21-1F42-44EE-A051-6B9894E01C31}"/>
              </a:ext>
            </a:extLst>
          </p:cNvPr>
          <p:cNvSpPr/>
          <p:nvPr/>
        </p:nvSpPr>
        <p:spPr>
          <a:xfrm>
            <a:off x="265814" y="1057942"/>
            <a:ext cx="9526772" cy="5656516"/>
          </a:xfrm>
          <a:prstGeom prst="rect">
            <a:avLst/>
          </a:prstGeom>
          <a:noFill/>
          <a:ln w="19050">
            <a:solidFill>
              <a:srgbClr val="0B233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6C2149D-D596-40DA-8D49-142B6AFF7D71}"/>
              </a:ext>
            </a:extLst>
          </p:cNvPr>
          <p:cNvSpPr/>
          <p:nvPr/>
        </p:nvSpPr>
        <p:spPr>
          <a:xfrm>
            <a:off x="5029200" y="1057942"/>
            <a:ext cx="4763385" cy="5656516"/>
          </a:xfrm>
          <a:prstGeom prst="rect">
            <a:avLst/>
          </a:prstGeom>
          <a:noFill/>
          <a:ln w="19050">
            <a:solidFill>
              <a:srgbClr val="0B233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F780B165-5812-422C-80AD-7805BF920516}"/>
              </a:ext>
            </a:extLst>
          </p:cNvPr>
          <p:cNvCxnSpPr>
            <a:cxnSpLocks/>
            <a:stCxn id="24" idx="0"/>
            <a:endCxn id="24" idx="2"/>
          </p:cNvCxnSpPr>
          <p:nvPr/>
        </p:nvCxnSpPr>
        <p:spPr>
          <a:xfrm>
            <a:off x="7410893" y="1057942"/>
            <a:ext cx="0" cy="5656516"/>
          </a:xfrm>
          <a:prstGeom prst="line">
            <a:avLst/>
          </a:prstGeom>
          <a:ln w="9525">
            <a:solidFill>
              <a:srgbClr val="7E828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43EE6D8D-FA72-4BA7-8058-FB50FE1C4881}"/>
              </a:ext>
            </a:extLst>
          </p:cNvPr>
          <p:cNvSpPr txBox="1"/>
          <p:nvPr/>
        </p:nvSpPr>
        <p:spPr>
          <a:xfrm>
            <a:off x="106162" y="7423572"/>
            <a:ext cx="156966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 err="1">
                <a:latin typeface="Trade Gothic LT Pro" panose="020B0503040303020004" pitchFamily="34" charset="77"/>
                <a:cs typeface="Arial" panose="020B0604020202020204" pitchFamily="34" charset="0"/>
              </a:rPr>
              <a:t>itk.mitre.org</a:t>
            </a:r>
            <a:r>
              <a:rPr lang="en-US" sz="900" dirty="0">
                <a:latin typeface="Trade Gothic LT Pro" panose="020B0503040303020004" pitchFamily="34" charset="77"/>
                <a:cs typeface="Arial" panose="020B0604020202020204" pitchFamily="34" charset="0"/>
              </a:rPr>
              <a:t> | </a:t>
            </a:r>
            <a:r>
              <a:rPr lang="en-US" sz="900" dirty="0" err="1">
                <a:latin typeface="Trade Gothic LT Pro" panose="020B0503040303020004" pitchFamily="34" charset="77"/>
                <a:cs typeface="Arial" panose="020B0604020202020204" pitchFamily="34" charset="0"/>
              </a:rPr>
              <a:t>itk@mitre.org</a:t>
            </a:r>
            <a:endParaRPr lang="en-US" sz="900" dirty="0">
              <a:latin typeface="Trade Gothic LT Pro" panose="020B0503040303020004" pitchFamily="34" charset="77"/>
              <a:cs typeface="Arial" panose="020B06040202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BE8F124-1477-441A-ADF5-1CA278A6990F}"/>
              </a:ext>
            </a:extLst>
          </p:cNvPr>
          <p:cNvSpPr txBox="1"/>
          <p:nvPr/>
        </p:nvSpPr>
        <p:spPr>
          <a:xfrm>
            <a:off x="3720705" y="7433621"/>
            <a:ext cx="583364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en-US" sz="900" dirty="0">
                <a:latin typeface="Trade Gothic LT Pro" panose="020B0503040303020004" pitchFamily="34" charset="77"/>
                <a:cs typeface="Arial" panose="020B0604020202020204" pitchFamily="34" charset="0"/>
              </a:rPr>
              <a:t>© 2021 The MITRE Corporation. All rights reserved. Approved for public release. Distribution unlimited PR_20-01469-11.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4439E87-AE96-4364-9270-9B17F7F1A233}"/>
              </a:ext>
            </a:extLst>
          </p:cNvPr>
          <p:cNvSpPr txBox="1"/>
          <p:nvPr/>
        </p:nvSpPr>
        <p:spPr>
          <a:xfrm>
            <a:off x="1948228" y="7433621"/>
            <a:ext cx="156645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>
                <a:latin typeface="Trade Gothic LT Pro" panose="020B0503040303020004" pitchFamily="34" charset="77"/>
                <a:cs typeface="Arial" panose="020B0604020202020204" pitchFamily="34" charset="0"/>
              </a:rPr>
              <a:t>Culture Building Canvas V1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A7A3BC98-F92C-4E0E-95B6-9D7341D5523A}"/>
              </a:ext>
            </a:extLst>
          </p:cNvPr>
          <p:cNvCxnSpPr>
            <a:cxnSpLocks/>
          </p:cNvCxnSpPr>
          <p:nvPr/>
        </p:nvCxnSpPr>
        <p:spPr>
          <a:xfrm>
            <a:off x="5029200" y="4031972"/>
            <a:ext cx="4763385" cy="2013"/>
          </a:xfrm>
          <a:prstGeom prst="line">
            <a:avLst/>
          </a:prstGeom>
          <a:ln w="9525">
            <a:solidFill>
              <a:srgbClr val="7E828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 34">
            <a:extLst>
              <a:ext uri="{FF2B5EF4-FFF2-40B4-BE49-F238E27FC236}">
                <a16:creationId xmlns:a16="http://schemas.microsoft.com/office/drawing/2014/main" id="{13F411F0-3CE9-492B-87FF-011907521602}"/>
              </a:ext>
            </a:extLst>
          </p:cNvPr>
          <p:cNvSpPr/>
          <p:nvPr/>
        </p:nvSpPr>
        <p:spPr>
          <a:xfrm>
            <a:off x="265816" y="1057942"/>
            <a:ext cx="1722010" cy="4454962"/>
          </a:xfrm>
          <a:prstGeom prst="rect">
            <a:avLst/>
          </a:prstGeom>
          <a:solidFill>
            <a:srgbClr val="C8DFF4"/>
          </a:solidFill>
          <a:ln w="19050">
            <a:solidFill>
              <a:srgbClr val="0B233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A91C9F44-D62F-4050-97CE-762C01AC8A75}"/>
              </a:ext>
            </a:extLst>
          </p:cNvPr>
          <p:cNvSpPr/>
          <p:nvPr/>
        </p:nvSpPr>
        <p:spPr>
          <a:xfrm>
            <a:off x="265813" y="5512904"/>
            <a:ext cx="4763385" cy="1201554"/>
          </a:xfrm>
          <a:prstGeom prst="rect">
            <a:avLst/>
          </a:prstGeom>
          <a:noFill/>
          <a:ln w="19050">
            <a:solidFill>
              <a:srgbClr val="0B233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FFCF0F94-16F1-4BEF-B3DD-32475435DC90}"/>
              </a:ext>
            </a:extLst>
          </p:cNvPr>
          <p:cNvSpPr/>
          <p:nvPr/>
        </p:nvSpPr>
        <p:spPr>
          <a:xfrm>
            <a:off x="1987826" y="4074456"/>
            <a:ext cx="3041371" cy="1438448"/>
          </a:xfrm>
          <a:prstGeom prst="rect">
            <a:avLst/>
          </a:prstGeom>
          <a:noFill/>
          <a:ln w="19050">
            <a:solidFill>
              <a:srgbClr val="0B233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0DE59AF3-310D-4A50-86D0-C2FEC4DD276D}"/>
              </a:ext>
            </a:extLst>
          </p:cNvPr>
          <p:cNvSpPr/>
          <p:nvPr/>
        </p:nvSpPr>
        <p:spPr>
          <a:xfrm>
            <a:off x="1987826" y="2632866"/>
            <a:ext cx="3041371" cy="1438448"/>
          </a:xfrm>
          <a:prstGeom prst="rect">
            <a:avLst/>
          </a:prstGeom>
          <a:noFill/>
          <a:ln w="19050">
            <a:solidFill>
              <a:srgbClr val="0B233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F08764D9-ABE1-4221-8CAF-2AE45A5B7DBE}"/>
              </a:ext>
            </a:extLst>
          </p:cNvPr>
          <p:cNvSpPr/>
          <p:nvPr/>
        </p:nvSpPr>
        <p:spPr>
          <a:xfrm>
            <a:off x="1987823" y="1204528"/>
            <a:ext cx="3041371" cy="1438448"/>
          </a:xfrm>
          <a:prstGeom prst="rect">
            <a:avLst/>
          </a:prstGeom>
          <a:noFill/>
          <a:ln w="19050">
            <a:solidFill>
              <a:srgbClr val="0B233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B062A017-CCBE-4475-9503-A849C4515D7B}"/>
              </a:ext>
            </a:extLst>
          </p:cNvPr>
          <p:cNvSpPr/>
          <p:nvPr/>
        </p:nvSpPr>
        <p:spPr>
          <a:xfrm>
            <a:off x="5029193" y="1058166"/>
            <a:ext cx="4763323" cy="338328"/>
          </a:xfrm>
          <a:prstGeom prst="rect">
            <a:avLst/>
          </a:prstGeom>
          <a:solidFill>
            <a:srgbClr val="005B93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bg1"/>
                </a:solidFill>
                <a:latin typeface="Trade Gothic LT Pro Bold" panose="020B0803040303020004" pitchFamily="34" charset="0"/>
              </a:rPr>
              <a:t>Influence opportunities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0AFE6465-8A43-426A-86D9-EBE59E5B5575}"/>
              </a:ext>
            </a:extLst>
          </p:cNvPr>
          <p:cNvSpPr/>
          <p:nvPr/>
        </p:nvSpPr>
        <p:spPr>
          <a:xfrm>
            <a:off x="265814" y="1057942"/>
            <a:ext cx="4763384" cy="338554"/>
          </a:xfrm>
          <a:prstGeom prst="rect">
            <a:avLst/>
          </a:prstGeom>
          <a:solidFill>
            <a:schemeClr val="tx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bg1"/>
                </a:solidFill>
                <a:latin typeface="Trade Gothic LT Pro Bold" panose="020B0803040303020004" pitchFamily="34" charset="0"/>
              </a:rPr>
              <a:t>Describe the desired culture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380DDF0-6C15-4E20-B3FF-27475488630C}"/>
              </a:ext>
            </a:extLst>
          </p:cNvPr>
          <p:cNvSpPr txBox="1"/>
          <p:nvPr/>
        </p:nvSpPr>
        <p:spPr>
          <a:xfrm>
            <a:off x="1987818" y="1556076"/>
            <a:ext cx="304137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latin typeface="Trade Gothic LT Pro" panose="020B0503040303020004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We believe in ______________________________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5376993-2328-4000-9CCF-8B0ECA5E59BB}"/>
              </a:ext>
            </a:extLst>
          </p:cNvPr>
          <p:cNvSpPr txBox="1"/>
          <p:nvPr/>
        </p:nvSpPr>
        <p:spPr>
          <a:xfrm>
            <a:off x="3950208" y="1736711"/>
            <a:ext cx="83382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i="1" dirty="0">
                <a:solidFill>
                  <a:schemeClr val="bg1">
                    <a:lumMod val="65000"/>
                  </a:schemeClr>
                </a:solidFill>
                <a:latin typeface="Trade Gothic LT Pro" panose="020B0503040303020004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(attribute)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0FA8E9D-52A3-43EF-8E11-03F788A9D8E4}"/>
              </a:ext>
            </a:extLst>
          </p:cNvPr>
          <p:cNvSpPr txBox="1"/>
          <p:nvPr/>
        </p:nvSpPr>
        <p:spPr>
          <a:xfrm>
            <a:off x="1987817" y="1998696"/>
            <a:ext cx="304136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latin typeface="Trade Gothic LT Pro" panose="020B0503040303020004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so we _____________________________________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C295871-EA67-4B99-A346-7A1B9D2F2E29}"/>
              </a:ext>
            </a:extLst>
          </p:cNvPr>
          <p:cNvSpPr txBox="1"/>
          <p:nvPr/>
        </p:nvSpPr>
        <p:spPr>
          <a:xfrm>
            <a:off x="3950208" y="2179331"/>
            <a:ext cx="83382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i="1" dirty="0">
                <a:solidFill>
                  <a:schemeClr val="bg1">
                    <a:lumMod val="65000"/>
                  </a:schemeClr>
                </a:solidFill>
                <a:latin typeface="Trade Gothic LT Pro" panose="020B0503040303020004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(behavior)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4968D19-5C94-4FB5-B5B1-1095DB25E1DD}"/>
              </a:ext>
            </a:extLst>
          </p:cNvPr>
          <p:cNvSpPr txBox="1"/>
          <p:nvPr/>
        </p:nvSpPr>
        <p:spPr>
          <a:xfrm>
            <a:off x="1987828" y="2860600"/>
            <a:ext cx="304137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latin typeface="Trade Gothic LT Pro" panose="020B0503040303020004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We believe in ______________________________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2AD9EEC-806B-45B1-B8A4-333FF3DAED9A}"/>
              </a:ext>
            </a:extLst>
          </p:cNvPr>
          <p:cNvSpPr txBox="1"/>
          <p:nvPr/>
        </p:nvSpPr>
        <p:spPr>
          <a:xfrm>
            <a:off x="3950208" y="3041235"/>
            <a:ext cx="83383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i="1" dirty="0">
                <a:solidFill>
                  <a:schemeClr val="bg1">
                    <a:lumMod val="65000"/>
                  </a:schemeClr>
                </a:solidFill>
                <a:latin typeface="Trade Gothic LT Pro" panose="020B0503040303020004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(attribute)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D1893DF-E5CD-412C-B042-69DBBB114D65}"/>
              </a:ext>
            </a:extLst>
          </p:cNvPr>
          <p:cNvSpPr txBox="1"/>
          <p:nvPr/>
        </p:nvSpPr>
        <p:spPr>
          <a:xfrm>
            <a:off x="1987827" y="3303220"/>
            <a:ext cx="304136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latin typeface="Trade Gothic LT Pro" panose="020B0503040303020004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so we _____________________________________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510E82C-03C0-4EAE-9FFA-2F0BE58528BA}"/>
              </a:ext>
            </a:extLst>
          </p:cNvPr>
          <p:cNvSpPr txBox="1"/>
          <p:nvPr/>
        </p:nvSpPr>
        <p:spPr>
          <a:xfrm>
            <a:off x="3950208" y="3483855"/>
            <a:ext cx="83383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i="1" dirty="0">
                <a:solidFill>
                  <a:schemeClr val="bg1">
                    <a:lumMod val="65000"/>
                  </a:schemeClr>
                </a:solidFill>
                <a:latin typeface="Trade Gothic LT Pro" panose="020B0503040303020004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(behavior)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87F6EC4-46AB-40BA-8A2E-846AACDA60D2}"/>
              </a:ext>
            </a:extLst>
          </p:cNvPr>
          <p:cNvSpPr txBox="1"/>
          <p:nvPr/>
        </p:nvSpPr>
        <p:spPr>
          <a:xfrm>
            <a:off x="1987816" y="4309745"/>
            <a:ext cx="304137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latin typeface="Trade Gothic LT Pro" panose="020B0503040303020004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We believe in ______________________________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B8DD2FD-BACF-4A6C-846B-F7C640D7A41F}"/>
              </a:ext>
            </a:extLst>
          </p:cNvPr>
          <p:cNvSpPr txBox="1"/>
          <p:nvPr/>
        </p:nvSpPr>
        <p:spPr>
          <a:xfrm>
            <a:off x="3950196" y="4490380"/>
            <a:ext cx="83383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i="1" dirty="0">
                <a:solidFill>
                  <a:schemeClr val="bg1">
                    <a:lumMod val="65000"/>
                  </a:schemeClr>
                </a:solidFill>
                <a:latin typeface="Trade Gothic LT Pro" panose="020B0503040303020004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(attribute)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E861F37-FE39-422E-8A60-2DC234A6001A}"/>
              </a:ext>
            </a:extLst>
          </p:cNvPr>
          <p:cNvSpPr txBox="1"/>
          <p:nvPr/>
        </p:nvSpPr>
        <p:spPr>
          <a:xfrm>
            <a:off x="1987815" y="4752365"/>
            <a:ext cx="304136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latin typeface="Trade Gothic LT Pro" panose="020B0503040303020004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so we _____________________________________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FD5931C-E2A8-46FF-A386-33C9124C593B}"/>
              </a:ext>
            </a:extLst>
          </p:cNvPr>
          <p:cNvSpPr txBox="1"/>
          <p:nvPr/>
        </p:nvSpPr>
        <p:spPr>
          <a:xfrm>
            <a:off x="3950196" y="4933000"/>
            <a:ext cx="83383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i="1" dirty="0">
                <a:solidFill>
                  <a:schemeClr val="bg1">
                    <a:lumMod val="65000"/>
                  </a:schemeClr>
                </a:solidFill>
                <a:latin typeface="Trade Gothic LT Pro" panose="020B0503040303020004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(behavior)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8E4082E-489E-43EB-A01E-D8C380788E5E}"/>
              </a:ext>
            </a:extLst>
          </p:cNvPr>
          <p:cNvSpPr txBox="1"/>
          <p:nvPr/>
        </p:nvSpPr>
        <p:spPr>
          <a:xfrm>
            <a:off x="265812" y="5512636"/>
            <a:ext cx="476337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latin typeface="Trade Gothic LT Pro Bold" panose="020B0503040303020004" pitchFamily="34" charset="0"/>
              </a:rPr>
              <a:t>Contradictions &amp; Barriers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B45C0EC-20DD-4FBA-B4FC-64C93F4362B0}"/>
              </a:ext>
            </a:extLst>
          </p:cNvPr>
          <p:cNvSpPr txBox="1"/>
          <p:nvPr/>
        </p:nvSpPr>
        <p:spPr>
          <a:xfrm>
            <a:off x="5029124" y="1393878"/>
            <a:ext cx="238169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latin typeface="Trade Gothic LT Pro Bold" panose="020B0503040303020004" pitchFamily="34" charset="0"/>
              </a:rPr>
              <a:t> Leaders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2535851-7FE2-4240-8D1F-98CC3E036819}"/>
              </a:ext>
            </a:extLst>
          </p:cNvPr>
          <p:cNvSpPr txBox="1"/>
          <p:nvPr/>
        </p:nvSpPr>
        <p:spPr>
          <a:xfrm>
            <a:off x="7410818" y="1388509"/>
            <a:ext cx="238169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latin typeface="Trade Gothic LT Pro Bold" panose="020B0503040303020004" pitchFamily="34" charset="0"/>
              </a:rPr>
              <a:t>Peers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4AB51BD-15E6-4AA5-B21D-0DE032708311}"/>
              </a:ext>
            </a:extLst>
          </p:cNvPr>
          <p:cNvSpPr txBox="1"/>
          <p:nvPr/>
        </p:nvSpPr>
        <p:spPr>
          <a:xfrm>
            <a:off x="5029124" y="4045302"/>
            <a:ext cx="238169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latin typeface="Trade Gothic LT Pro Bold" panose="020B0503040303020004" pitchFamily="34" charset="0"/>
              </a:rPr>
              <a:t>Training &amp; Education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22ACC3A-67A8-4CB2-87E0-12F1064DE496}"/>
              </a:ext>
            </a:extLst>
          </p:cNvPr>
          <p:cNvSpPr txBox="1"/>
          <p:nvPr/>
        </p:nvSpPr>
        <p:spPr>
          <a:xfrm>
            <a:off x="7410818" y="4039933"/>
            <a:ext cx="238169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latin typeface="Trade Gothic LT Pro Bold" panose="020B0503040303020004" pitchFamily="34" charset="0"/>
              </a:rPr>
              <a:t>Literature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DF21256-E741-45E1-B5E1-F50784C9BC8C}"/>
              </a:ext>
            </a:extLst>
          </p:cNvPr>
          <p:cNvSpPr txBox="1"/>
          <p:nvPr/>
        </p:nvSpPr>
        <p:spPr>
          <a:xfrm>
            <a:off x="5071265" y="1772751"/>
            <a:ext cx="1015427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dirty="0">
                <a:solidFill>
                  <a:schemeClr val="bg1">
                    <a:lumMod val="50000"/>
                  </a:schemeClr>
                </a:solidFill>
                <a:latin typeface="Trade Gothic LT Pro" panose="020B0503040303020004" pitchFamily="34" charset="0"/>
              </a:rPr>
              <a:t>Messages</a:t>
            </a:r>
          </a:p>
          <a:p>
            <a:endParaRPr lang="en-US" sz="1050" dirty="0">
              <a:solidFill>
                <a:schemeClr val="bg1">
                  <a:lumMod val="50000"/>
                </a:schemeClr>
              </a:solidFill>
              <a:latin typeface="Trade Gothic LT Pro" panose="020B0503040303020004" pitchFamily="34" charset="0"/>
            </a:endParaRPr>
          </a:p>
          <a:p>
            <a:endParaRPr lang="en-US" sz="1050" dirty="0">
              <a:solidFill>
                <a:schemeClr val="bg1">
                  <a:lumMod val="50000"/>
                </a:schemeClr>
              </a:solidFill>
              <a:latin typeface="Trade Gothic LT Pro" panose="020B0503040303020004" pitchFamily="34" charset="0"/>
            </a:endParaRPr>
          </a:p>
          <a:p>
            <a:endParaRPr lang="en-US" sz="1050" dirty="0">
              <a:solidFill>
                <a:schemeClr val="bg1">
                  <a:lumMod val="50000"/>
                </a:schemeClr>
              </a:solidFill>
              <a:latin typeface="Trade Gothic LT Pro" panose="020B0503040303020004" pitchFamily="34" charset="0"/>
            </a:endParaRPr>
          </a:p>
          <a:p>
            <a:r>
              <a:rPr lang="en-US" sz="1050" dirty="0">
                <a:solidFill>
                  <a:schemeClr val="bg1">
                    <a:lumMod val="50000"/>
                  </a:schemeClr>
                </a:solidFill>
                <a:latin typeface="Trade Gothic LT Pro" panose="020B0503040303020004" pitchFamily="34" charset="0"/>
              </a:rPr>
              <a:t>Metrics</a:t>
            </a:r>
          </a:p>
          <a:p>
            <a:endParaRPr lang="en-US" sz="1050" dirty="0">
              <a:solidFill>
                <a:schemeClr val="bg1">
                  <a:lumMod val="50000"/>
                </a:schemeClr>
              </a:solidFill>
              <a:latin typeface="Trade Gothic LT Pro" panose="020B0503040303020004" pitchFamily="34" charset="0"/>
            </a:endParaRPr>
          </a:p>
          <a:p>
            <a:endParaRPr lang="en-US" sz="1050" dirty="0">
              <a:solidFill>
                <a:schemeClr val="bg1">
                  <a:lumMod val="50000"/>
                </a:schemeClr>
              </a:solidFill>
              <a:latin typeface="Trade Gothic LT Pro" panose="020B0503040303020004" pitchFamily="34" charset="0"/>
            </a:endParaRPr>
          </a:p>
          <a:p>
            <a:endParaRPr lang="en-US" sz="1050" dirty="0">
              <a:solidFill>
                <a:schemeClr val="bg1">
                  <a:lumMod val="50000"/>
                </a:schemeClr>
              </a:solidFill>
              <a:latin typeface="Trade Gothic LT Pro" panose="020B0503040303020004" pitchFamily="34" charset="0"/>
            </a:endParaRPr>
          </a:p>
          <a:p>
            <a:r>
              <a:rPr lang="en-US" sz="1050" dirty="0">
                <a:solidFill>
                  <a:schemeClr val="bg1">
                    <a:lumMod val="50000"/>
                  </a:schemeClr>
                </a:solidFill>
                <a:latin typeface="Trade Gothic LT Pro" panose="020B0503040303020004" pitchFamily="34" charset="0"/>
              </a:rPr>
              <a:t>Incentives</a:t>
            </a:r>
          </a:p>
          <a:p>
            <a:endParaRPr lang="en-US" sz="1050" dirty="0">
              <a:solidFill>
                <a:schemeClr val="bg1">
                  <a:lumMod val="50000"/>
                </a:schemeClr>
              </a:solidFill>
              <a:latin typeface="Trade Gothic LT Pro" panose="020B0503040303020004" pitchFamily="34" charset="0"/>
            </a:endParaRPr>
          </a:p>
          <a:p>
            <a:endParaRPr lang="en-US" sz="1050" dirty="0">
              <a:solidFill>
                <a:schemeClr val="bg1">
                  <a:lumMod val="50000"/>
                </a:schemeClr>
              </a:solidFill>
              <a:latin typeface="Trade Gothic LT Pro" panose="020B0503040303020004" pitchFamily="34" charset="0"/>
            </a:endParaRPr>
          </a:p>
          <a:p>
            <a:r>
              <a:rPr lang="en-US" sz="1050" dirty="0">
                <a:solidFill>
                  <a:schemeClr val="bg1">
                    <a:lumMod val="50000"/>
                  </a:schemeClr>
                </a:solidFill>
                <a:latin typeface="Trade Gothic LT Pro" panose="020B0503040303020004" pitchFamily="34" charset="0"/>
              </a:rPr>
              <a:t>Investments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A4F8E517-7F5F-4019-9C91-B60D8E5E3B5D}"/>
              </a:ext>
            </a:extLst>
          </p:cNvPr>
          <p:cNvSpPr txBox="1"/>
          <p:nvPr/>
        </p:nvSpPr>
        <p:spPr>
          <a:xfrm>
            <a:off x="6086735" y="1798672"/>
            <a:ext cx="1324120" cy="22159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900" i="1" dirty="0">
                <a:solidFill>
                  <a:schemeClr val="bg1">
                    <a:lumMod val="50000"/>
                  </a:schemeClr>
                </a:solidFill>
                <a:latin typeface="Trade Gothic LT Pro" panose="020B0503040303020004" pitchFamily="34" charset="0"/>
              </a:rPr>
              <a:t>What are the informal leaders &amp; influencers</a:t>
            </a:r>
          </a:p>
          <a:p>
            <a:pPr algn="r"/>
            <a:endParaRPr lang="en-US" sz="1200" dirty="0">
              <a:solidFill>
                <a:schemeClr val="bg1">
                  <a:lumMod val="50000"/>
                </a:schemeClr>
              </a:solidFill>
              <a:latin typeface="Trade Gothic LT Pro" panose="020B0503040303020004" pitchFamily="34" charset="0"/>
            </a:endParaRPr>
          </a:p>
          <a:p>
            <a:pPr algn="r"/>
            <a:endParaRPr lang="en-US" sz="1200" dirty="0">
              <a:solidFill>
                <a:schemeClr val="bg1">
                  <a:lumMod val="50000"/>
                </a:schemeClr>
              </a:solidFill>
              <a:latin typeface="Trade Gothic LT Pro" panose="020B0503040303020004" pitchFamily="34" charset="0"/>
            </a:endParaRPr>
          </a:p>
          <a:p>
            <a:pPr algn="r"/>
            <a:r>
              <a:rPr lang="en-US" sz="900" i="1" dirty="0">
                <a:solidFill>
                  <a:schemeClr val="bg1">
                    <a:lumMod val="50000"/>
                  </a:schemeClr>
                </a:solidFill>
                <a:latin typeface="Trade Gothic LT Pro" panose="020B0503040303020004" pitchFamily="34" charset="0"/>
              </a:rPr>
              <a:t>Who are the people with influence w/out formal power</a:t>
            </a:r>
          </a:p>
          <a:p>
            <a:pPr algn="r"/>
            <a:endParaRPr lang="en-US" sz="1200" dirty="0">
              <a:solidFill>
                <a:schemeClr val="bg1">
                  <a:lumMod val="50000"/>
                </a:schemeClr>
              </a:solidFill>
              <a:latin typeface="Trade Gothic LT Pro" panose="020B0503040303020004" pitchFamily="34" charset="0"/>
            </a:endParaRPr>
          </a:p>
          <a:p>
            <a:pPr algn="r"/>
            <a:endParaRPr lang="en-US" sz="1200" dirty="0">
              <a:solidFill>
                <a:schemeClr val="bg1">
                  <a:lumMod val="50000"/>
                </a:schemeClr>
              </a:solidFill>
              <a:latin typeface="Trade Gothic LT Pro" panose="020B0503040303020004" pitchFamily="34" charset="0"/>
            </a:endParaRPr>
          </a:p>
          <a:p>
            <a:pPr algn="r"/>
            <a:r>
              <a:rPr lang="en-US" sz="900" i="1" dirty="0">
                <a:solidFill>
                  <a:schemeClr val="bg1">
                    <a:lumMod val="50000"/>
                  </a:schemeClr>
                </a:solidFill>
                <a:latin typeface="Trade Gothic LT Pro" panose="020B0503040303020004" pitchFamily="34" charset="0"/>
              </a:rPr>
              <a:t>How can we expand the set of leaders involved in this culture building (more representative)?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A76E785-0455-47A0-8605-A367C8F0C08A}"/>
              </a:ext>
            </a:extLst>
          </p:cNvPr>
          <p:cNvSpPr txBox="1"/>
          <p:nvPr/>
        </p:nvSpPr>
        <p:spPr>
          <a:xfrm>
            <a:off x="7450784" y="1654367"/>
            <a:ext cx="2273007" cy="10618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i="1" dirty="0">
                <a:solidFill>
                  <a:schemeClr val="bg1">
                    <a:lumMod val="50000"/>
                  </a:schemeClr>
                </a:solidFill>
                <a:latin typeface="Trade Gothic LT Pro" panose="020B0503040303020004" pitchFamily="34" charset="0"/>
              </a:rPr>
              <a:t>Existing networks </a:t>
            </a:r>
          </a:p>
          <a:p>
            <a:endParaRPr lang="en-US" sz="900" i="1" dirty="0">
              <a:solidFill>
                <a:schemeClr val="bg1">
                  <a:lumMod val="50000"/>
                </a:schemeClr>
              </a:solidFill>
              <a:latin typeface="Trade Gothic LT Pro" panose="020B0503040303020004" pitchFamily="34" charset="0"/>
            </a:endParaRPr>
          </a:p>
          <a:p>
            <a:endParaRPr lang="en-US" sz="900" i="1" dirty="0">
              <a:solidFill>
                <a:schemeClr val="bg1">
                  <a:lumMod val="50000"/>
                </a:schemeClr>
              </a:solidFill>
              <a:latin typeface="Trade Gothic LT Pro" panose="020B0503040303020004" pitchFamily="34" charset="0"/>
            </a:endParaRPr>
          </a:p>
          <a:p>
            <a:endParaRPr lang="en-US" sz="900" i="1" dirty="0">
              <a:solidFill>
                <a:schemeClr val="bg1">
                  <a:lumMod val="50000"/>
                </a:schemeClr>
              </a:solidFill>
              <a:latin typeface="Trade Gothic LT Pro" panose="020B0503040303020004" pitchFamily="34" charset="0"/>
            </a:endParaRPr>
          </a:p>
          <a:p>
            <a:endParaRPr lang="en-US" sz="900" i="1" dirty="0">
              <a:solidFill>
                <a:schemeClr val="bg1">
                  <a:lumMod val="50000"/>
                </a:schemeClr>
              </a:solidFill>
              <a:latin typeface="Trade Gothic LT Pro" panose="020B0503040303020004" pitchFamily="34" charset="0"/>
            </a:endParaRPr>
          </a:p>
          <a:p>
            <a:endParaRPr lang="en-US" sz="900" i="1" dirty="0">
              <a:solidFill>
                <a:schemeClr val="bg1">
                  <a:lumMod val="50000"/>
                </a:schemeClr>
              </a:solidFill>
              <a:latin typeface="Trade Gothic LT Pro" panose="020B0503040303020004" pitchFamily="34" charset="0"/>
            </a:endParaRPr>
          </a:p>
          <a:p>
            <a:r>
              <a:rPr lang="en-US" sz="900" i="1" dirty="0">
                <a:solidFill>
                  <a:schemeClr val="bg1">
                    <a:lumMod val="50000"/>
                  </a:schemeClr>
                </a:solidFill>
                <a:latin typeface="Trade Gothic LT Pro" panose="020B0503040303020004" pitchFamily="34" charset="0"/>
              </a:rPr>
              <a:t>Networks to create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AC510971-F215-4470-9567-0B9858DBAD22}"/>
              </a:ext>
            </a:extLst>
          </p:cNvPr>
          <p:cNvSpPr txBox="1"/>
          <p:nvPr/>
        </p:nvSpPr>
        <p:spPr>
          <a:xfrm>
            <a:off x="7767781" y="3047233"/>
            <a:ext cx="2004288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900" i="1" dirty="0">
                <a:solidFill>
                  <a:schemeClr val="bg1">
                    <a:lumMod val="50000"/>
                  </a:schemeClr>
                </a:solidFill>
                <a:latin typeface="Trade Gothic LT Pro" panose="020B0503040303020004" pitchFamily="34" charset="0"/>
              </a:rPr>
              <a:t>Who is not being included?     </a:t>
            </a:r>
          </a:p>
          <a:p>
            <a:pPr algn="r"/>
            <a:endParaRPr lang="en-US" sz="900" i="1" dirty="0">
              <a:solidFill>
                <a:schemeClr val="bg1">
                  <a:lumMod val="50000"/>
                </a:schemeClr>
              </a:solidFill>
              <a:latin typeface="Trade Gothic LT Pro" panose="020B0503040303020004" pitchFamily="34" charset="0"/>
            </a:endParaRPr>
          </a:p>
          <a:p>
            <a:pPr algn="r"/>
            <a:endParaRPr lang="en-US" sz="900" i="1" dirty="0">
              <a:solidFill>
                <a:schemeClr val="bg1">
                  <a:lumMod val="50000"/>
                </a:schemeClr>
              </a:solidFill>
              <a:latin typeface="Trade Gothic LT Pro" panose="020B0503040303020004" pitchFamily="34" charset="0"/>
            </a:endParaRPr>
          </a:p>
          <a:p>
            <a:pPr algn="r"/>
            <a:endParaRPr lang="en-US" sz="900" i="1" dirty="0">
              <a:solidFill>
                <a:schemeClr val="bg1">
                  <a:lumMod val="50000"/>
                </a:schemeClr>
              </a:solidFill>
              <a:latin typeface="Trade Gothic LT Pro" panose="020B0503040303020004" pitchFamily="34" charset="0"/>
            </a:endParaRPr>
          </a:p>
          <a:p>
            <a:pPr algn="r"/>
            <a:r>
              <a:rPr lang="en-US" sz="900" i="1" dirty="0">
                <a:solidFill>
                  <a:schemeClr val="bg1">
                    <a:lumMod val="50000"/>
                  </a:schemeClr>
                </a:solidFill>
                <a:latin typeface="Trade Gothic LT Pro" panose="020B0503040303020004" pitchFamily="34" charset="0"/>
              </a:rPr>
              <a:t>How can we expand the invitation?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6227B192-9D07-447B-9E7B-BAC184E9B730}"/>
              </a:ext>
            </a:extLst>
          </p:cNvPr>
          <p:cNvSpPr txBox="1"/>
          <p:nvPr/>
        </p:nvSpPr>
        <p:spPr>
          <a:xfrm>
            <a:off x="5097921" y="4309745"/>
            <a:ext cx="227300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i="1" dirty="0">
                <a:solidFill>
                  <a:schemeClr val="bg1">
                    <a:lumMod val="50000"/>
                  </a:schemeClr>
                </a:solidFill>
                <a:latin typeface="Trade Gothic LT Pro" panose="020B0503040303020004" pitchFamily="34" charset="0"/>
              </a:rPr>
              <a:t>Existing training </a:t>
            </a:r>
          </a:p>
          <a:p>
            <a:endParaRPr lang="en-US" sz="900" i="1" dirty="0">
              <a:solidFill>
                <a:schemeClr val="bg1">
                  <a:lumMod val="50000"/>
                </a:schemeClr>
              </a:solidFill>
              <a:latin typeface="Trade Gothic LT Pro" panose="020B0503040303020004" pitchFamily="34" charset="0"/>
            </a:endParaRPr>
          </a:p>
          <a:p>
            <a:endParaRPr lang="en-US" sz="900" i="1" dirty="0">
              <a:solidFill>
                <a:schemeClr val="bg1">
                  <a:lumMod val="50000"/>
                </a:schemeClr>
              </a:solidFill>
              <a:latin typeface="Trade Gothic LT Pro" panose="020B0503040303020004" pitchFamily="34" charset="0"/>
            </a:endParaRPr>
          </a:p>
          <a:p>
            <a:endParaRPr lang="en-US" sz="900" i="1" dirty="0">
              <a:solidFill>
                <a:schemeClr val="bg1">
                  <a:lumMod val="50000"/>
                </a:schemeClr>
              </a:solidFill>
              <a:latin typeface="Trade Gothic LT Pro" panose="020B0503040303020004" pitchFamily="34" charset="0"/>
            </a:endParaRPr>
          </a:p>
          <a:p>
            <a:endParaRPr lang="en-US" sz="900" i="1" dirty="0">
              <a:solidFill>
                <a:schemeClr val="bg1">
                  <a:lumMod val="50000"/>
                </a:schemeClr>
              </a:solidFill>
              <a:latin typeface="Trade Gothic LT Pro" panose="020B0503040303020004" pitchFamily="34" charset="0"/>
            </a:endParaRPr>
          </a:p>
          <a:p>
            <a:r>
              <a:rPr lang="en-US" sz="900" i="1" dirty="0">
                <a:solidFill>
                  <a:schemeClr val="bg1">
                    <a:lumMod val="50000"/>
                  </a:schemeClr>
                </a:solidFill>
                <a:latin typeface="Trade Gothic LT Pro" panose="020B0503040303020004" pitchFamily="34" charset="0"/>
              </a:rPr>
              <a:t>Training to create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6E0A79A0-03BC-4E66-B4C9-840A4055F8EA}"/>
              </a:ext>
            </a:extLst>
          </p:cNvPr>
          <p:cNvSpPr txBox="1"/>
          <p:nvPr/>
        </p:nvSpPr>
        <p:spPr>
          <a:xfrm>
            <a:off x="6040583" y="5591086"/>
            <a:ext cx="1344672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900" i="1" dirty="0">
                <a:solidFill>
                  <a:schemeClr val="bg1">
                    <a:lumMod val="50000"/>
                  </a:schemeClr>
                </a:solidFill>
                <a:latin typeface="Trade Gothic LT Pro" panose="020B0503040303020004" pitchFamily="34" charset="0"/>
              </a:rPr>
              <a:t>How can we remove barriers to access the training &amp; education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5D5A13D7-7724-4193-80AA-7C3C2BB760A3}"/>
              </a:ext>
            </a:extLst>
          </p:cNvPr>
          <p:cNvSpPr txBox="1"/>
          <p:nvPr/>
        </p:nvSpPr>
        <p:spPr>
          <a:xfrm>
            <a:off x="7450707" y="4311693"/>
            <a:ext cx="227308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i="1" dirty="0">
                <a:solidFill>
                  <a:schemeClr val="bg1">
                    <a:lumMod val="50000"/>
                  </a:schemeClr>
                </a:solidFill>
                <a:latin typeface="Trade Gothic LT Pro" panose="020B0503040303020004" pitchFamily="34" charset="0"/>
              </a:rPr>
              <a:t>Existing material (does it include a diversity of viewpoints &amp; perspectives)?</a:t>
            </a:r>
          </a:p>
          <a:p>
            <a:endParaRPr lang="en-US" sz="900" i="1" dirty="0">
              <a:solidFill>
                <a:schemeClr val="bg1">
                  <a:lumMod val="50000"/>
                </a:schemeClr>
              </a:solidFill>
              <a:latin typeface="Trade Gothic LT Pro" panose="020B0503040303020004" pitchFamily="34" charset="0"/>
            </a:endParaRPr>
          </a:p>
          <a:p>
            <a:endParaRPr lang="en-US" sz="900" i="1" dirty="0">
              <a:solidFill>
                <a:schemeClr val="bg1">
                  <a:lumMod val="50000"/>
                </a:schemeClr>
              </a:solidFill>
              <a:latin typeface="Trade Gothic LT Pro" panose="020B0503040303020004" pitchFamily="34" charset="0"/>
            </a:endParaRPr>
          </a:p>
          <a:p>
            <a:endParaRPr lang="en-US" sz="900" i="1" dirty="0">
              <a:solidFill>
                <a:schemeClr val="bg1">
                  <a:lumMod val="50000"/>
                </a:schemeClr>
              </a:solidFill>
              <a:latin typeface="Trade Gothic LT Pro" panose="020B0503040303020004" pitchFamily="34" charset="0"/>
            </a:endParaRPr>
          </a:p>
          <a:p>
            <a:endParaRPr lang="en-US" sz="900" i="1" dirty="0">
              <a:solidFill>
                <a:schemeClr val="bg1">
                  <a:lumMod val="50000"/>
                </a:schemeClr>
              </a:solidFill>
              <a:latin typeface="Trade Gothic LT Pro" panose="020B0503040303020004" pitchFamily="34" charset="0"/>
            </a:endParaRPr>
          </a:p>
          <a:p>
            <a:r>
              <a:rPr lang="en-US" sz="900" i="1" dirty="0">
                <a:solidFill>
                  <a:schemeClr val="bg1">
                    <a:lumMod val="50000"/>
                  </a:schemeClr>
                </a:solidFill>
                <a:latin typeface="Trade Gothic LT Pro" panose="020B0503040303020004" pitchFamily="34" charset="0"/>
              </a:rPr>
              <a:t>Material to create (to include diverse voices)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524C315C-FA35-4D0C-AD71-20AE4558FDF4}"/>
              </a:ext>
            </a:extLst>
          </p:cNvPr>
          <p:cNvSpPr txBox="1"/>
          <p:nvPr/>
        </p:nvSpPr>
        <p:spPr>
          <a:xfrm>
            <a:off x="773155" y="5746292"/>
            <a:ext cx="4076581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i="1" dirty="0">
                <a:solidFill>
                  <a:schemeClr val="bg1">
                    <a:lumMod val="50000"/>
                  </a:schemeClr>
                </a:solidFill>
                <a:latin typeface="Trade Gothic LT Pro" panose="020B0503040303020004" pitchFamily="34" charset="0"/>
              </a:rPr>
              <a:t>How can we avoid reinforcing the current situation/ “perpetual majority”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7EFCA039-1013-434D-9D24-604003909FCF}"/>
              </a:ext>
            </a:extLst>
          </p:cNvPr>
          <p:cNvSpPr txBox="1"/>
          <p:nvPr/>
        </p:nvSpPr>
        <p:spPr>
          <a:xfrm>
            <a:off x="334609" y="1428934"/>
            <a:ext cx="158441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latin typeface="Trade Gothic LT Pro Bold" panose="020B0503040303020004" pitchFamily="34" charset="0"/>
              </a:rPr>
              <a:t> Notes</a:t>
            </a:r>
          </a:p>
        </p:txBody>
      </p:sp>
    </p:spTree>
    <p:extLst>
      <p:ext uri="{BB962C8B-B14F-4D97-AF65-F5344CB8AC3E}">
        <p14:creationId xmlns:p14="http://schemas.microsoft.com/office/powerpoint/2010/main" val="2983818322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Custom 2">
      <a:dk1>
        <a:srgbClr val="000000"/>
      </a:dk1>
      <a:lt1>
        <a:srgbClr val="FFFFFF"/>
      </a:lt1>
      <a:dk2>
        <a:srgbClr val="0B2338"/>
      </a:dk2>
      <a:lt2>
        <a:srgbClr val="E7E6E6"/>
      </a:lt2>
      <a:accent1>
        <a:srgbClr val="E51D3E"/>
      </a:accent1>
      <a:accent2>
        <a:srgbClr val="ED7D31"/>
      </a:accent2>
      <a:accent3>
        <a:srgbClr val="78C044"/>
      </a:accent3>
      <a:accent4>
        <a:srgbClr val="0DA8D9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894E99C172A24489941E5861361F779" ma:contentTypeVersion="8" ma:contentTypeDescription="Create a new document." ma:contentTypeScope="" ma:versionID="771431e25d0fe5f94154fb889c3e9476">
  <xsd:schema xmlns:xsd="http://www.w3.org/2001/XMLSchema" xmlns:xs="http://www.w3.org/2001/XMLSchema" xmlns:p="http://schemas.microsoft.com/office/2006/metadata/properties" xmlns:ns2="754fbc98-762c-4a90-9774-edf41ff53b67" targetNamespace="http://schemas.microsoft.com/office/2006/metadata/properties" ma:root="true" ma:fieldsID="aec298c6dc5a8bb722e4e4f30310d181" ns2:_="">
    <xsd:import namespace="754fbc98-762c-4a90-9774-edf41ff53b6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54fbc98-762c-4a90-9774-edf41ff53b6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Location" ma:index="12" nillable="true" ma:displayName="Location" ma:internalName="MediaServiceLocatio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7E9386B-B9D4-4DD2-A9A2-BB4405422051}">
  <ds:schemaRefs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754fbc98-762c-4a90-9774-edf41ff53b67"/>
    <ds:schemaRef ds:uri="http://purl.org/dc/terms/"/>
    <ds:schemaRef ds:uri="http://schemas.openxmlformats.org/package/2006/metadata/core-propertie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6F09A9B2-11C0-4F68-986A-02670966B32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54fbc98-762c-4a90-9774-edf41ff53b6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516BBB1-1D72-424A-B5A0-2681626E672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45204</TotalTime>
  <Words>214</Words>
  <Application>Microsoft Office PowerPoint</Application>
  <PresentationFormat>Custom</PresentationFormat>
  <Paragraphs>69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Trade Gothic LT Pro</vt:lpstr>
      <vt:lpstr>Trade Gothic LT Pro Bold</vt:lpstr>
      <vt:lpstr>1_Office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ITK Worksheet Updates</dc:title>
  <dc:creator>Moonisha Rahman</dc:creator>
  <cp:lastModifiedBy>Moonisha Rahman</cp:lastModifiedBy>
  <cp:revision>238</cp:revision>
  <dcterms:created xsi:type="dcterms:W3CDTF">2021-02-16T17:30:35Z</dcterms:created>
  <dcterms:modified xsi:type="dcterms:W3CDTF">2021-06-02T19:13:35Z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0x0101009894E99C172A24489941E5861361F779</vt:lpwstr>
  </property>
</Properties>
</file>