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6"/>
  </p:notesMasterIdLst>
  <p:handoutMasterIdLst>
    <p:handoutMasterId r:id="rId7"/>
  </p:handoutMasterIdLst>
  <p:sldIdLst>
    <p:sldId id="314" r:id="rId5"/>
  </p:sldIdLst>
  <p:sldSz cx="100584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oonisha Rahman" initials="MR" lastIdx="46" clrIdx="0">
    <p:extLst>
      <p:ext uri="{19B8F6BF-5375-455C-9EA6-DF929625EA0E}">
        <p15:presenceInfo xmlns:p15="http://schemas.microsoft.com/office/powerpoint/2012/main" userId="S::RAHMANM@MITRE.ORG::6cf91401-9094-4e8f-a695-42ee7077f7e9" providerId="AD"/>
      </p:ext>
    </p:extLst>
  </p:cmAuthor>
  <p:cmAuthor id="2" name="Rachel E Gregorio" initials="REG" lastIdx="9" clrIdx="1">
    <p:extLst>
      <p:ext uri="{19B8F6BF-5375-455C-9EA6-DF929625EA0E}">
        <p15:presenceInfo xmlns:p15="http://schemas.microsoft.com/office/powerpoint/2012/main" userId="S::rgregorio@mitre.org::8bffd36a-0092-49e2-a094-14b10b84ee1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7DEFF"/>
    <a:srgbClr val="0B2338"/>
    <a:srgbClr val="005B93"/>
    <a:srgbClr val="0A2237"/>
    <a:srgbClr val="C8DFF4"/>
    <a:srgbClr val="00B0F0"/>
    <a:srgbClr val="C9EAFF"/>
    <a:srgbClr val="FFFFFF"/>
    <a:srgbClr val="E1F6FF"/>
    <a:srgbClr val="E2F1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3333" autoAdjust="0"/>
  </p:normalViewPr>
  <p:slideViewPr>
    <p:cSldViewPr snapToGrid="0">
      <p:cViewPr varScale="1">
        <p:scale>
          <a:sx n="56" d="100"/>
          <a:sy n="56" d="100"/>
        </p:scale>
        <p:origin x="1440" y="52"/>
      </p:cViewPr>
      <p:guideLst>
        <p:guide orient="horz" pos="2448"/>
        <p:guide pos="316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51" d="100"/>
          <a:sy n="51" d="100"/>
        </p:scale>
        <p:origin x="2692" y="6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5C3CCF0-20A0-4277-B884-FCDC13D4216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9C8C52-E96C-4D62-9306-4F2B3D25D33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CFA0B8-05D5-4D03-BED0-5F9DB4E2AD1C}" type="datetimeFigureOut">
              <a:rPr lang="en-US" smtClean="0"/>
              <a:t>6/2/2021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160679-50D1-49D8-B7AD-A9CF1516F28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F18EA8-AA11-4184-9321-7F5274B1945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B1F5E2-A98F-40FE-8D42-344BEA526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4712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A9B366-79F4-4B62-AF82-2B8B21D70C18}" type="datetimeFigureOut">
              <a:rPr lang="en-US" smtClean="0"/>
              <a:t>6/2/2021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43000"/>
            <a:ext cx="3994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21AF85-23DB-4EF3-AEBB-2F7BA47FD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424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5076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36CAA1B-F833-B74D-8E4B-3A6E9372A07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041064" y="269608"/>
            <a:ext cx="1826836" cy="159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520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BBACB510-22D5-4981-AE8B-00B17E7E6137}"/>
              </a:ext>
            </a:extLst>
          </p:cNvPr>
          <p:cNvSpPr/>
          <p:nvPr/>
        </p:nvSpPr>
        <p:spPr>
          <a:xfrm>
            <a:off x="408114" y="695542"/>
            <a:ext cx="2733806" cy="22603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C30DF5-EA82-804F-B290-E191C0017C5E}"/>
              </a:ext>
            </a:extLst>
          </p:cNvPr>
          <p:cNvSpPr txBox="1"/>
          <p:nvPr/>
        </p:nvSpPr>
        <p:spPr>
          <a:xfrm>
            <a:off x="190478" y="74059"/>
            <a:ext cx="77491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rgbClr val="00B0F0"/>
                </a:solidFill>
                <a:latin typeface="Trade Gothic LT Pro Bold" panose="020B0803040303020004" pitchFamily="34" charset="0"/>
              </a:rPr>
              <a:t>PERSONAS: </a:t>
            </a:r>
            <a:r>
              <a:rPr lang="en-US" dirty="0">
                <a:solidFill>
                  <a:srgbClr val="0B2338"/>
                </a:solidFill>
                <a:latin typeface="Trade Gothic LT Pro Bold" panose="020B0803040303020004" pitchFamily="34" charset="0"/>
              </a:rPr>
              <a:t>Identify and understand needs of a customer</a:t>
            </a:r>
            <a:endParaRPr kumimoji="0" lang="en-US" sz="1800" i="0" u="none" strike="noStrike" kern="1200" cap="none" spc="0" normalizeH="0" baseline="0" noProof="0" dirty="0">
              <a:ln>
                <a:noFill/>
              </a:ln>
              <a:solidFill>
                <a:srgbClr val="0B2338"/>
              </a:solidFill>
              <a:effectLst/>
              <a:uLnTx/>
              <a:uFillTx/>
              <a:latin typeface="Trade Gothic LT Pro Bold" panose="020B0803040303020004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E9591C7-E102-4B6F-9806-298A05C64698}"/>
              </a:ext>
            </a:extLst>
          </p:cNvPr>
          <p:cNvSpPr txBox="1"/>
          <p:nvPr/>
        </p:nvSpPr>
        <p:spPr>
          <a:xfrm>
            <a:off x="6873997" y="2335305"/>
            <a:ext cx="4908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Trade Gothic LT Pro Bold" panose="020B0503040303020004" pitchFamily="34" charset="77"/>
              </a:rPr>
              <a:t>Who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B1012B21-1F42-44EE-A051-6B9894E01C31}"/>
              </a:ext>
            </a:extLst>
          </p:cNvPr>
          <p:cNvSpPr/>
          <p:nvPr/>
        </p:nvSpPr>
        <p:spPr>
          <a:xfrm>
            <a:off x="190489" y="522478"/>
            <a:ext cx="9677400" cy="6729222"/>
          </a:xfrm>
          <a:prstGeom prst="rect">
            <a:avLst/>
          </a:prstGeom>
          <a:noFill/>
          <a:ln w="19050">
            <a:solidFill>
              <a:srgbClr val="0B23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18" name="Graphic 17" descr="User with solid fill">
            <a:extLst>
              <a:ext uri="{FF2B5EF4-FFF2-40B4-BE49-F238E27FC236}">
                <a16:creationId xmlns:a16="http://schemas.microsoft.com/office/drawing/2014/main" id="{A7C6F656-9AB6-4AB0-97B8-23815CBA02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9242" y="945533"/>
            <a:ext cx="1811549" cy="1705379"/>
          </a:xfrm>
          <a:prstGeom prst="rect">
            <a:avLst/>
          </a:prstGeom>
        </p:spPr>
      </p:pic>
      <p:sp>
        <p:nvSpPr>
          <p:cNvPr id="19" name="Speech Bubble: Rectangle 18">
            <a:extLst>
              <a:ext uri="{FF2B5EF4-FFF2-40B4-BE49-F238E27FC236}">
                <a16:creationId xmlns:a16="http://schemas.microsoft.com/office/drawing/2014/main" id="{2E577BB2-5512-449F-A131-210A021C1473}"/>
              </a:ext>
            </a:extLst>
          </p:cNvPr>
          <p:cNvSpPr/>
          <p:nvPr/>
        </p:nvSpPr>
        <p:spPr>
          <a:xfrm>
            <a:off x="3247007" y="695543"/>
            <a:ext cx="3026202" cy="2260308"/>
          </a:xfrm>
          <a:prstGeom prst="wedgeRectCallout">
            <a:avLst>
              <a:gd name="adj1" fmla="val -85899"/>
              <a:gd name="adj2" fmla="val -979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4EBA10A-75CF-48F9-9E36-DE0B0C440CA2}"/>
              </a:ext>
            </a:extLst>
          </p:cNvPr>
          <p:cNvSpPr/>
          <p:nvPr/>
        </p:nvSpPr>
        <p:spPr>
          <a:xfrm>
            <a:off x="418745" y="3397837"/>
            <a:ext cx="2723175" cy="3704711"/>
          </a:xfrm>
          <a:prstGeom prst="rect">
            <a:avLst/>
          </a:prstGeom>
          <a:ln w="9525">
            <a:solidFill>
              <a:srgbClr val="7E82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2FD906A-46AF-45F6-B305-C5E7AEB8C5BB}"/>
              </a:ext>
            </a:extLst>
          </p:cNvPr>
          <p:cNvSpPr/>
          <p:nvPr/>
        </p:nvSpPr>
        <p:spPr>
          <a:xfrm>
            <a:off x="418746" y="3087422"/>
            <a:ext cx="2733806" cy="316850"/>
          </a:xfrm>
          <a:prstGeom prst="rect">
            <a:avLst/>
          </a:prstGeom>
          <a:solidFill>
            <a:srgbClr val="0B2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Trade Gothic LT Pro Bold" panose="020B0803040303020004" pitchFamily="34" charset="0"/>
              </a:rPr>
              <a:t>Personal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DA91C76-D265-4F2F-B303-93721F0F4537}"/>
              </a:ext>
            </a:extLst>
          </p:cNvPr>
          <p:cNvCxnSpPr>
            <a:cxnSpLocks/>
          </p:cNvCxnSpPr>
          <p:nvPr/>
        </p:nvCxnSpPr>
        <p:spPr>
          <a:xfrm>
            <a:off x="418747" y="4112134"/>
            <a:ext cx="2723175" cy="0"/>
          </a:xfrm>
          <a:prstGeom prst="line">
            <a:avLst/>
          </a:prstGeom>
          <a:ln w="3175">
            <a:solidFill>
              <a:srgbClr val="7E828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29FAE333-8F2E-4863-9018-7E9780866486}"/>
              </a:ext>
            </a:extLst>
          </p:cNvPr>
          <p:cNvCxnSpPr>
            <a:cxnSpLocks/>
          </p:cNvCxnSpPr>
          <p:nvPr/>
        </p:nvCxnSpPr>
        <p:spPr>
          <a:xfrm>
            <a:off x="418747" y="4859957"/>
            <a:ext cx="2723175" cy="0"/>
          </a:xfrm>
          <a:prstGeom prst="line">
            <a:avLst/>
          </a:prstGeom>
          <a:ln w="3175">
            <a:solidFill>
              <a:srgbClr val="7E828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48D1B71-1FF1-494B-BFFA-2562624B77C1}"/>
              </a:ext>
            </a:extLst>
          </p:cNvPr>
          <p:cNvCxnSpPr>
            <a:cxnSpLocks/>
          </p:cNvCxnSpPr>
          <p:nvPr/>
        </p:nvCxnSpPr>
        <p:spPr>
          <a:xfrm>
            <a:off x="418747" y="5894859"/>
            <a:ext cx="2723175" cy="0"/>
          </a:xfrm>
          <a:prstGeom prst="line">
            <a:avLst/>
          </a:prstGeom>
          <a:ln w="3175">
            <a:solidFill>
              <a:srgbClr val="7E828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C3811FEC-83BE-4570-85C0-782002D4F078}"/>
              </a:ext>
            </a:extLst>
          </p:cNvPr>
          <p:cNvSpPr txBox="1"/>
          <p:nvPr/>
        </p:nvSpPr>
        <p:spPr>
          <a:xfrm>
            <a:off x="418743" y="3404271"/>
            <a:ext cx="19935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000000"/>
                </a:solidFill>
                <a:latin typeface="Trade Gothic LT Pro Bold" panose="020B0503040303020004"/>
              </a:rPr>
              <a:t>Name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ade Gothic LT Pro Bold" panose="020B0503040303020004"/>
              <a:ea typeface="+mn-ea"/>
              <a:cs typeface="+mn-cs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958E90D-C2EF-46E1-8042-BF0FBB5BDA11}"/>
              </a:ext>
            </a:extLst>
          </p:cNvPr>
          <p:cNvSpPr txBox="1"/>
          <p:nvPr/>
        </p:nvSpPr>
        <p:spPr>
          <a:xfrm>
            <a:off x="408113" y="4123255"/>
            <a:ext cx="19935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000000"/>
                </a:solidFill>
                <a:latin typeface="Trade Gothic LT Pro Bold" panose="020B0503040303020004"/>
              </a:rPr>
              <a:t>Role/Title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ade Gothic LT Pro Bold" panose="020B0503040303020004"/>
              <a:ea typeface="+mn-ea"/>
              <a:cs typeface="+mn-cs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4555513-4EBB-4C32-B21E-D6CAF1CF39BB}"/>
              </a:ext>
            </a:extLst>
          </p:cNvPr>
          <p:cNvSpPr txBox="1"/>
          <p:nvPr/>
        </p:nvSpPr>
        <p:spPr>
          <a:xfrm>
            <a:off x="418743" y="4871816"/>
            <a:ext cx="19935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000000"/>
                </a:solidFill>
                <a:latin typeface="Trade Gothic LT Pro Bold" panose="020B0503040303020004"/>
              </a:rPr>
              <a:t>Background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ade Gothic LT Pro Bold" panose="020B0503040303020004"/>
              <a:ea typeface="+mn-ea"/>
              <a:cs typeface="+mn-cs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CF278ED-AE00-497A-A8A0-C171ADB0DAA4}"/>
              </a:ext>
            </a:extLst>
          </p:cNvPr>
          <p:cNvSpPr txBox="1"/>
          <p:nvPr/>
        </p:nvSpPr>
        <p:spPr>
          <a:xfrm>
            <a:off x="418743" y="5894859"/>
            <a:ext cx="19935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000000"/>
                </a:solidFill>
                <a:latin typeface="Trade Gothic LT Pro Bold" panose="020B0503040303020004"/>
              </a:rPr>
              <a:t>Location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ade Gothic LT Pro Bold" panose="020B0503040303020004"/>
              <a:ea typeface="+mn-ea"/>
              <a:cs typeface="+mn-cs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71486EC-2BAF-4A9A-9E74-17BC18E11E05}"/>
              </a:ext>
            </a:extLst>
          </p:cNvPr>
          <p:cNvSpPr/>
          <p:nvPr/>
        </p:nvSpPr>
        <p:spPr>
          <a:xfrm>
            <a:off x="6400801" y="706175"/>
            <a:ext cx="3253598" cy="366310"/>
          </a:xfrm>
          <a:prstGeom prst="rect">
            <a:avLst/>
          </a:prstGeom>
          <a:solidFill>
            <a:srgbClr val="87D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0B2338"/>
                </a:solidFill>
                <a:latin typeface="Trade Gothic LT Pro Bold" panose="020B0803040303020004" pitchFamily="34" charset="0"/>
              </a:rPr>
              <a:t>Goals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B3C1B17-9B10-4780-BEBF-6B5BC04899D0}"/>
              </a:ext>
            </a:extLst>
          </p:cNvPr>
          <p:cNvSpPr/>
          <p:nvPr/>
        </p:nvSpPr>
        <p:spPr>
          <a:xfrm>
            <a:off x="6400801" y="3545075"/>
            <a:ext cx="3264231" cy="342428"/>
          </a:xfrm>
          <a:prstGeom prst="rect">
            <a:avLst/>
          </a:prstGeom>
          <a:solidFill>
            <a:srgbClr val="87D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0B2338"/>
                </a:solidFill>
                <a:latin typeface="Trade Gothic LT Pro Bold" panose="020B0803040303020004" pitchFamily="34" charset="0"/>
              </a:rPr>
              <a:t>Critical Tasks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58689EF-8CF4-45B0-B630-C5E8F4A6AE11}"/>
              </a:ext>
            </a:extLst>
          </p:cNvPr>
          <p:cNvSpPr/>
          <p:nvPr/>
        </p:nvSpPr>
        <p:spPr>
          <a:xfrm>
            <a:off x="3247007" y="3087422"/>
            <a:ext cx="3026202" cy="401512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AF327F6-0EF8-456E-A828-703D8ED9E31E}"/>
              </a:ext>
            </a:extLst>
          </p:cNvPr>
          <p:cNvSpPr/>
          <p:nvPr/>
        </p:nvSpPr>
        <p:spPr>
          <a:xfrm>
            <a:off x="3251306" y="3087422"/>
            <a:ext cx="3026203" cy="347301"/>
          </a:xfrm>
          <a:prstGeom prst="rect">
            <a:avLst/>
          </a:prstGeom>
          <a:solidFill>
            <a:srgbClr val="005B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Trade Gothic LT Pro Bold" panose="020B0803040303020004" pitchFamily="34" charset="0"/>
              </a:rPr>
              <a:t>Responsibilities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64585BB-5617-4F6A-8E7E-865E4E44976D}"/>
              </a:ext>
            </a:extLst>
          </p:cNvPr>
          <p:cNvSpPr/>
          <p:nvPr/>
        </p:nvSpPr>
        <p:spPr>
          <a:xfrm>
            <a:off x="6390168" y="695543"/>
            <a:ext cx="3249486" cy="6406998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814C36-23A8-4D0F-8AEB-77EF89D5EF45}"/>
              </a:ext>
            </a:extLst>
          </p:cNvPr>
          <p:cNvSpPr txBox="1"/>
          <p:nvPr/>
        </p:nvSpPr>
        <p:spPr>
          <a:xfrm>
            <a:off x="106162" y="7423572"/>
            <a:ext cx="156966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 err="1">
                <a:latin typeface="Trade Gothic LT Pro" panose="020B0503040303020004" pitchFamily="34" charset="77"/>
                <a:cs typeface="Arial" panose="020B0604020202020204" pitchFamily="34" charset="0"/>
              </a:rPr>
              <a:t>itk.mitre.org</a:t>
            </a:r>
            <a:r>
              <a:rPr lang="en-US" sz="900" dirty="0">
                <a:latin typeface="Trade Gothic LT Pro" panose="020B0503040303020004" pitchFamily="34" charset="77"/>
                <a:cs typeface="Arial" panose="020B0604020202020204" pitchFamily="34" charset="0"/>
              </a:rPr>
              <a:t> | </a:t>
            </a:r>
            <a:r>
              <a:rPr lang="en-US" sz="900" dirty="0" err="1">
                <a:latin typeface="Trade Gothic LT Pro" panose="020B0503040303020004" pitchFamily="34" charset="77"/>
                <a:cs typeface="Arial" panose="020B0604020202020204" pitchFamily="34" charset="0"/>
              </a:rPr>
              <a:t>itk@mitre.org</a:t>
            </a:r>
            <a:endParaRPr lang="en-US" sz="900" dirty="0">
              <a:latin typeface="Trade Gothic LT Pro" panose="020B0503040303020004" pitchFamily="34" charset="77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8915113-3738-43BF-9850-D05E6FA069DA}"/>
              </a:ext>
            </a:extLst>
          </p:cNvPr>
          <p:cNvSpPr txBox="1"/>
          <p:nvPr/>
        </p:nvSpPr>
        <p:spPr>
          <a:xfrm>
            <a:off x="3720705" y="7433621"/>
            <a:ext cx="583364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sz="900" dirty="0">
                <a:latin typeface="Trade Gothic LT Pro" panose="020B0503040303020004" pitchFamily="34" charset="77"/>
                <a:cs typeface="Arial" panose="020B0604020202020204" pitchFamily="34" charset="0"/>
              </a:rPr>
              <a:t>© 2021 The MITRE Corporation. All rights reserved. Approved for public release. Distribution unlimited PR_20-01469-11.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A91D398-DA34-41D4-A652-AA23D7AAD482}"/>
              </a:ext>
            </a:extLst>
          </p:cNvPr>
          <p:cNvSpPr txBox="1"/>
          <p:nvPr/>
        </p:nvSpPr>
        <p:spPr>
          <a:xfrm>
            <a:off x="2355380" y="7433621"/>
            <a:ext cx="75212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latin typeface="Trade Gothic LT Pro" panose="020B0503040303020004" pitchFamily="34" charset="77"/>
                <a:cs typeface="Arial" panose="020B0604020202020204" pitchFamily="34" charset="0"/>
              </a:rPr>
              <a:t>Persona V1</a:t>
            </a:r>
          </a:p>
        </p:txBody>
      </p:sp>
    </p:spTree>
    <p:extLst>
      <p:ext uri="{BB962C8B-B14F-4D97-AF65-F5344CB8AC3E}">
        <p14:creationId xmlns:p14="http://schemas.microsoft.com/office/powerpoint/2010/main" val="376310341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2">
      <a:dk1>
        <a:srgbClr val="000000"/>
      </a:dk1>
      <a:lt1>
        <a:srgbClr val="FFFFFF"/>
      </a:lt1>
      <a:dk2>
        <a:srgbClr val="0B2338"/>
      </a:dk2>
      <a:lt2>
        <a:srgbClr val="E7E6E6"/>
      </a:lt2>
      <a:accent1>
        <a:srgbClr val="E51D3E"/>
      </a:accent1>
      <a:accent2>
        <a:srgbClr val="ED7D31"/>
      </a:accent2>
      <a:accent3>
        <a:srgbClr val="78C044"/>
      </a:accent3>
      <a:accent4>
        <a:srgbClr val="0DA8D9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894E99C172A24489941E5861361F779" ma:contentTypeVersion="8" ma:contentTypeDescription="Create a new document." ma:contentTypeScope="" ma:versionID="771431e25d0fe5f94154fb889c3e9476">
  <xsd:schema xmlns:xsd="http://www.w3.org/2001/XMLSchema" xmlns:xs="http://www.w3.org/2001/XMLSchema" xmlns:p="http://schemas.microsoft.com/office/2006/metadata/properties" xmlns:ns2="754fbc98-762c-4a90-9774-edf41ff53b67" targetNamespace="http://schemas.microsoft.com/office/2006/metadata/properties" ma:root="true" ma:fieldsID="aec298c6dc5a8bb722e4e4f30310d181" ns2:_="">
    <xsd:import namespace="754fbc98-762c-4a90-9774-edf41ff53b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4fbc98-762c-4a90-9774-edf41ff53b6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7E9386B-B9D4-4DD2-A9A2-BB4405422051}">
  <ds:schemaRefs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http://purl.org/dc/terms/"/>
    <ds:schemaRef ds:uri="http://schemas.microsoft.com/office/infopath/2007/PartnerControls"/>
    <ds:schemaRef ds:uri="754fbc98-762c-4a90-9774-edf41ff53b67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F09A9B2-11C0-4F68-986A-02670966B3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54fbc98-762c-4a90-9774-edf41ff53b6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516BBB1-1D72-424A-B5A0-2681626E672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45201</TotalTime>
  <Words>55</Words>
  <Application>Microsoft Office PowerPoint</Application>
  <PresentationFormat>Custom</PresentationFormat>
  <Paragraphs>13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Trade Gothic LT Pro</vt:lpstr>
      <vt:lpstr>Trade Gothic LT Pro Bold</vt:lpstr>
      <vt:lpstr>1_Office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ITK Worksheet Updates</dc:title>
  <dc:creator>Moonisha Rahman</dc:creator>
  <cp:lastModifiedBy>Moonisha Rahman</cp:lastModifiedBy>
  <cp:revision>238</cp:revision>
  <dcterms:created xsi:type="dcterms:W3CDTF">2021-02-16T17:30:35Z</dcterms:created>
  <dcterms:modified xsi:type="dcterms:W3CDTF">2021-06-02T19:12:17Z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0x0101009894E99C172A24489941E5861361F779</vt:lpwstr>
  </property>
</Properties>
</file>