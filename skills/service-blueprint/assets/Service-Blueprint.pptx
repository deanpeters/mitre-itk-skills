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00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21AF85-23DB-4EF3-AEBB-2F7BA47FDD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562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B418B5F-7B3B-437E-938B-982B4FB97B81}"/>
              </a:ext>
            </a:extLst>
          </p:cNvPr>
          <p:cNvSpPr/>
          <p:nvPr/>
        </p:nvSpPr>
        <p:spPr>
          <a:xfrm>
            <a:off x="2514561" y="4599292"/>
            <a:ext cx="7340589" cy="1420597"/>
          </a:xfrm>
          <a:prstGeom prst="rect">
            <a:avLst/>
          </a:prstGeom>
          <a:solidFill>
            <a:srgbClr val="C8D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  <a:latin typeface="Trade Gothic LT Pro" panose="020B05030403030200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B733E0-D05B-4961-9EE4-18822DF79AE5}"/>
              </a:ext>
            </a:extLst>
          </p:cNvPr>
          <p:cNvSpPr/>
          <p:nvPr/>
        </p:nvSpPr>
        <p:spPr>
          <a:xfrm>
            <a:off x="2503170" y="1816331"/>
            <a:ext cx="7377382" cy="1420597"/>
          </a:xfrm>
          <a:prstGeom prst="rect">
            <a:avLst/>
          </a:prstGeom>
          <a:solidFill>
            <a:srgbClr val="C8DF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2"/>
              </a:solidFill>
              <a:latin typeface="Trade Gothic LT Pro" panose="020B05030403030200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C30DF5-EA82-804F-B290-E191C0017C5E}"/>
              </a:ext>
            </a:extLst>
          </p:cNvPr>
          <p:cNvSpPr txBox="1"/>
          <p:nvPr/>
        </p:nvSpPr>
        <p:spPr>
          <a:xfrm>
            <a:off x="190478" y="74059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SERVICE BLUEPRINT: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Outline and visualize services behind-the-scenes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503170" y="579924"/>
            <a:ext cx="7364718" cy="6814750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35030-5F7C-4264-A775-60B2355AEE68}"/>
              </a:ext>
            </a:extLst>
          </p:cNvPr>
          <p:cNvSpPr/>
          <p:nvPr/>
        </p:nvSpPr>
        <p:spPr>
          <a:xfrm>
            <a:off x="123237" y="569926"/>
            <a:ext cx="2381754" cy="325602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rade Gothic LT Pro" panose="020B0503040303020004" pitchFamily="34" charset="0"/>
              </a:rPr>
              <a:t>User experience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04E28-674A-4DA5-BCA1-7F43EADA1382}"/>
              </a:ext>
            </a:extLst>
          </p:cNvPr>
          <p:cNvSpPr/>
          <p:nvPr/>
        </p:nvSpPr>
        <p:spPr>
          <a:xfrm>
            <a:off x="117520" y="1816331"/>
            <a:ext cx="2385577" cy="329184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rade Gothic LT Pro" panose="020B0503040303020004" pitchFamily="34" charset="0"/>
              </a:rPr>
              <a:t>Frontstage actions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6B38E6-4B12-4578-B800-A771AECECE33}"/>
              </a:ext>
            </a:extLst>
          </p:cNvPr>
          <p:cNvSpPr/>
          <p:nvPr/>
        </p:nvSpPr>
        <p:spPr>
          <a:xfrm>
            <a:off x="117520" y="3226431"/>
            <a:ext cx="2385577" cy="329184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rade Gothic LT Pro" panose="020B0503040303020004" pitchFamily="34" charset="0"/>
              </a:rPr>
              <a:t>Tools &amp; technology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21C2FC-60B7-4E97-99F6-34489F9DED39}"/>
              </a:ext>
            </a:extLst>
          </p:cNvPr>
          <p:cNvSpPr/>
          <p:nvPr/>
        </p:nvSpPr>
        <p:spPr>
          <a:xfrm>
            <a:off x="116245" y="4610722"/>
            <a:ext cx="2385578" cy="329184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rade Gothic LT Pro" panose="020B0503040303020004" pitchFamily="34" charset="0"/>
              </a:rPr>
              <a:t>Backstage actions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31D9F4-E9BE-4609-BE6B-FE2BBF77B006}"/>
              </a:ext>
            </a:extLst>
          </p:cNvPr>
          <p:cNvSpPr/>
          <p:nvPr/>
        </p:nvSpPr>
        <p:spPr>
          <a:xfrm>
            <a:off x="130772" y="6017873"/>
            <a:ext cx="2371641" cy="329184"/>
          </a:xfrm>
          <a:prstGeom prst="rect">
            <a:avLst/>
          </a:prstGeom>
          <a:solidFill>
            <a:srgbClr val="0B2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rade Gothic LT Pro" panose="020B0503040303020004" pitchFamily="34" charset="0"/>
              </a:rPr>
              <a:t>Issues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19A5FE-DFB9-45E3-AE77-E25BC0A195EB}"/>
              </a:ext>
            </a:extLst>
          </p:cNvPr>
          <p:cNvCxnSpPr>
            <a:cxnSpLocks/>
          </p:cNvCxnSpPr>
          <p:nvPr/>
        </p:nvCxnSpPr>
        <p:spPr>
          <a:xfrm flipV="1">
            <a:off x="2514561" y="4605503"/>
            <a:ext cx="7340627" cy="11428"/>
          </a:xfrm>
          <a:prstGeom prst="line">
            <a:avLst/>
          </a:prstGeom>
          <a:ln w="3810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D6A2DEE-ACC8-4C5D-B843-FFF69F222536}"/>
              </a:ext>
            </a:extLst>
          </p:cNvPr>
          <p:cNvCxnSpPr>
            <a:cxnSpLocks/>
          </p:cNvCxnSpPr>
          <p:nvPr/>
        </p:nvCxnSpPr>
        <p:spPr>
          <a:xfrm>
            <a:off x="2503134" y="3236928"/>
            <a:ext cx="7364718" cy="11429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D58B8B-6A68-4652-872F-62116369A9B9}"/>
              </a:ext>
            </a:extLst>
          </p:cNvPr>
          <p:cNvSpPr txBox="1"/>
          <p:nvPr/>
        </p:nvSpPr>
        <p:spPr>
          <a:xfrm>
            <a:off x="128983" y="917644"/>
            <a:ext cx="23855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Trade Gothic LT Pro" panose="020B0503040303020004" pitchFamily="34" charset="0"/>
              </a:rPr>
              <a:t>What actions are being done by the user?</a:t>
            </a:r>
          </a:p>
          <a:p>
            <a:endParaRPr lang="en-US" sz="1000" i="1" dirty="0">
              <a:latin typeface="Trade Gothic LT Pro" panose="020B0503040303020004" pitchFamily="34" charset="0"/>
            </a:endParaRPr>
          </a:p>
          <a:p>
            <a:r>
              <a:rPr lang="en-US" sz="1000" i="1" dirty="0">
                <a:latin typeface="Trade Gothic LT Pro" panose="020B0503040303020004" pitchFamily="34" charset="0"/>
              </a:rPr>
              <a:t>Track the users' thoughts and emotions at each step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A21ADE-5E50-42C3-8BB9-E0B7350494D9}"/>
              </a:ext>
            </a:extLst>
          </p:cNvPr>
          <p:cNvSpPr txBox="1"/>
          <p:nvPr/>
        </p:nvSpPr>
        <p:spPr>
          <a:xfrm>
            <a:off x="128983" y="2161248"/>
            <a:ext cx="23601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Trade Gothic LT Pro" panose="020B0503040303020004" pitchFamily="34" charset="0"/>
              </a:rPr>
              <a:t>What actions are directly occurring in front of the user?</a:t>
            </a:r>
          </a:p>
          <a:p>
            <a:endParaRPr lang="en-US" sz="1000" i="1" dirty="0">
              <a:latin typeface="Trade Gothic LT Pro" panose="020B0503040303020004" pitchFamily="34" charset="0"/>
            </a:endParaRPr>
          </a:p>
          <a:p>
            <a:endParaRPr lang="en-US" sz="1000" i="1" dirty="0">
              <a:latin typeface="Trade Gothic LT Pro" panose="020B0503040303020004" pitchFamily="34" charset="0"/>
            </a:endParaRPr>
          </a:p>
          <a:p>
            <a:r>
              <a:rPr lang="en-US" sz="1000" i="1" dirty="0">
                <a:latin typeface="Trade Gothic LT Pro" panose="020B0503040303020004" pitchFamily="34" charset="0"/>
              </a:rPr>
              <a:t>Are they human-to-human or human-to-computer?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25A869-2198-4DEA-A26D-21E0A212F8F5}"/>
              </a:ext>
            </a:extLst>
          </p:cNvPr>
          <p:cNvSpPr txBox="1"/>
          <p:nvPr/>
        </p:nvSpPr>
        <p:spPr>
          <a:xfrm>
            <a:off x="129497" y="3562713"/>
            <a:ext cx="23661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Trade Gothic LT Pro" panose="020B0503040303020004" pitchFamily="34" charset="0"/>
              </a:rPr>
              <a:t>Does the user utilize a specific tool or technology at any step of this service? </a:t>
            </a:r>
          </a:p>
          <a:p>
            <a:endParaRPr lang="en-US" sz="1000" i="1" dirty="0">
              <a:latin typeface="Trade Gothic LT Pro" panose="020B0503040303020004" pitchFamily="34" charset="0"/>
            </a:endParaRPr>
          </a:p>
          <a:p>
            <a:r>
              <a:rPr lang="en-US" sz="1000" i="1" dirty="0">
                <a:latin typeface="Trade Gothic LT Pro" panose="020B0503040303020004" pitchFamily="34" charset="0"/>
              </a:rPr>
              <a:t>If yes, where, and which one(s)?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C51B8-62BB-43F6-8DE1-C7D6328DF013}"/>
              </a:ext>
            </a:extLst>
          </p:cNvPr>
          <p:cNvSpPr txBox="1"/>
          <p:nvPr/>
        </p:nvSpPr>
        <p:spPr>
          <a:xfrm>
            <a:off x="145774" y="4952902"/>
            <a:ext cx="2349435" cy="40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Trade Gothic LT Pro" panose="020B0503040303020004" pitchFamily="34" charset="0"/>
              </a:rPr>
              <a:t>What actions are occurring behind the scenes?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C0296-3148-494C-9B87-29976936058A}"/>
              </a:ext>
            </a:extLst>
          </p:cNvPr>
          <p:cNvSpPr txBox="1"/>
          <p:nvPr/>
        </p:nvSpPr>
        <p:spPr>
          <a:xfrm>
            <a:off x="132521" y="6359983"/>
            <a:ext cx="235663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i="1" dirty="0">
                <a:latin typeface="Trade Gothic LT Pro" panose="020B0503040303020004" pitchFamily="34" charset="0"/>
              </a:rPr>
              <a:t>Are there any additional issues that occur during at step of the service? </a:t>
            </a:r>
          </a:p>
          <a:p>
            <a:endParaRPr lang="en-US" sz="1000" i="1" dirty="0">
              <a:latin typeface="Trade Gothic LT Pro" panose="020B0503040303020004" pitchFamily="34" charset="0"/>
            </a:endParaRPr>
          </a:p>
          <a:p>
            <a:endParaRPr lang="en-US" sz="1000" i="1" dirty="0">
              <a:latin typeface="Trade Gothic LT Pro" panose="020B0503040303020004" pitchFamily="34" charset="0"/>
            </a:endParaRPr>
          </a:p>
          <a:p>
            <a:r>
              <a:rPr lang="en-US" sz="1000" i="1" dirty="0">
                <a:latin typeface="Trade Gothic LT Pro" panose="020B0503040303020004" pitchFamily="34" charset="0"/>
              </a:rPr>
              <a:t>Please track them here.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CB0F59-6210-46BA-9E8E-F599A91DF2E2}"/>
              </a:ext>
            </a:extLst>
          </p:cNvPr>
          <p:cNvCxnSpPr>
            <a:cxnSpLocks/>
          </p:cNvCxnSpPr>
          <p:nvPr/>
        </p:nvCxnSpPr>
        <p:spPr>
          <a:xfrm flipV="1">
            <a:off x="2490470" y="6027482"/>
            <a:ext cx="7364718" cy="750"/>
          </a:xfrm>
          <a:prstGeom prst="line">
            <a:avLst/>
          </a:prstGeom>
          <a:ln w="1905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871447F-7076-4853-96FE-F4706305BC3C}"/>
              </a:ext>
            </a:extLst>
          </p:cNvPr>
          <p:cNvSpPr txBox="1"/>
          <p:nvPr/>
        </p:nvSpPr>
        <p:spPr>
          <a:xfrm>
            <a:off x="8483514" y="3246838"/>
            <a:ext cx="13601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</a:rPr>
              <a:t>Line of interaction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7CAA6-A89B-4D1C-9FEA-8FBEADE35F3E}"/>
              </a:ext>
            </a:extLst>
          </p:cNvPr>
          <p:cNvSpPr txBox="1"/>
          <p:nvPr/>
        </p:nvSpPr>
        <p:spPr>
          <a:xfrm>
            <a:off x="8677823" y="4619700"/>
            <a:ext cx="11658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</a:rPr>
              <a:t>Line of visibility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1959F2-C28A-442E-AB45-838B74481AFF}"/>
              </a:ext>
            </a:extLst>
          </p:cNvPr>
          <p:cNvSpPr txBox="1"/>
          <p:nvPr/>
        </p:nvSpPr>
        <p:spPr>
          <a:xfrm>
            <a:off x="7924873" y="6030054"/>
            <a:ext cx="1918810" cy="261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rgbClr val="FFFFFF">
                    <a:lumMod val="50000"/>
                  </a:srgbClr>
                </a:solidFill>
                <a:latin typeface="Arial" panose="020B0604020202020204"/>
              </a:rPr>
              <a:t>Line of internal interaction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5C492B-E438-48A1-92A1-AAD107026BDE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5B46C9-0295-4C12-9AB3-54CEB498148F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50F33D-2C19-4361-A38E-706627F15547}"/>
              </a:ext>
            </a:extLst>
          </p:cNvPr>
          <p:cNvSpPr txBox="1"/>
          <p:nvPr/>
        </p:nvSpPr>
        <p:spPr>
          <a:xfrm>
            <a:off x="2119739" y="7433621"/>
            <a:ext cx="12234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Service Blueprint V1</a:t>
            </a:r>
          </a:p>
        </p:txBody>
      </p:sp>
    </p:spTree>
    <p:extLst>
      <p:ext uri="{BB962C8B-B14F-4D97-AF65-F5344CB8AC3E}">
        <p14:creationId xmlns:p14="http://schemas.microsoft.com/office/powerpoint/2010/main" val="4988652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E9386B-B9D4-4DD2-A9A2-BB4405422051}">
  <ds:schemaRefs>
    <ds:schemaRef ds:uri="754fbc98-762c-4a90-9774-edf41ff53b67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45200</TotalTime>
  <Words>154</Words>
  <Application>Microsoft Office PowerPoint</Application>
  <PresentationFormat>Custom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238</cp:revision>
  <dcterms:created xsi:type="dcterms:W3CDTF">2021-02-16T17:30:35Z</dcterms:created>
  <dcterms:modified xsi:type="dcterms:W3CDTF">2021-06-02T19:11:10Z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