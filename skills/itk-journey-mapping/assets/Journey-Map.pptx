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6"/>
  </p:notesMasterIdLst>
  <p:handoutMasterIdLst>
    <p:handoutMasterId r:id="rId7"/>
  </p:handoutMasterIdLst>
  <p:sldIdLst>
    <p:sldId id="355" r:id="rId5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onisha Rahman" initials="MR" lastIdx="46" clrIdx="0">
    <p:extLst>
      <p:ext uri="{19B8F6BF-5375-455C-9EA6-DF929625EA0E}">
        <p15:presenceInfo xmlns:p15="http://schemas.microsoft.com/office/powerpoint/2012/main" userId="S::RAHMANM@MITRE.ORG::6cf91401-9094-4e8f-a695-42ee7077f7e9" providerId="AD"/>
      </p:ext>
    </p:extLst>
  </p:cmAuthor>
  <p:cmAuthor id="2" name="Rachel E Gregorio" initials="REG" lastIdx="9" clrIdx="1">
    <p:extLst>
      <p:ext uri="{19B8F6BF-5375-455C-9EA6-DF929625EA0E}">
        <p15:presenceInfo xmlns:p15="http://schemas.microsoft.com/office/powerpoint/2012/main" userId="S::rgregorio@mitre.org::8bffd36a-0092-49e2-a094-14b10b84ee1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DEFF"/>
    <a:srgbClr val="0B2338"/>
    <a:srgbClr val="005B93"/>
    <a:srgbClr val="0A2237"/>
    <a:srgbClr val="C8DFF4"/>
    <a:srgbClr val="00B0F0"/>
    <a:srgbClr val="C9EAFF"/>
    <a:srgbClr val="FFFFFF"/>
    <a:srgbClr val="E1F6FF"/>
    <a:srgbClr val="E2F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3333" autoAdjust="0"/>
  </p:normalViewPr>
  <p:slideViewPr>
    <p:cSldViewPr snapToGrid="0">
      <p:cViewPr varScale="1">
        <p:scale>
          <a:sx n="56" d="100"/>
          <a:sy n="56" d="100"/>
        </p:scale>
        <p:origin x="1440" y="52"/>
      </p:cViewPr>
      <p:guideLst>
        <p:guide orient="horz" pos="2448"/>
        <p:guide pos="316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51" d="100"/>
          <a:sy n="51" d="100"/>
        </p:scale>
        <p:origin x="2692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5C3CCF0-20A0-4277-B884-FCDC13D421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9C8C52-E96C-4D62-9306-4F2B3D25D33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CFA0B8-05D5-4D03-BED0-5F9DB4E2AD1C}" type="datetimeFigureOut">
              <a:rPr lang="en-US" smtClean="0"/>
              <a:t>6/2/2021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160679-50D1-49D8-B7AD-A9CF1516F28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18EA8-AA11-4184-9321-7F5274B194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B1F5E2-A98F-40FE-8D42-344BEA526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4712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A9B366-79F4-4B62-AF82-2B8B21D70C18}" type="datetimeFigureOut">
              <a:rPr lang="en-US" smtClean="0"/>
              <a:t>6/2/2021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21AF85-23DB-4EF3-AEBB-2F7BA47FD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424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AA8771C1-8CD7-43CD-B3B5-EE573ED1BA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646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5076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36CAA1B-F833-B74D-8E4B-3A6E9372A0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041064" y="269608"/>
            <a:ext cx="1826836" cy="15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520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C30DF5-EA82-804F-B290-E191C0017C5E}"/>
              </a:ext>
            </a:extLst>
          </p:cNvPr>
          <p:cNvSpPr txBox="1"/>
          <p:nvPr/>
        </p:nvSpPr>
        <p:spPr>
          <a:xfrm>
            <a:off x="157176" y="358893"/>
            <a:ext cx="77491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dirty="0">
                <a:solidFill>
                  <a:srgbClr val="00B0F0"/>
                </a:solidFill>
                <a:latin typeface="Trade Gothic LT Pro Bold" panose="020B0803040303020004" pitchFamily="34" charset="0"/>
              </a:rPr>
              <a:t>JOURNEY MAP: </a:t>
            </a:r>
            <a:r>
              <a:rPr lang="en-US" dirty="0">
                <a:solidFill>
                  <a:srgbClr val="0B2338"/>
                </a:solidFill>
                <a:latin typeface="Trade Gothic LT Pro Bold" panose="020B0803040303020004" pitchFamily="34" charset="0"/>
              </a:rPr>
              <a:t>Create a detailed visualization of the process</a:t>
            </a: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rgbClr val="0B2338"/>
              </a:solidFill>
              <a:effectLst/>
              <a:uLnTx/>
              <a:uFillTx/>
              <a:latin typeface="Trade Gothic LT Pro Bold" panose="020B08030403030200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E9591C7-E102-4B6F-9806-298A05C64698}"/>
              </a:ext>
            </a:extLst>
          </p:cNvPr>
          <p:cNvSpPr txBox="1"/>
          <p:nvPr/>
        </p:nvSpPr>
        <p:spPr>
          <a:xfrm>
            <a:off x="6873986" y="2654282"/>
            <a:ext cx="4908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Trade Gothic LT Pro Bold" panose="020B0503040303020004" pitchFamily="34" charset="77"/>
              </a:rPr>
              <a:t>Who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B1012B21-1F42-44EE-A051-6B9894E01C31}"/>
              </a:ext>
            </a:extLst>
          </p:cNvPr>
          <p:cNvSpPr/>
          <p:nvPr/>
        </p:nvSpPr>
        <p:spPr>
          <a:xfrm>
            <a:off x="190478" y="841455"/>
            <a:ext cx="9677400" cy="6420582"/>
          </a:xfrm>
          <a:prstGeom prst="rect">
            <a:avLst/>
          </a:prstGeom>
          <a:noFill/>
          <a:ln w="1905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8F7B390-F19E-430E-A0E2-98BB9EB8C2A3}"/>
              </a:ext>
            </a:extLst>
          </p:cNvPr>
          <p:cNvSpPr/>
          <p:nvPr/>
        </p:nvSpPr>
        <p:spPr>
          <a:xfrm>
            <a:off x="400100" y="938194"/>
            <a:ext cx="2042760" cy="17384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Graphic 32" descr="User with solid fill">
            <a:extLst>
              <a:ext uri="{FF2B5EF4-FFF2-40B4-BE49-F238E27FC236}">
                <a16:creationId xmlns:a16="http://schemas.microsoft.com/office/drawing/2014/main" id="{C455BD58-4346-4E59-9784-55F4350F71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8829" y="1237633"/>
            <a:ext cx="1353630" cy="1274297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322B716F-3F0E-4DA3-B52B-C20E627E174D}"/>
              </a:ext>
            </a:extLst>
          </p:cNvPr>
          <p:cNvSpPr/>
          <p:nvPr/>
        </p:nvSpPr>
        <p:spPr>
          <a:xfrm>
            <a:off x="400100" y="2840442"/>
            <a:ext cx="2042760" cy="4244622"/>
          </a:xfrm>
          <a:prstGeom prst="rect">
            <a:avLst/>
          </a:prstGeom>
          <a:ln w="9525">
            <a:solidFill>
              <a:srgbClr val="7E82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B1A0960-9D2C-4936-9CAC-444809AA33B1}"/>
              </a:ext>
            </a:extLst>
          </p:cNvPr>
          <p:cNvSpPr/>
          <p:nvPr/>
        </p:nvSpPr>
        <p:spPr>
          <a:xfrm>
            <a:off x="400103" y="2840442"/>
            <a:ext cx="2042757" cy="372658"/>
          </a:xfrm>
          <a:prstGeom prst="rect">
            <a:avLst/>
          </a:prstGeom>
          <a:solidFill>
            <a:srgbClr val="0B2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latin typeface="Trade Gothic LT Pro Bold" panose="020B0803040303020004" pitchFamily="34" charset="0"/>
              </a:rPr>
              <a:t>Name of persona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432A3A5-591A-4372-A89C-C920DC8E5252}"/>
              </a:ext>
            </a:extLst>
          </p:cNvPr>
          <p:cNvSpPr txBox="1"/>
          <p:nvPr/>
        </p:nvSpPr>
        <p:spPr>
          <a:xfrm>
            <a:off x="400100" y="3285646"/>
            <a:ext cx="19935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000000"/>
                </a:solidFill>
                <a:latin typeface="Trade Gothic LT Pro Bold" panose="020B0503040303020004"/>
              </a:rPr>
              <a:t>Role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ade Gothic LT Pro Bold" panose="020B0503040303020004"/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58B1577-23DB-44E4-96B9-F7573123CC96}"/>
              </a:ext>
            </a:extLst>
          </p:cNvPr>
          <p:cNvSpPr txBox="1"/>
          <p:nvPr/>
        </p:nvSpPr>
        <p:spPr>
          <a:xfrm>
            <a:off x="419054" y="4265875"/>
            <a:ext cx="19935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000000"/>
                </a:solidFill>
                <a:latin typeface="Trade Gothic LT Pro Bold" panose="020B0503040303020004"/>
              </a:rPr>
              <a:t>Responsibilities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ade Gothic LT Pro Bold" panose="020B0503040303020004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D33B774-98DB-4696-8F94-518A1900DECB}"/>
              </a:ext>
            </a:extLst>
          </p:cNvPr>
          <p:cNvSpPr txBox="1"/>
          <p:nvPr/>
        </p:nvSpPr>
        <p:spPr>
          <a:xfrm>
            <a:off x="400100" y="5385369"/>
            <a:ext cx="19935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000000"/>
                </a:solidFill>
                <a:latin typeface="Trade Gothic LT Pro Bold" panose="020B0503040303020004"/>
              </a:rPr>
              <a:t>Goals/critical tasks: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ade Gothic LT Pro Bold" panose="020B0503040303020004"/>
              <a:ea typeface="+mn-ea"/>
              <a:cs typeface="+mn-cs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4D28A89-9D69-4631-9D91-C4EF4CEF04C4}"/>
              </a:ext>
            </a:extLst>
          </p:cNvPr>
          <p:cNvSpPr/>
          <p:nvPr/>
        </p:nvSpPr>
        <p:spPr>
          <a:xfrm>
            <a:off x="2934490" y="1341818"/>
            <a:ext cx="2206467" cy="1414382"/>
          </a:xfrm>
          <a:prstGeom prst="rect">
            <a:avLst/>
          </a:prstGeom>
          <a:solidFill>
            <a:srgbClr val="C8DFF4"/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BCB3397-27BF-4802-867D-6ACDFD29F5AF}"/>
              </a:ext>
            </a:extLst>
          </p:cNvPr>
          <p:cNvSpPr/>
          <p:nvPr/>
        </p:nvSpPr>
        <p:spPr>
          <a:xfrm rot="16200000">
            <a:off x="2006606" y="1882997"/>
            <a:ext cx="1417320" cy="332021"/>
          </a:xfrm>
          <a:prstGeom prst="rect">
            <a:avLst/>
          </a:prstGeom>
          <a:solidFill>
            <a:srgbClr val="4554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Trade Gothic LT Pro Bold" panose="020B0803040303020004" pitchFamily="34" charset="0"/>
              </a:rPr>
              <a:t>Actions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FAD4171-A6D6-4FC7-8E27-31C34EDF8483}"/>
              </a:ext>
            </a:extLst>
          </p:cNvPr>
          <p:cNvSpPr/>
          <p:nvPr/>
        </p:nvSpPr>
        <p:spPr>
          <a:xfrm rot="16200000">
            <a:off x="2315304" y="4675617"/>
            <a:ext cx="797084" cy="329184"/>
          </a:xfrm>
          <a:prstGeom prst="rect">
            <a:avLst/>
          </a:prstGeom>
          <a:solidFill>
            <a:srgbClr val="4554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Trade Gothic LT Pro Bold" panose="020B0803040303020004" pitchFamily="34" charset="0"/>
              </a:rPr>
              <a:t>Wins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FC6091F-8A50-4CD1-B22F-A31AB1A45D15}"/>
              </a:ext>
            </a:extLst>
          </p:cNvPr>
          <p:cNvSpPr/>
          <p:nvPr/>
        </p:nvSpPr>
        <p:spPr>
          <a:xfrm rot="16200000">
            <a:off x="1936959" y="3435076"/>
            <a:ext cx="1553774" cy="329184"/>
          </a:xfrm>
          <a:prstGeom prst="rect">
            <a:avLst/>
          </a:prstGeom>
          <a:solidFill>
            <a:srgbClr val="4554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Trade Gothic LT Pro Bold" panose="020B0803040303020004" pitchFamily="34" charset="0"/>
              </a:rPr>
              <a:t>Questions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10D478B-47D6-4386-8640-BE5E48F7A0B5}"/>
              </a:ext>
            </a:extLst>
          </p:cNvPr>
          <p:cNvSpPr/>
          <p:nvPr/>
        </p:nvSpPr>
        <p:spPr>
          <a:xfrm rot="16200000">
            <a:off x="2370467" y="5382384"/>
            <a:ext cx="686759" cy="329184"/>
          </a:xfrm>
          <a:prstGeom prst="rect">
            <a:avLst/>
          </a:prstGeom>
          <a:solidFill>
            <a:srgbClr val="4554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Trade Gothic LT Pro Bold" panose="020B0803040303020004" pitchFamily="34" charset="0"/>
              </a:rPr>
              <a:t>Pains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57CDB94-65C1-45A9-9935-E2CFB25D39FB}"/>
              </a:ext>
            </a:extLst>
          </p:cNvPr>
          <p:cNvSpPr/>
          <p:nvPr/>
        </p:nvSpPr>
        <p:spPr>
          <a:xfrm rot="16200000">
            <a:off x="2115724" y="6323884"/>
            <a:ext cx="1196245" cy="329184"/>
          </a:xfrm>
          <a:prstGeom prst="rect">
            <a:avLst/>
          </a:prstGeom>
          <a:solidFill>
            <a:srgbClr val="4554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Trade Gothic LT Pro Bold" panose="020B0803040303020004" pitchFamily="34" charset="0"/>
              </a:rPr>
              <a:t>Opportunities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7B39F35-C686-46BF-B689-33E160A08B81}"/>
              </a:ext>
            </a:extLst>
          </p:cNvPr>
          <p:cNvSpPr/>
          <p:nvPr/>
        </p:nvSpPr>
        <p:spPr>
          <a:xfrm>
            <a:off x="2934490" y="958538"/>
            <a:ext cx="2194560" cy="329184"/>
          </a:xfrm>
          <a:prstGeom prst="rect">
            <a:avLst/>
          </a:prstGeom>
          <a:solidFill>
            <a:srgbClr val="0B2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latin typeface="Trade Gothic LT Pro Bold" panose="020B0803040303020004" pitchFamily="34" charset="0"/>
              </a:rPr>
              <a:t> Phase 1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77ABCDA-AD22-41E1-8200-8CE9B6AFE09C}"/>
              </a:ext>
            </a:extLst>
          </p:cNvPr>
          <p:cNvSpPr/>
          <p:nvPr/>
        </p:nvSpPr>
        <p:spPr>
          <a:xfrm>
            <a:off x="5205070" y="958538"/>
            <a:ext cx="2194560" cy="329184"/>
          </a:xfrm>
          <a:prstGeom prst="rect">
            <a:avLst/>
          </a:prstGeom>
          <a:solidFill>
            <a:srgbClr val="005B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latin typeface="Trade Gothic LT Pro Bold" panose="020B0803040303020004" pitchFamily="34" charset="0"/>
              </a:rPr>
              <a:t> Phase 2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8423187-693D-455F-837A-6E86BC0B3647}"/>
              </a:ext>
            </a:extLst>
          </p:cNvPr>
          <p:cNvSpPr/>
          <p:nvPr/>
        </p:nvSpPr>
        <p:spPr>
          <a:xfrm>
            <a:off x="7487556" y="954042"/>
            <a:ext cx="2194560" cy="329184"/>
          </a:xfrm>
          <a:prstGeom prst="rect">
            <a:avLst/>
          </a:prstGeom>
          <a:solidFill>
            <a:srgbClr val="87D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2"/>
                </a:solidFill>
                <a:latin typeface="Trade Gothic LT Pro Bold" panose="020B0803040303020004" pitchFamily="34" charset="0"/>
              </a:rPr>
              <a:t> Phase 3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4A54CFE-F02F-4916-80D1-1E0A4CE67D91}"/>
              </a:ext>
            </a:extLst>
          </p:cNvPr>
          <p:cNvSpPr/>
          <p:nvPr/>
        </p:nvSpPr>
        <p:spPr>
          <a:xfrm>
            <a:off x="2934490" y="2822780"/>
            <a:ext cx="2194559" cy="1553775"/>
          </a:xfrm>
          <a:prstGeom prst="rect">
            <a:avLst/>
          </a:prstGeom>
          <a:solidFill>
            <a:srgbClr val="C8DFF4"/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D041C1F-BBDB-4896-A4EC-43BECEB57619}"/>
              </a:ext>
            </a:extLst>
          </p:cNvPr>
          <p:cNvSpPr/>
          <p:nvPr/>
        </p:nvSpPr>
        <p:spPr>
          <a:xfrm>
            <a:off x="2934490" y="4443135"/>
            <a:ext cx="2194560" cy="2643464"/>
          </a:xfrm>
          <a:prstGeom prst="rect">
            <a:avLst/>
          </a:prstGeom>
          <a:solidFill>
            <a:srgbClr val="C8DFF4"/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3F054F8E-A42F-4D7F-BEB3-BC0EC98823E2}"/>
              </a:ext>
            </a:extLst>
          </p:cNvPr>
          <p:cNvSpPr/>
          <p:nvPr/>
        </p:nvSpPr>
        <p:spPr>
          <a:xfrm>
            <a:off x="5205070" y="1341817"/>
            <a:ext cx="2206467" cy="1414382"/>
          </a:xfrm>
          <a:prstGeom prst="rect">
            <a:avLst/>
          </a:prstGeom>
          <a:solidFill>
            <a:srgbClr val="C9EAFF"/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410253E-E877-4868-9E3E-7FBF59FB762E}"/>
              </a:ext>
            </a:extLst>
          </p:cNvPr>
          <p:cNvSpPr/>
          <p:nvPr/>
        </p:nvSpPr>
        <p:spPr>
          <a:xfrm>
            <a:off x="5205070" y="2828296"/>
            <a:ext cx="2194559" cy="1553775"/>
          </a:xfrm>
          <a:prstGeom prst="rect">
            <a:avLst/>
          </a:prstGeom>
          <a:solidFill>
            <a:srgbClr val="C9EAFF"/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0EC6C0A-737B-4B15-A587-2A9121ED79F9}"/>
              </a:ext>
            </a:extLst>
          </p:cNvPr>
          <p:cNvSpPr/>
          <p:nvPr/>
        </p:nvSpPr>
        <p:spPr>
          <a:xfrm>
            <a:off x="5205070" y="4441600"/>
            <a:ext cx="2194560" cy="2643464"/>
          </a:xfrm>
          <a:prstGeom prst="rect">
            <a:avLst/>
          </a:prstGeom>
          <a:solidFill>
            <a:srgbClr val="C9EAFF"/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A16E0D0-3DDA-4B39-BF56-B28D3EBC777E}"/>
              </a:ext>
            </a:extLst>
          </p:cNvPr>
          <p:cNvSpPr/>
          <p:nvPr/>
        </p:nvSpPr>
        <p:spPr>
          <a:xfrm>
            <a:off x="7487557" y="1341817"/>
            <a:ext cx="2206467" cy="1414382"/>
          </a:xfrm>
          <a:prstGeom prst="rect">
            <a:avLst/>
          </a:prstGeom>
          <a:solidFill>
            <a:srgbClr val="E1F6FF"/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03F451C9-E919-44B9-96E2-14936A9B3B52}"/>
              </a:ext>
            </a:extLst>
          </p:cNvPr>
          <p:cNvSpPr/>
          <p:nvPr/>
        </p:nvSpPr>
        <p:spPr>
          <a:xfrm>
            <a:off x="7487557" y="2828296"/>
            <a:ext cx="2194559" cy="1553775"/>
          </a:xfrm>
          <a:prstGeom prst="rect">
            <a:avLst/>
          </a:prstGeom>
          <a:solidFill>
            <a:srgbClr val="E1F6FF"/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21E2AE2-24C1-464A-8CC2-485DB6A7DE2D}"/>
              </a:ext>
            </a:extLst>
          </p:cNvPr>
          <p:cNvSpPr/>
          <p:nvPr/>
        </p:nvSpPr>
        <p:spPr>
          <a:xfrm>
            <a:off x="7487557" y="4441600"/>
            <a:ext cx="2194560" cy="2643464"/>
          </a:xfrm>
          <a:prstGeom prst="rect">
            <a:avLst/>
          </a:prstGeom>
          <a:solidFill>
            <a:srgbClr val="E1F6FF"/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B262279-A67A-43D9-B8C8-30200519094A}"/>
              </a:ext>
            </a:extLst>
          </p:cNvPr>
          <p:cNvSpPr txBox="1"/>
          <p:nvPr/>
        </p:nvSpPr>
        <p:spPr>
          <a:xfrm>
            <a:off x="106162" y="7423572"/>
            <a:ext cx="15696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err="1">
                <a:latin typeface="Trade Gothic LT Pro" panose="020B0503040303020004" pitchFamily="34" charset="77"/>
                <a:cs typeface="Arial" panose="020B0604020202020204" pitchFamily="34" charset="0"/>
              </a:rPr>
              <a:t>itk.mitre.org</a:t>
            </a:r>
            <a:r>
              <a:rPr lang="en-US" sz="900" dirty="0">
                <a:latin typeface="Trade Gothic LT Pro" panose="020B0503040303020004" pitchFamily="34" charset="77"/>
                <a:cs typeface="Arial" panose="020B0604020202020204" pitchFamily="34" charset="0"/>
              </a:rPr>
              <a:t> | </a:t>
            </a:r>
            <a:r>
              <a:rPr lang="en-US" sz="900" dirty="0" err="1">
                <a:latin typeface="Trade Gothic LT Pro" panose="020B0503040303020004" pitchFamily="34" charset="77"/>
                <a:cs typeface="Arial" panose="020B0604020202020204" pitchFamily="34" charset="0"/>
              </a:rPr>
              <a:t>itk@mitre.org</a:t>
            </a:r>
            <a:endParaRPr lang="en-US" sz="900" dirty="0">
              <a:latin typeface="Trade Gothic LT Pro" panose="020B0503040303020004" pitchFamily="34" charset="77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04ABAB7-284D-4EA8-BD9B-37295588BCCA}"/>
              </a:ext>
            </a:extLst>
          </p:cNvPr>
          <p:cNvSpPr txBox="1"/>
          <p:nvPr/>
        </p:nvSpPr>
        <p:spPr>
          <a:xfrm>
            <a:off x="3720705" y="7433621"/>
            <a:ext cx="58336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sz="900" dirty="0">
                <a:latin typeface="Trade Gothic LT Pro" panose="020B0503040303020004" pitchFamily="34" charset="77"/>
                <a:cs typeface="Arial" panose="020B0604020202020204" pitchFamily="34" charset="0"/>
              </a:rPr>
              <a:t>© 2021 The MITRE Corporation. All rights reserved. Approved for public release. Distribution unlimited PR_20-01469-11.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4E3966-F791-4C82-9E1D-BF6D127BBE14}"/>
              </a:ext>
            </a:extLst>
          </p:cNvPr>
          <p:cNvSpPr txBox="1"/>
          <p:nvPr/>
        </p:nvSpPr>
        <p:spPr>
          <a:xfrm>
            <a:off x="2235155" y="7433621"/>
            <a:ext cx="992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latin typeface="Trade Gothic LT Pro" panose="020B0503040303020004" pitchFamily="34" charset="77"/>
                <a:cs typeface="Arial" panose="020B0604020202020204" pitchFamily="34" charset="0"/>
              </a:rPr>
              <a:t>Journey Map V1</a:t>
            </a:r>
          </a:p>
        </p:txBody>
      </p:sp>
    </p:spTree>
    <p:extLst>
      <p:ext uri="{BB962C8B-B14F-4D97-AF65-F5344CB8AC3E}">
        <p14:creationId xmlns:p14="http://schemas.microsoft.com/office/powerpoint/2010/main" val="126778052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2">
      <a:dk1>
        <a:srgbClr val="000000"/>
      </a:dk1>
      <a:lt1>
        <a:srgbClr val="FFFFFF"/>
      </a:lt1>
      <a:dk2>
        <a:srgbClr val="0B2338"/>
      </a:dk2>
      <a:lt2>
        <a:srgbClr val="E7E6E6"/>
      </a:lt2>
      <a:accent1>
        <a:srgbClr val="E51D3E"/>
      </a:accent1>
      <a:accent2>
        <a:srgbClr val="ED7D31"/>
      </a:accent2>
      <a:accent3>
        <a:srgbClr val="78C044"/>
      </a:accent3>
      <a:accent4>
        <a:srgbClr val="0DA8D9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94E99C172A24489941E5861361F779" ma:contentTypeVersion="8" ma:contentTypeDescription="Create a new document." ma:contentTypeScope="" ma:versionID="771431e25d0fe5f94154fb889c3e9476">
  <xsd:schema xmlns:xsd="http://www.w3.org/2001/XMLSchema" xmlns:xs="http://www.w3.org/2001/XMLSchema" xmlns:p="http://schemas.microsoft.com/office/2006/metadata/properties" xmlns:ns2="754fbc98-762c-4a90-9774-edf41ff53b67" targetNamespace="http://schemas.microsoft.com/office/2006/metadata/properties" ma:root="true" ma:fieldsID="aec298c6dc5a8bb722e4e4f30310d181" ns2:_="">
    <xsd:import namespace="754fbc98-762c-4a90-9774-edf41ff53b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4fbc98-762c-4a90-9774-edf41ff53b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516BBB1-1D72-424A-B5A0-2681626E672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F09A9B2-11C0-4F68-986A-02670966B3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54fbc98-762c-4a90-9774-edf41ff53b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7E9386B-B9D4-4DD2-A9A2-BB4405422051}">
  <ds:schemaRefs>
    <ds:schemaRef ds:uri="754fbc98-762c-4a90-9774-edf41ff53b67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45203</TotalTime>
  <Words>70</Words>
  <Application>Microsoft Office PowerPoint</Application>
  <PresentationFormat>Custom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Trade Gothic LT Pro</vt:lpstr>
      <vt:lpstr>Trade Gothic LT Pro Bold</vt:lpstr>
      <vt:lpstr>1_Office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ITK Worksheet Updates</dc:title>
  <dc:creator>Moonisha Rahman</dc:creator>
  <cp:lastModifiedBy>Moonisha Rahman</cp:lastModifiedBy>
  <cp:revision>238</cp:revision>
  <dcterms:created xsi:type="dcterms:W3CDTF">2021-02-16T17:30:35Z</dcterms:created>
  <dcterms:modified xsi:type="dcterms:W3CDTF">2021-06-02T19:13:23Z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0x0101009894E99C172A24489941E5861361F779</vt:lpwstr>
  </property>
</Properties>
</file>