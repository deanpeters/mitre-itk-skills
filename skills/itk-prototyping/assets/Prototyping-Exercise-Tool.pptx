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7"/>
  </p:notesMasterIdLst>
  <p:handoutMasterIdLst>
    <p:handoutMasterId r:id="rId8"/>
  </p:handoutMasterIdLst>
  <p:sldIdLst>
    <p:sldId id="359" r:id="rId5"/>
    <p:sldId id="361" r:id="rId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795D89-F054-4727-85E1-942E25A0F660}">
          <p14:sldIdLst>
            <p14:sldId id="359"/>
            <p14:sldId id="3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D48A55-E160-7E13-7B26-98D4A271F818}" name="Lilia Chan" initials="LC" userId="S::CHANL@MITRE.ORG::7d4d27d5-43d2-4476-a18e-69c6e255644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6FF"/>
    <a:srgbClr val="005B93"/>
    <a:srgbClr val="0B2338"/>
    <a:srgbClr val="C8DFF4"/>
    <a:srgbClr val="C9EAFF"/>
    <a:srgbClr val="87DEFF"/>
    <a:srgbClr val="0A2237"/>
    <a:srgbClr val="00B0F0"/>
    <a:srgbClr val="FFFF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1EDE5-C093-4BEC-A80B-DD79F647544D}" v="1" dt="2024-05-28T19:32:37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19" y="48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Ward" userId="8aa54296-cb89-4640-a2fc-9748899f29bb" providerId="ADAL" clId="{7BE1EDE5-C093-4BEC-A80B-DD79F647544D}"/>
    <pc:docChg chg="custSel modSld">
      <pc:chgData name="Dan Ward" userId="8aa54296-cb89-4640-a2fc-9748899f29bb" providerId="ADAL" clId="{7BE1EDE5-C093-4BEC-A80B-DD79F647544D}" dt="2024-05-28T19:32:37.181" v="16"/>
      <pc:docMkLst>
        <pc:docMk/>
      </pc:docMkLst>
      <pc:sldChg chg="addSp delSp modSp mod">
        <pc:chgData name="Dan Ward" userId="8aa54296-cb89-4640-a2fc-9748899f29bb" providerId="ADAL" clId="{7BE1EDE5-C093-4BEC-A80B-DD79F647544D}" dt="2024-05-28T19:32:29.515" v="14" actId="6549"/>
        <pc:sldMkLst>
          <pc:docMk/>
          <pc:sldMk cId="51808569" sldId="359"/>
        </pc:sldMkLst>
        <pc:spChg chg="add mod">
          <ac:chgData name="Dan Ward" userId="8aa54296-cb89-4640-a2fc-9748899f29bb" providerId="ADAL" clId="{7BE1EDE5-C093-4BEC-A80B-DD79F647544D}" dt="2024-05-28T19:32:29.515" v="14" actId="6549"/>
          <ac:spMkLst>
            <pc:docMk/>
            <pc:sldMk cId="51808569" sldId="359"/>
            <ac:spMk id="11" creationId="{AC55A231-2111-82FA-D05E-8F8B9DEE73D7}"/>
          </ac:spMkLst>
        </pc:spChg>
        <pc:spChg chg="del">
          <ac:chgData name="Dan Ward" userId="8aa54296-cb89-4640-a2fc-9748899f29bb" providerId="ADAL" clId="{7BE1EDE5-C093-4BEC-A80B-DD79F647544D}" dt="2024-05-28T19:32:13.546" v="9" actId="478"/>
          <ac:spMkLst>
            <pc:docMk/>
            <pc:sldMk cId="51808569" sldId="359"/>
            <ac:spMk id="27" creationId="{1045A4B5-EC1D-41D8-B670-C91082D04453}"/>
          </ac:spMkLst>
        </pc:spChg>
      </pc:sldChg>
      <pc:sldChg chg="addSp delSp modSp mod">
        <pc:chgData name="Dan Ward" userId="8aa54296-cb89-4640-a2fc-9748899f29bb" providerId="ADAL" clId="{7BE1EDE5-C093-4BEC-A80B-DD79F647544D}" dt="2024-05-28T19:32:37.181" v="16"/>
        <pc:sldMkLst>
          <pc:docMk/>
          <pc:sldMk cId="3648824396" sldId="361"/>
        </pc:sldMkLst>
        <pc:spChg chg="add mod">
          <ac:chgData name="Dan Ward" userId="8aa54296-cb89-4640-a2fc-9748899f29bb" providerId="ADAL" clId="{7BE1EDE5-C093-4BEC-A80B-DD79F647544D}" dt="2024-05-28T19:32:37.181" v="16"/>
          <ac:spMkLst>
            <pc:docMk/>
            <pc:sldMk cId="3648824396" sldId="361"/>
            <ac:spMk id="6" creationId="{ADF8571F-3AF9-99FC-F36D-1D08BC6D195C}"/>
          </ac:spMkLst>
        </pc:spChg>
        <pc:spChg chg="del">
          <ac:chgData name="Dan Ward" userId="8aa54296-cb89-4640-a2fc-9748899f29bb" providerId="ADAL" clId="{7BE1EDE5-C093-4BEC-A80B-DD79F647544D}" dt="2024-05-28T19:32:36.332" v="15" actId="478"/>
          <ac:spMkLst>
            <pc:docMk/>
            <pc:sldMk cId="3648824396" sldId="361"/>
            <ac:spMk id="27" creationId="{1045A4B5-EC1D-41D8-B670-C91082D0445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Fix size</a:t>
            </a:r>
          </a:p>
          <a:p>
            <a:pPr marL="171450" indent="-171450">
              <a:buFontTx/>
              <a:buChar char="-"/>
            </a:pPr>
            <a:r>
              <a:rPr lang="en-US"/>
              <a:t>Redownload text files </a:t>
            </a:r>
          </a:p>
          <a:p>
            <a:pPr marL="171450" indent="-171450">
              <a:buFontTx/>
              <a:buChar char="-"/>
            </a:pPr>
            <a:r>
              <a:rPr lang="en-US"/>
              <a:t>Ask Jen if all the worksheets on the ITK site are up to date (and which ones to avoid while they are being updated) </a:t>
            </a:r>
          </a:p>
          <a:p>
            <a:pPr marL="628650" lvl="1" indent="-171450">
              <a:buFontTx/>
              <a:buChar char="-"/>
            </a:pPr>
            <a:r>
              <a:rPr lang="en-US"/>
              <a:t>Rose bud thorn</a:t>
            </a:r>
          </a:p>
          <a:p>
            <a:pPr marL="628650" lvl="1" indent="-171450">
              <a:buFontTx/>
              <a:buChar char="-"/>
            </a:pPr>
            <a:r>
              <a:rPr lang="en-US"/>
              <a:t>Value prop</a:t>
            </a:r>
          </a:p>
          <a:p>
            <a:pPr marL="628650" lvl="1" indent="-171450">
              <a:buFontTx/>
              <a:buChar char="-"/>
            </a:pPr>
            <a:r>
              <a:rPr lang="en-US"/>
              <a:t>Mission 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21AF85-23DB-4EF3-AEBB-2F7BA47FDD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20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Fix size</a:t>
            </a:r>
          </a:p>
          <a:p>
            <a:pPr marL="171450" indent="-171450">
              <a:buFontTx/>
              <a:buChar char="-"/>
            </a:pPr>
            <a:r>
              <a:rPr lang="en-US"/>
              <a:t>Redownload text files </a:t>
            </a:r>
          </a:p>
          <a:p>
            <a:pPr marL="171450" indent="-171450">
              <a:buFontTx/>
              <a:buChar char="-"/>
            </a:pPr>
            <a:r>
              <a:rPr lang="en-US"/>
              <a:t>Ask Jen if all the worksheets on the ITK site are up to date (and which ones to avoid while they are being updated) </a:t>
            </a:r>
          </a:p>
          <a:p>
            <a:pPr marL="628650" lvl="1" indent="-171450">
              <a:buFontTx/>
              <a:buChar char="-"/>
            </a:pPr>
            <a:r>
              <a:rPr lang="en-US"/>
              <a:t>Rose bud thorn</a:t>
            </a:r>
          </a:p>
          <a:p>
            <a:pPr marL="628650" lvl="1" indent="-171450">
              <a:buFontTx/>
              <a:buChar char="-"/>
            </a:pPr>
            <a:r>
              <a:rPr lang="en-US"/>
              <a:t>Value prop</a:t>
            </a:r>
          </a:p>
          <a:p>
            <a:pPr marL="628650" lvl="1" indent="-171450">
              <a:buFontTx/>
              <a:buChar char="-"/>
            </a:pPr>
            <a:r>
              <a:rPr lang="en-US"/>
              <a:t>Mission 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21AF85-23DB-4EF3-AEBB-2F7BA47FDD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71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tk.mitre.org/toolkit-tools/bodystorming/" TargetMode="Externa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CB3A23-AE82-49B3-9801-194261EE679A}"/>
              </a:ext>
            </a:extLst>
          </p:cNvPr>
          <p:cNvCxnSpPr>
            <a:cxnSpLocks/>
          </p:cNvCxnSpPr>
          <p:nvPr/>
        </p:nvCxnSpPr>
        <p:spPr>
          <a:xfrm>
            <a:off x="3445242" y="1255293"/>
            <a:ext cx="0" cy="611551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65749" y="134602"/>
            <a:ext cx="840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PROTOTYPING: </a:t>
            </a:r>
            <a:r>
              <a:rPr lang="en-US">
                <a:solidFill>
                  <a:srgbClr val="0B2338"/>
                </a:solidFill>
                <a:latin typeface="Trade Gothic LT Pro Bold" panose="020B0803040303020004" pitchFamily="34" charset="0"/>
              </a:rPr>
              <a:t>Test assumptions and hypotheses with simple designs (pg.1)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  <a:ea typeface="+mn-ea"/>
              <a:cs typeface="+mn-cs"/>
            </a:endParaRPr>
          </a:p>
        </p:txBody>
      </p:sp>
      <p:pic>
        <p:nvPicPr>
          <p:cNvPr id="8" name="Graphic 7" descr="Rose with solid fill">
            <a:extLst>
              <a:ext uri="{FF2B5EF4-FFF2-40B4-BE49-F238E27FC236}">
                <a16:creationId xmlns:a16="http://schemas.microsoft.com/office/drawing/2014/main" id="{60D1572E-4D16-4611-9345-635756FC7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618" y="6729088"/>
            <a:ext cx="521208" cy="52120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F0468C5-9704-479C-B19D-7A2DBF47E1C5}"/>
              </a:ext>
            </a:extLst>
          </p:cNvPr>
          <p:cNvSpPr/>
          <p:nvPr/>
        </p:nvSpPr>
        <p:spPr>
          <a:xfrm>
            <a:off x="214692" y="1255293"/>
            <a:ext cx="3232425" cy="365760"/>
          </a:xfrm>
          <a:prstGeom prst="rect">
            <a:avLst/>
          </a:prstGeom>
          <a:solidFill>
            <a:srgbClr val="0B2338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List requirements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D89B1-EB91-4ACA-9143-6DB37DE2750B}"/>
              </a:ext>
            </a:extLst>
          </p:cNvPr>
          <p:cNvSpPr/>
          <p:nvPr/>
        </p:nvSpPr>
        <p:spPr>
          <a:xfrm>
            <a:off x="3447117" y="1254210"/>
            <a:ext cx="6420807" cy="365760"/>
          </a:xfrm>
          <a:prstGeom prst="rect">
            <a:avLst/>
          </a:prstGeom>
          <a:solidFill>
            <a:srgbClr val="005B93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Sketch mind map</a:t>
            </a:r>
            <a:endParaRPr lang="en-US" sz="1400" dirty="0">
              <a:latin typeface="Trade Gothic LT Pro Bold" panose="020B08030403030200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BC1658-0752-4408-9592-72FC5324D52C}"/>
              </a:ext>
            </a:extLst>
          </p:cNvPr>
          <p:cNvSpPr/>
          <p:nvPr/>
        </p:nvSpPr>
        <p:spPr>
          <a:xfrm flipV="1">
            <a:off x="3490468" y="2188308"/>
            <a:ext cx="6301232" cy="65328"/>
          </a:xfrm>
          <a:prstGeom prst="rect">
            <a:avLst/>
          </a:prstGeom>
          <a:solidFill>
            <a:srgbClr val="E1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E518E2-2B07-4934-8F75-0CB8568C699E}"/>
              </a:ext>
            </a:extLst>
          </p:cNvPr>
          <p:cNvSpPr txBox="1"/>
          <p:nvPr/>
        </p:nvSpPr>
        <p:spPr>
          <a:xfrm>
            <a:off x="247044" y="1655829"/>
            <a:ext cx="3175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latin typeface="Trade Gothic LT Pro" panose="020B0503040303020004"/>
              </a:rPr>
              <a:t>What does my product need to achieve?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75779F-8071-4133-832D-2C4848BABBC3}"/>
              </a:ext>
            </a:extLst>
          </p:cNvPr>
          <p:cNvSpPr/>
          <p:nvPr/>
        </p:nvSpPr>
        <p:spPr>
          <a:xfrm>
            <a:off x="208918" y="1255293"/>
            <a:ext cx="9659005" cy="6102437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49F5D4-7EF9-4272-9F3A-0B1FBF2C9969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06C82E-C4EA-45BE-B4A6-68D1A5F2DC95}"/>
              </a:ext>
            </a:extLst>
          </p:cNvPr>
          <p:cNvSpPr txBox="1"/>
          <p:nvPr/>
        </p:nvSpPr>
        <p:spPr>
          <a:xfrm>
            <a:off x="2287255" y="7433621"/>
            <a:ext cx="8883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Prototyping V2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003A4-761D-F2FB-B814-94E7AE0C1C1E}"/>
              </a:ext>
            </a:extLst>
          </p:cNvPr>
          <p:cNvSpPr txBox="1"/>
          <p:nvPr/>
        </p:nvSpPr>
        <p:spPr>
          <a:xfrm>
            <a:off x="2451584" y="631043"/>
            <a:ext cx="4746749" cy="52322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0B2338"/>
                </a:solidFill>
                <a:latin typeface="Trade Gothic LT Pro Bold" panose="020B0803040303020004" pitchFamily="34" charset="0"/>
              </a:rPr>
              <a:t>How might we ______________________________________</a:t>
            </a:r>
          </a:p>
          <a:p>
            <a:r>
              <a:rPr lang="en-US" sz="1400" b="1">
                <a:solidFill>
                  <a:srgbClr val="0B2338"/>
                </a:solidFill>
                <a:latin typeface="Trade Gothic LT Pro Bold" panose="020B0803040303020004" pitchFamily="34" charset="0"/>
              </a:rPr>
              <a:t>            so that ______________________________________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9EC41A-FCD9-AA85-D134-5EB7508DD143}"/>
              </a:ext>
            </a:extLst>
          </p:cNvPr>
          <p:cNvSpPr/>
          <p:nvPr/>
        </p:nvSpPr>
        <p:spPr>
          <a:xfrm>
            <a:off x="212291" y="4804283"/>
            <a:ext cx="3225850" cy="365760"/>
          </a:xfrm>
          <a:prstGeom prst="rect">
            <a:avLst/>
          </a:prstGeom>
          <a:solidFill>
            <a:srgbClr val="0B2338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Trade Gothic LT Pro Bold" panose="020B0803040303020004" pitchFamily="34" charset="0"/>
              </a:rPr>
              <a:t>Create v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ision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 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EEA54-CDDF-3667-55BB-57376DA4E94B}"/>
              </a:ext>
            </a:extLst>
          </p:cNvPr>
          <p:cNvSpPr txBox="1"/>
          <p:nvPr/>
        </p:nvSpPr>
        <p:spPr>
          <a:xfrm>
            <a:off x="223812" y="5235885"/>
            <a:ext cx="31758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Trade Gothic LT Pro" panose="020B0503040303020004"/>
              </a:rPr>
              <a:t>What are current solutions to above requirements? What makes them not work for our case? Can an existing design be used in a way that hasn’t been implemented before? (Be aware of patented technology!)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674D6-ADD3-EF34-E775-18D8D6C99B0B}"/>
              </a:ext>
            </a:extLst>
          </p:cNvPr>
          <p:cNvSpPr txBox="1"/>
          <p:nvPr/>
        </p:nvSpPr>
        <p:spPr>
          <a:xfrm>
            <a:off x="3490468" y="1674789"/>
            <a:ext cx="5975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latin typeface="Trade Gothic LT Pro" panose="020B0503040303020004"/>
              </a:rPr>
              <a:t>What are ideas of features that could achieve our requirements?</a:t>
            </a:r>
          </a:p>
          <a:p>
            <a:r>
              <a:rPr lang="en-US" sz="1200" i="1">
                <a:latin typeface="Trade Gothic LT Pro" panose="020B0503040303020004"/>
              </a:rPr>
              <a:t>For each idea expand another level – what are different ways of approaching that feature?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6EFBB-A5C9-E85C-B312-4261CAAEAC63}"/>
              </a:ext>
            </a:extLst>
          </p:cNvPr>
          <p:cNvSpPr/>
          <p:nvPr/>
        </p:nvSpPr>
        <p:spPr>
          <a:xfrm rot="10800000" flipV="1">
            <a:off x="3854263" y="2362372"/>
            <a:ext cx="1174937" cy="327081"/>
          </a:xfrm>
          <a:prstGeom prst="rect">
            <a:avLst/>
          </a:prstGeom>
          <a:solidFill>
            <a:srgbClr val="E1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B2338"/>
                </a:solidFill>
              </a:rPr>
              <a:t>Looks Like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A9BE9-7D8E-2079-61EC-1CDA8A3EA1EA}"/>
              </a:ext>
            </a:extLst>
          </p:cNvPr>
          <p:cNvSpPr/>
          <p:nvPr/>
        </p:nvSpPr>
        <p:spPr>
          <a:xfrm rot="10800000" flipV="1">
            <a:off x="7978909" y="2365540"/>
            <a:ext cx="1174937" cy="327081"/>
          </a:xfrm>
          <a:prstGeom prst="rect">
            <a:avLst/>
          </a:prstGeom>
          <a:solidFill>
            <a:srgbClr val="E1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B2338"/>
                </a:solidFill>
              </a:rPr>
              <a:t>Works Like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55A231-2111-82FA-D05E-8F8B9DEE73D7}"/>
              </a:ext>
            </a:extLst>
          </p:cNvPr>
          <p:cNvSpPr txBox="1"/>
          <p:nvPr/>
        </p:nvSpPr>
        <p:spPr>
          <a:xfrm>
            <a:off x="3537177" y="737229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©2024 The MITRE Corporation. ALL RIGHTS RESERVED</a:t>
            </a:r>
            <a:br>
              <a:rPr lang="en-US" sz="900" dirty="0"/>
            </a:br>
            <a:r>
              <a:rPr lang="en-US" sz="9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Approved for public release. Distribution unlimited 23-02570-3.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1808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CB3A23-AE82-49B3-9801-194261EE679A}"/>
              </a:ext>
            </a:extLst>
          </p:cNvPr>
          <p:cNvCxnSpPr>
            <a:cxnSpLocks/>
          </p:cNvCxnSpPr>
          <p:nvPr/>
        </p:nvCxnSpPr>
        <p:spPr>
          <a:xfrm>
            <a:off x="4275014" y="1255293"/>
            <a:ext cx="0" cy="611551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65749" y="134602"/>
            <a:ext cx="840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rade Gothic LT Pro Bold" panose="020B0803040303020004" pitchFamily="34" charset="0"/>
                <a:ea typeface="+mn-ea"/>
                <a:cs typeface="+mn-cs"/>
              </a:rPr>
              <a:t>PROTOTYPING: </a:t>
            </a:r>
            <a:r>
              <a:rPr lang="en-US">
                <a:solidFill>
                  <a:srgbClr val="0B2338"/>
                </a:solidFill>
                <a:latin typeface="Trade Gothic LT Pro Bold" panose="020B0803040303020004" pitchFamily="34" charset="0"/>
              </a:rPr>
              <a:t>Test assumptions and hypotheses with simple designs (pg.2)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  <a:ea typeface="+mn-ea"/>
              <a:cs typeface="+mn-cs"/>
            </a:endParaRPr>
          </a:p>
        </p:txBody>
      </p:sp>
      <p:pic>
        <p:nvPicPr>
          <p:cNvPr id="8" name="Graphic 7" descr="Rose with solid fill">
            <a:extLst>
              <a:ext uri="{FF2B5EF4-FFF2-40B4-BE49-F238E27FC236}">
                <a16:creationId xmlns:a16="http://schemas.microsoft.com/office/drawing/2014/main" id="{60D1572E-4D16-4611-9345-635756FC7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618" y="6729088"/>
            <a:ext cx="521208" cy="52120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7ED89B1-EB91-4ACA-9143-6DB37DE2750B}"/>
              </a:ext>
            </a:extLst>
          </p:cNvPr>
          <p:cNvSpPr/>
          <p:nvPr/>
        </p:nvSpPr>
        <p:spPr>
          <a:xfrm>
            <a:off x="212764" y="1255293"/>
            <a:ext cx="4062250" cy="365759"/>
          </a:xfrm>
          <a:prstGeom prst="rect">
            <a:avLst/>
          </a:prstGeom>
          <a:solidFill>
            <a:srgbClr val="005B93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Combine sketches</a:t>
            </a:r>
            <a:endParaRPr lang="en-US" sz="1400" dirty="0">
              <a:latin typeface="Trade Gothic LT Pro Bold" panose="020B08030403030200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3C666E-19F4-45A9-B888-2F12C81A58DD}"/>
              </a:ext>
            </a:extLst>
          </p:cNvPr>
          <p:cNvSpPr/>
          <p:nvPr/>
        </p:nvSpPr>
        <p:spPr>
          <a:xfrm>
            <a:off x="4271166" y="4666625"/>
            <a:ext cx="5596756" cy="349139"/>
          </a:xfrm>
          <a:prstGeom prst="rect">
            <a:avLst/>
          </a:prstGeom>
          <a:solidFill>
            <a:srgbClr val="E1F6FF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rade Gothic LT Pro Bold" panose="020B0803040303020004" pitchFamily="34" charset="0"/>
              </a:rPr>
              <a:t>Collect feedback and make changes</a:t>
            </a:r>
            <a:endParaRPr lang="en-US" sz="1200" dirty="0">
              <a:solidFill>
                <a:schemeClr val="tx1"/>
              </a:solidFill>
              <a:latin typeface="Trade Gothic LT Pro Bold" panose="020B08030403030200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75779F-8071-4133-832D-2C4848BABBC3}"/>
              </a:ext>
            </a:extLst>
          </p:cNvPr>
          <p:cNvSpPr/>
          <p:nvPr/>
        </p:nvSpPr>
        <p:spPr>
          <a:xfrm>
            <a:off x="208918" y="1255293"/>
            <a:ext cx="9659005" cy="6102437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49F5D4-7EF9-4272-9F3A-0B1FBF2C9969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06C82E-C4EA-45BE-B4A6-68D1A5F2DC95}"/>
              </a:ext>
            </a:extLst>
          </p:cNvPr>
          <p:cNvSpPr txBox="1"/>
          <p:nvPr/>
        </p:nvSpPr>
        <p:spPr>
          <a:xfrm>
            <a:off x="2287255" y="7433621"/>
            <a:ext cx="8883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>
                <a:latin typeface="Trade Gothic LT Pro" panose="020B0503040303020004" pitchFamily="34" charset="77"/>
                <a:cs typeface="Arial" panose="020B0604020202020204" pitchFamily="34" charset="0"/>
              </a:rPr>
              <a:t>Prototyping V2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003A4-761D-F2FB-B814-94E7AE0C1C1E}"/>
              </a:ext>
            </a:extLst>
          </p:cNvPr>
          <p:cNvSpPr txBox="1"/>
          <p:nvPr/>
        </p:nvSpPr>
        <p:spPr>
          <a:xfrm>
            <a:off x="2451584" y="631043"/>
            <a:ext cx="4746749" cy="52322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0B2338"/>
                </a:solidFill>
                <a:latin typeface="Trade Gothic LT Pro Bold" panose="020B0803040303020004" pitchFamily="34" charset="0"/>
              </a:rPr>
              <a:t>How might we ______________________________________</a:t>
            </a:r>
          </a:p>
          <a:p>
            <a:r>
              <a:rPr lang="en-US" sz="1400" b="1">
                <a:solidFill>
                  <a:srgbClr val="0B2338"/>
                </a:solidFill>
                <a:latin typeface="Trade Gothic LT Pro Bold" panose="020B0803040303020004" pitchFamily="34" charset="0"/>
              </a:rPr>
              <a:t>            so that ______________________________________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674D6-ADD3-EF34-E775-18D8D6C99B0B}"/>
              </a:ext>
            </a:extLst>
          </p:cNvPr>
          <p:cNvSpPr txBox="1"/>
          <p:nvPr/>
        </p:nvSpPr>
        <p:spPr>
          <a:xfrm>
            <a:off x="173135" y="1651827"/>
            <a:ext cx="3980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Trade Gothic LT Pro" panose="020B0503040303020004"/>
              </a:rPr>
              <a:t>Combine aspects from mind map to explore ideas for a fuller product.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6EA12-8DD7-E617-64E9-ACA09D577979}"/>
              </a:ext>
            </a:extLst>
          </p:cNvPr>
          <p:cNvSpPr txBox="1"/>
          <p:nvPr/>
        </p:nvSpPr>
        <p:spPr>
          <a:xfrm>
            <a:off x="4275812" y="5032698"/>
            <a:ext cx="56923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Trade Gothic LT Pro" panose="020B0503040303020004"/>
              </a:rPr>
              <a:t>Questions to consider: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Do the features in the prototype address the requirements?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What works and what doesn’t work?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Are there any unforeseen design conflicts?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What if someone who knows nothing about this tried to use it? What would happen?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How will this be made?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What is memorable about this design?</a:t>
            </a:r>
          </a:p>
          <a:p>
            <a:pPr marL="228600" indent="-228600">
              <a:buFont typeface="+mj-lt"/>
              <a:buAutoNum type="arabicPeriod"/>
            </a:pPr>
            <a:endParaRPr lang="en-US" sz="1200" i="1" dirty="0">
              <a:latin typeface="Trade Gothic LT Pro" panose="020B0503040303020004"/>
            </a:endParaRPr>
          </a:p>
          <a:p>
            <a:r>
              <a:rPr lang="en-US" sz="1200" i="1" dirty="0">
                <a:latin typeface="Trade Gothic LT Pro" panose="020B0503040303020004"/>
              </a:rPr>
              <a:t>Iterate: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What did we accomplish?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What will we change?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i="1" dirty="0">
                <a:latin typeface="Trade Gothic LT Pro" panose="020B0503040303020004"/>
              </a:rPr>
              <a:t>What will we try next?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9338F7-2E92-7939-6BD5-F1668EA3EC9B}"/>
              </a:ext>
            </a:extLst>
          </p:cNvPr>
          <p:cNvSpPr/>
          <p:nvPr/>
        </p:nvSpPr>
        <p:spPr>
          <a:xfrm>
            <a:off x="204221" y="4666851"/>
            <a:ext cx="4066944" cy="349139"/>
          </a:xfrm>
          <a:prstGeom prst="rect">
            <a:avLst/>
          </a:prstGeom>
          <a:solidFill>
            <a:srgbClr val="005B93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Choose what to prototype</a:t>
            </a:r>
            <a:endParaRPr lang="en-US" sz="1400" dirty="0">
              <a:latin typeface="Trade Gothic LT Pro Bold" panose="020B080304030302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D85EA-6289-C6F0-7109-53B5D04919FE}"/>
              </a:ext>
            </a:extLst>
          </p:cNvPr>
          <p:cNvSpPr txBox="1"/>
          <p:nvPr/>
        </p:nvSpPr>
        <p:spPr>
          <a:xfrm>
            <a:off x="264835" y="5420575"/>
            <a:ext cx="39618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Trade Gothic LT Pro" panose="020B0503040303020004"/>
              </a:rPr>
              <a:t>Identify features of favorite sketches that have high risk and need to be explored more. </a:t>
            </a:r>
          </a:p>
          <a:p>
            <a:endParaRPr lang="en-US" sz="1200" i="1" dirty="0">
              <a:latin typeface="Trade Gothic LT Pro" panose="020B0503040303020004"/>
            </a:endParaRPr>
          </a:p>
          <a:p>
            <a:r>
              <a:rPr lang="en-US" sz="1200" i="1" dirty="0">
                <a:latin typeface="Trade Gothic LT Pro" panose="020B0503040303020004"/>
              </a:rPr>
              <a:t>Try returning to sketches from the Mind Map and identifying features that need prototyping.</a:t>
            </a:r>
          </a:p>
          <a:p>
            <a:endParaRPr lang="en-US" sz="1200" i="1" dirty="0">
              <a:latin typeface="Trade Gothic LT Pro" panose="020B0503040303020004"/>
            </a:endParaRPr>
          </a:p>
          <a:p>
            <a:r>
              <a:rPr lang="en-US" sz="1200" i="1" dirty="0">
                <a:latin typeface="Trade Gothic LT Pro" panose="020B0503040303020004"/>
              </a:rPr>
              <a:t>Note that a prototype does not have to be of the full product.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1BF2A-7491-52EF-4403-673062119F1C}"/>
              </a:ext>
            </a:extLst>
          </p:cNvPr>
          <p:cNvSpPr/>
          <p:nvPr/>
        </p:nvSpPr>
        <p:spPr>
          <a:xfrm>
            <a:off x="4271165" y="1255293"/>
            <a:ext cx="5596757" cy="365759"/>
          </a:xfrm>
          <a:prstGeom prst="rect">
            <a:avLst/>
          </a:prstGeom>
          <a:solidFill>
            <a:srgbClr val="87DEFF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rade Gothic LT Pro Bold" panose="020B0803040303020004" pitchFamily="34" charset="0"/>
              </a:rPr>
              <a:t>Create paper/cardboard prototype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CBD2CF-612A-A072-480C-95F9C4BAC9E2}"/>
              </a:ext>
            </a:extLst>
          </p:cNvPr>
          <p:cNvSpPr txBox="1"/>
          <p:nvPr/>
        </p:nvSpPr>
        <p:spPr>
          <a:xfrm>
            <a:off x="4366063" y="1833174"/>
            <a:ext cx="2157067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Trade Gothic LT Pro" panose="020B0503040303020004"/>
              </a:rPr>
              <a:t>Materials to consider: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Cardstock (manila folders, index cards, etc.)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Cardboard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Legos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Paper clips (keep them as clips or use them like bendable wire)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Pipe cleaners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Tape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Chopsticks/popsicle sticks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i="1" dirty="0">
              <a:latin typeface="Trade Gothic LT Pro" panose="020B0503040303020004"/>
            </a:endParaRPr>
          </a:p>
          <a:p>
            <a:r>
              <a:rPr lang="en-US" sz="1100" i="1" dirty="0">
                <a:latin typeface="Trade Gothic LT Pro" panose="020B0503040303020004"/>
              </a:rPr>
              <a:t>Tools to consider: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Cardboard knife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Scissors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Pliers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88A72-0321-924B-BD6F-2D4A9008448E}"/>
              </a:ext>
            </a:extLst>
          </p:cNvPr>
          <p:cNvSpPr txBox="1"/>
          <p:nvPr/>
        </p:nvSpPr>
        <p:spPr>
          <a:xfrm>
            <a:off x="6419088" y="1822758"/>
            <a:ext cx="331956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Trade Gothic LT Pro" panose="020B0503040303020004"/>
              </a:rPr>
              <a:t>Prompts: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How big or small should this be?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What shape should this be?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How will someone interact with it (look at it, hold it, push it, etc.)?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Are there any moving parts?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Are there multiple parts? How do they fit together?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What is most likely to break?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>
                <a:latin typeface="Trade Gothic LT Pro" panose="020B0503040303020004"/>
              </a:rPr>
              <a:t>If this a service or a large human-scale prototype, consider ITK’s </a:t>
            </a:r>
            <a:r>
              <a:rPr lang="en-US" sz="1100" i="1" dirty="0">
                <a:latin typeface="Trade Gothic LT Pro" panose="020B0503040303020004"/>
                <a:hlinkClick r:id="rId5"/>
              </a:rPr>
              <a:t>Bodystorming Tool</a:t>
            </a:r>
            <a:r>
              <a:rPr lang="en-US" sz="1100" i="1" dirty="0">
                <a:latin typeface="Trade Gothic LT Pro" panose="020B0503040303020004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F8571F-3AF9-99FC-F36D-1D08BC6D195C}"/>
              </a:ext>
            </a:extLst>
          </p:cNvPr>
          <p:cNvSpPr txBox="1"/>
          <p:nvPr/>
        </p:nvSpPr>
        <p:spPr>
          <a:xfrm>
            <a:off x="3537177" y="737229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©2024 The MITRE Corporation. ALL RIGHTS RESERVED</a:t>
            </a:r>
            <a:br>
              <a:rPr lang="en-US" sz="900" dirty="0"/>
            </a:br>
            <a:r>
              <a:rPr lang="en-US" sz="9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Approved for public release. Distribution unlimited 23-02570-3.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488243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fdeb30-ae0e-4998-ac0a-10b1a4bf68b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C805C163B62C46B534ADE6EA44D9D9" ma:contentTypeVersion="16" ma:contentTypeDescription="Create a new document." ma:contentTypeScope="" ma:versionID="0ede69a2de52c691ef714f59d2a28c20">
  <xsd:schema xmlns:xsd="http://www.w3.org/2001/XMLSchema" xmlns:xs="http://www.w3.org/2001/XMLSchema" xmlns:p="http://schemas.microsoft.com/office/2006/metadata/properties" xmlns:ns2="cdfdeb30-ae0e-4998-ac0a-10b1a4bf68b6" xmlns:ns3="7f8593c4-0307-41db-8d4f-f63101ab547a" targetNamespace="http://schemas.microsoft.com/office/2006/metadata/properties" ma:root="true" ma:fieldsID="78dd771647234a10d00380e9a6f0b829" ns2:_="" ns3:_="">
    <xsd:import namespace="cdfdeb30-ae0e-4998-ac0a-10b1a4bf68b6"/>
    <xsd:import namespace="7f8593c4-0307-41db-8d4f-f63101ab54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deb30-ae0e-4998-ac0a-10b1a4bf68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ea1a638-fe8f-4e55-a8a3-ec1a1fdf4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8593c4-0307-41db-8d4f-f63101ab547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E9386B-B9D4-4DD2-A9A2-BB4405422051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7f8593c4-0307-41db-8d4f-f63101ab547a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cdfdeb30-ae0e-4998-ac0a-10b1a4bf68b6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3A8DAEB-5081-4D40-95D8-3EF551C962AB}">
  <ds:schemaRefs>
    <ds:schemaRef ds:uri="7f8593c4-0307-41db-8d4f-f63101ab547a"/>
    <ds:schemaRef ds:uri="cdfdeb30-ae0e-4998-ac0a-10b1a4bf68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</TotalTime>
  <Words>543</Words>
  <Application>Microsoft Office PowerPoint</Application>
  <PresentationFormat>Custom</PresentationFormat>
  <Paragraphs>78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Trade Gothic LT Pro</vt:lpstr>
      <vt:lpstr>Trade Gothic LT Pro Bold</vt:lpstr>
      <vt:lpstr>Verdana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Dan Ward</cp:lastModifiedBy>
  <cp:revision>4</cp:revision>
  <dcterms:created xsi:type="dcterms:W3CDTF">2021-02-16T17:30:35Z</dcterms:created>
  <dcterms:modified xsi:type="dcterms:W3CDTF">2024-05-28T19:32:41Z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0x010100FDC805C163B62C46B534ADE6EA44D9D9</vt:lpwstr>
  </property>
  <property fmtid="{D5CDD505-2E9C-101B-9397-08002B2CF9AE}" pid="3" name="MediaServiceImageTags">
    <vt:lpwstr/>
  </property>
</Properties>
</file>