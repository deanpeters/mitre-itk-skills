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6"/>
  </p:notesMasterIdLst>
  <p:handoutMasterIdLst>
    <p:handoutMasterId r:id="rId7"/>
  </p:handoutMasterIdLst>
  <p:sldIdLst>
    <p:sldId id="356" r:id="rId5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onisha Rahman" initials="MR" lastIdx="46" clrIdx="0">
    <p:extLst>
      <p:ext uri="{19B8F6BF-5375-455C-9EA6-DF929625EA0E}">
        <p15:presenceInfo xmlns:p15="http://schemas.microsoft.com/office/powerpoint/2012/main" userId="S::RAHMANM@MITRE.ORG::6cf91401-9094-4e8f-a695-42ee7077f7e9" providerId="AD"/>
      </p:ext>
    </p:extLst>
  </p:cmAuthor>
  <p:cmAuthor id="2" name="Rachel E Gregorio" initials="REG" lastIdx="9" clrIdx="1">
    <p:extLst>
      <p:ext uri="{19B8F6BF-5375-455C-9EA6-DF929625EA0E}">
        <p15:presenceInfo xmlns:p15="http://schemas.microsoft.com/office/powerpoint/2012/main" userId="S::rgregorio@mitre.org::8bffd36a-0092-49e2-a094-14b10b84ee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DEFF"/>
    <a:srgbClr val="0B2338"/>
    <a:srgbClr val="005B93"/>
    <a:srgbClr val="0A2237"/>
    <a:srgbClr val="C8DFF4"/>
    <a:srgbClr val="00B0F0"/>
    <a:srgbClr val="C9EAFF"/>
    <a:srgbClr val="FFFFFF"/>
    <a:srgbClr val="E1F6FF"/>
    <a:srgbClr val="E2F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3333" autoAdjust="0"/>
  </p:normalViewPr>
  <p:slideViewPr>
    <p:cSldViewPr snapToGrid="0">
      <p:cViewPr varScale="1">
        <p:scale>
          <a:sx n="56" d="100"/>
          <a:sy n="56" d="100"/>
        </p:scale>
        <p:origin x="1440" y="52"/>
      </p:cViewPr>
      <p:guideLst>
        <p:guide orient="horz" pos="2448"/>
        <p:guide pos="316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69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C3CCF0-20A0-4277-B884-FCDC13D4216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9C8C52-E96C-4D62-9306-4F2B3D25D33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FA0B8-05D5-4D03-BED0-5F9DB4E2AD1C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160679-50D1-49D8-B7AD-A9CF1516F2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18EA8-AA11-4184-9321-7F5274B194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1F5E2-A98F-40FE-8D42-344BEA526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471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A9B366-79F4-4B62-AF82-2B8B21D70C18}" type="datetimeFigureOut">
              <a:rPr lang="en-US" smtClean="0"/>
              <a:t>6/2/2021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43000"/>
            <a:ext cx="3994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21AF85-23DB-4EF3-AEBB-2F7BA47FDD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24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EC76307C-E903-4132-A77E-BC2083EF88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097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07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6CAA1B-F833-B74D-8E4B-3A6E9372A0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041064" y="269608"/>
            <a:ext cx="1826836" cy="15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520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29720B4-0732-4C43-A934-5A9DE0AF5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98238"/>
              </p:ext>
            </p:extLst>
          </p:nvPr>
        </p:nvGraphicFramePr>
        <p:xfrm>
          <a:off x="276446" y="937517"/>
          <a:ext cx="3151005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35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0335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0335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A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6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6EB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53" name="Table 4">
            <a:extLst>
              <a:ext uri="{FF2B5EF4-FFF2-40B4-BE49-F238E27FC236}">
                <a16:creationId xmlns:a16="http://schemas.microsoft.com/office/drawing/2014/main" id="{47551C46-9971-4BF8-A549-AB4E4B79D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3343275"/>
              </p:ext>
            </p:extLst>
          </p:nvPr>
        </p:nvGraphicFramePr>
        <p:xfrm>
          <a:off x="267880" y="3049759"/>
          <a:ext cx="3159570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190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6F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6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6F8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6F8F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6F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54" name="Table 4">
            <a:extLst>
              <a:ext uri="{FF2B5EF4-FFF2-40B4-BE49-F238E27FC236}">
                <a16:creationId xmlns:a16="http://schemas.microsoft.com/office/drawing/2014/main" id="{6209E391-9692-4CD0-818E-5ECEC00D9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421080"/>
              </p:ext>
            </p:extLst>
          </p:nvPr>
        </p:nvGraphicFramePr>
        <p:xfrm>
          <a:off x="267880" y="5180174"/>
          <a:ext cx="3159570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190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F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2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2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58" name="Table 4">
            <a:extLst>
              <a:ext uri="{FF2B5EF4-FFF2-40B4-BE49-F238E27FC236}">
                <a16:creationId xmlns:a16="http://schemas.microsoft.com/office/drawing/2014/main" id="{A6C93AB0-F2EF-4C09-BD8A-DF668D3B8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881052"/>
              </p:ext>
            </p:extLst>
          </p:nvPr>
        </p:nvGraphicFramePr>
        <p:xfrm>
          <a:off x="3457981" y="937517"/>
          <a:ext cx="3151005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35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0335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0335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B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D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EB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59" name="Table 4">
            <a:extLst>
              <a:ext uri="{FF2B5EF4-FFF2-40B4-BE49-F238E27FC236}">
                <a16:creationId xmlns:a16="http://schemas.microsoft.com/office/drawing/2014/main" id="{22D5AEAB-EE51-40FD-AD77-D2866CF5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647714"/>
              </p:ext>
            </p:extLst>
          </p:nvPr>
        </p:nvGraphicFramePr>
        <p:xfrm>
          <a:off x="3449415" y="3049759"/>
          <a:ext cx="3159570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190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A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B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B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C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6F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I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4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F</a:t>
                      </a:r>
                    </a:p>
                  </a:txBody>
                  <a:tcPr anchor="ctr">
                    <a:solidFill>
                      <a:srgbClr val="E2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G</a:t>
                      </a:r>
                    </a:p>
                  </a:txBody>
                  <a:tcPr anchor="ctr">
                    <a:solidFill>
                      <a:srgbClr val="FD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H</a:t>
                      </a:r>
                    </a:p>
                  </a:txBody>
                  <a:tcPr anchor="ctr">
                    <a:solidFill>
                      <a:srgbClr val="F1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60" name="Table 4">
            <a:extLst>
              <a:ext uri="{FF2B5EF4-FFF2-40B4-BE49-F238E27FC236}">
                <a16:creationId xmlns:a16="http://schemas.microsoft.com/office/drawing/2014/main" id="{9DE0FB92-0752-4B2A-8DCC-A9F69E3EF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338152"/>
              </p:ext>
            </p:extLst>
          </p:nvPr>
        </p:nvGraphicFramePr>
        <p:xfrm>
          <a:off x="3449415" y="5180174"/>
          <a:ext cx="3159570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190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D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G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F5F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D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61" name="Table 4">
            <a:extLst>
              <a:ext uri="{FF2B5EF4-FFF2-40B4-BE49-F238E27FC236}">
                <a16:creationId xmlns:a16="http://schemas.microsoft.com/office/drawing/2014/main" id="{A71122B0-C592-46AF-881F-72922B4C8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942014"/>
              </p:ext>
            </p:extLst>
          </p:nvPr>
        </p:nvGraphicFramePr>
        <p:xfrm>
          <a:off x="6647582" y="937517"/>
          <a:ext cx="3151005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335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0335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0335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EF2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C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EF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EF2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EF2D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EF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62" name="Table 4">
            <a:extLst>
              <a:ext uri="{FF2B5EF4-FFF2-40B4-BE49-F238E27FC236}">
                <a16:creationId xmlns:a16="http://schemas.microsoft.com/office/drawing/2014/main" id="{8BA2B56D-F15D-4D76-8261-112134264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321133"/>
              </p:ext>
            </p:extLst>
          </p:nvPr>
        </p:nvGraphicFramePr>
        <p:xfrm>
          <a:off x="6639016" y="3049759"/>
          <a:ext cx="3159570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190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4E3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4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4E3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4E3E3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E4E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graphicFrame>
        <p:nvGraphicFramePr>
          <p:cNvPr id="63" name="Table 4">
            <a:extLst>
              <a:ext uri="{FF2B5EF4-FFF2-40B4-BE49-F238E27FC236}">
                <a16:creationId xmlns:a16="http://schemas.microsoft.com/office/drawing/2014/main" id="{EC72E86B-A9C1-4104-8644-3C3E381ED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023846"/>
              </p:ext>
            </p:extLst>
          </p:nvPr>
        </p:nvGraphicFramePr>
        <p:xfrm>
          <a:off x="6639016" y="5180174"/>
          <a:ext cx="3159570" cy="20723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190">
                  <a:extLst>
                    <a:ext uri="{9D8B030D-6E8A-4147-A177-3AD203B41FA5}">
                      <a16:colId xmlns:a16="http://schemas.microsoft.com/office/drawing/2014/main" val="1449144036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806834963"/>
                    </a:ext>
                  </a:extLst>
                </a:gridCol>
                <a:gridCol w="1053190">
                  <a:extLst>
                    <a:ext uri="{9D8B030D-6E8A-4147-A177-3AD203B41FA5}">
                      <a16:colId xmlns:a16="http://schemas.microsoft.com/office/drawing/2014/main" val="3010702478"/>
                    </a:ext>
                  </a:extLst>
                </a:gridCol>
              </a:tblGrid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816238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F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Trade Gothic LT Pro" panose="020B0503040303020004" pitchFamily="34" charset="0"/>
                        </a:rPr>
                        <a:t>H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1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035691"/>
                  </a:ext>
                </a:extLst>
              </a:tr>
              <a:tr h="69079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1F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1F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1F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378504"/>
                  </a:ext>
                </a:extLst>
              </a:tr>
            </a:tbl>
          </a:graphicData>
        </a:graphic>
      </p:graphicFrame>
      <p:sp>
        <p:nvSpPr>
          <p:cNvPr id="100" name="Rectangle 99">
            <a:extLst>
              <a:ext uri="{FF2B5EF4-FFF2-40B4-BE49-F238E27FC236}">
                <a16:creationId xmlns:a16="http://schemas.microsoft.com/office/drawing/2014/main" id="{B1012B21-1F42-44EE-A051-6B9894E01C31}"/>
              </a:ext>
            </a:extLst>
          </p:cNvPr>
          <p:cNvSpPr/>
          <p:nvPr/>
        </p:nvSpPr>
        <p:spPr>
          <a:xfrm>
            <a:off x="276447" y="937516"/>
            <a:ext cx="9526772" cy="6322274"/>
          </a:xfrm>
          <a:prstGeom prst="rect">
            <a:avLst/>
          </a:prstGeom>
          <a:noFill/>
          <a:ln w="19050">
            <a:solidFill>
              <a:srgbClr val="0B233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Pro" panose="020B05030403030200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22E81F-5AA0-414D-99B0-633493B44D3D}"/>
              </a:ext>
            </a:extLst>
          </p:cNvPr>
          <p:cNvSpPr txBox="1"/>
          <p:nvPr/>
        </p:nvSpPr>
        <p:spPr>
          <a:xfrm>
            <a:off x="159243" y="424392"/>
            <a:ext cx="7749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dirty="0">
                <a:solidFill>
                  <a:srgbClr val="00B0F0"/>
                </a:solidFill>
                <a:latin typeface="Trade Gothic LT Pro Bold" panose="020B0803040303020004" pitchFamily="34" charset="0"/>
              </a:rPr>
              <a:t>LOTUS BLOSSOM: </a:t>
            </a:r>
            <a:r>
              <a:rPr lang="en-US" dirty="0">
                <a:solidFill>
                  <a:srgbClr val="0B2338"/>
                </a:solidFill>
                <a:latin typeface="Trade Gothic LT Pro Bold" panose="020B0803040303020004" pitchFamily="34" charset="0"/>
              </a:rPr>
              <a:t>Quickly develop a large quantity of high-quality ideas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B2338"/>
              </a:solidFill>
              <a:effectLst/>
              <a:uLnTx/>
              <a:uFillTx/>
              <a:latin typeface="Trade Gothic LT Pro Bold" panose="020B0803040303020004" pitchFamily="34" charset="0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101BC2-E3A8-4714-94AF-BA21C2665CE8}"/>
              </a:ext>
            </a:extLst>
          </p:cNvPr>
          <p:cNvSpPr txBox="1"/>
          <p:nvPr/>
        </p:nvSpPr>
        <p:spPr>
          <a:xfrm>
            <a:off x="106162" y="7423572"/>
            <a:ext cx="15696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itk.mitre.org</a:t>
            </a: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 | </a:t>
            </a:r>
            <a:r>
              <a:rPr lang="en-US" sz="900" dirty="0" err="1">
                <a:latin typeface="Trade Gothic LT Pro" panose="020B0503040303020004" pitchFamily="34" charset="77"/>
                <a:cs typeface="Arial" panose="020B0604020202020204" pitchFamily="34" charset="0"/>
              </a:rPr>
              <a:t>itk@mitre.org</a:t>
            </a:r>
            <a:endParaRPr lang="en-US" sz="900" dirty="0">
              <a:latin typeface="Trade Gothic LT Pro" panose="020B0503040303020004" pitchFamily="34" charset="77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8BF8FB-E300-493D-ACA1-BC669F330433}"/>
              </a:ext>
            </a:extLst>
          </p:cNvPr>
          <p:cNvSpPr txBox="1"/>
          <p:nvPr/>
        </p:nvSpPr>
        <p:spPr>
          <a:xfrm>
            <a:off x="3720705" y="7433621"/>
            <a:ext cx="5833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© 2021 The MITRE Corporation. All rights reserved. Approved for public release. Distribution unlimited PR_20-01469-11.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D61A1E-7F66-4AF8-BCF1-B14995E2B006}"/>
              </a:ext>
            </a:extLst>
          </p:cNvPr>
          <p:cNvSpPr txBox="1"/>
          <p:nvPr/>
        </p:nvSpPr>
        <p:spPr>
          <a:xfrm>
            <a:off x="2187067" y="7433621"/>
            <a:ext cx="108876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Trade Gothic LT Pro" panose="020B0503040303020004" pitchFamily="34" charset="77"/>
                <a:cs typeface="Arial" panose="020B0604020202020204" pitchFamily="34" charset="0"/>
              </a:rPr>
              <a:t>Lotus Blossom V1</a:t>
            </a:r>
          </a:p>
        </p:txBody>
      </p:sp>
    </p:spTree>
    <p:extLst>
      <p:ext uri="{BB962C8B-B14F-4D97-AF65-F5344CB8AC3E}">
        <p14:creationId xmlns:p14="http://schemas.microsoft.com/office/powerpoint/2010/main" val="118859109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2">
      <a:dk1>
        <a:srgbClr val="000000"/>
      </a:dk1>
      <a:lt1>
        <a:srgbClr val="FFFFFF"/>
      </a:lt1>
      <a:dk2>
        <a:srgbClr val="0B2338"/>
      </a:dk2>
      <a:lt2>
        <a:srgbClr val="E7E6E6"/>
      </a:lt2>
      <a:accent1>
        <a:srgbClr val="E51D3E"/>
      </a:accent1>
      <a:accent2>
        <a:srgbClr val="ED7D31"/>
      </a:accent2>
      <a:accent3>
        <a:srgbClr val="78C044"/>
      </a:accent3>
      <a:accent4>
        <a:srgbClr val="0DA8D9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94E99C172A24489941E5861361F779" ma:contentTypeVersion="8" ma:contentTypeDescription="Create a new document." ma:contentTypeScope="" ma:versionID="771431e25d0fe5f94154fb889c3e9476">
  <xsd:schema xmlns:xsd="http://www.w3.org/2001/XMLSchema" xmlns:xs="http://www.w3.org/2001/XMLSchema" xmlns:p="http://schemas.microsoft.com/office/2006/metadata/properties" xmlns:ns2="754fbc98-762c-4a90-9774-edf41ff53b67" targetNamespace="http://schemas.microsoft.com/office/2006/metadata/properties" ma:root="true" ma:fieldsID="aec298c6dc5a8bb722e4e4f30310d181" ns2:_="">
    <xsd:import namespace="754fbc98-762c-4a90-9774-edf41ff53b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4fbc98-762c-4a90-9774-edf41ff53b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09A9B2-11C0-4F68-986A-02670966B3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4fbc98-762c-4a90-9774-edf41ff53b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7E9386B-B9D4-4DD2-A9A2-BB4405422051}">
  <ds:schemaRefs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754fbc98-762c-4a90-9774-edf41ff53b67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516BBB1-1D72-424A-B5A0-2681626E67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45202</TotalTime>
  <Words>63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Trade Gothic LT Pro</vt:lpstr>
      <vt:lpstr>Trade Gothic LT Pro Bold</vt:lpstr>
      <vt:lpstr>1_Office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ITK Worksheet Updates</dc:title>
  <dc:creator>Moonisha Rahman</dc:creator>
  <cp:lastModifiedBy>Moonisha Rahman</cp:lastModifiedBy>
  <cp:revision>237</cp:revision>
  <dcterms:created xsi:type="dcterms:W3CDTF">2021-02-16T17:30:35Z</dcterms:created>
  <dcterms:modified xsi:type="dcterms:W3CDTF">2021-06-02T19:13:10Z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0x0101009894E99C172A24489941E5861361F779</vt:lpwstr>
  </property>
</Properties>
</file>