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7"/>
  </p:notesMasterIdLst>
  <p:sldIdLst>
    <p:sldId id="286" r:id="rId5"/>
    <p:sldId id="280" r:id="rId6"/>
  </p:sldIdLst>
  <p:sldSz cx="10058400" cy="7772400"/>
  <p:notesSz cx="6858000" cy="9144000"/>
  <p:embeddedFontLst>
    <p:embeddedFont>
      <p:font typeface="Calibri" panose="020F0502020204030204" pitchFamily="34" charset="0"/>
      <p:regular r:id="rId8"/>
      <p:bold r:id="rId9"/>
      <p:italic r:id="rId10"/>
      <p:boldItalic r:id="rId11"/>
    </p:embeddedFont>
    <p:embeddedFont>
      <p:font typeface="Trade Gothic LT Pro" panose="020B0503040303020004" pitchFamily="34" charset="77"/>
      <p:regular r:id="rId12"/>
      <p:bold r:id="rId13"/>
      <p:italic r:id="rId14"/>
      <p:boldItalic r:id="rId15"/>
    </p:embeddedFont>
    <p:embeddedFont>
      <p:font typeface="Trade Gothic LT Pro Bold" panose="020B0503040303020004" pitchFamily="34" charset="77"/>
      <p:bold r:id="rId16"/>
      <p:italic r:id="rId17"/>
      <p:boldItalic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56" userDrawn="1">
          <p15:clr>
            <a:srgbClr val="A4A3A4"/>
          </p15:clr>
        </p15:guide>
        <p15:guide id="2" pos="120" userDrawn="1">
          <p15:clr>
            <a:srgbClr val="A4A3A4"/>
          </p15:clr>
        </p15:guide>
        <p15:guide id="3" pos="6216" userDrawn="1">
          <p15:clr>
            <a:srgbClr val="A4A3A4"/>
          </p15:clr>
        </p15:guide>
        <p15:guide id="4" orient="horz" pos="336" userDrawn="1">
          <p15:clr>
            <a:srgbClr val="A4A3A4"/>
          </p15:clr>
        </p15:guide>
        <p15:guide id="5" orient="horz" pos="4776" userDrawn="1">
          <p15:clr>
            <a:srgbClr val="A4A3A4"/>
          </p15:clr>
        </p15:guide>
        <p15:guide id="6" orient="horz" pos="264" userDrawn="1">
          <p15:clr>
            <a:srgbClr val="A4A3A4"/>
          </p15:clr>
        </p15:guide>
        <p15:guide id="7" orient="horz" pos="120" userDrawn="1">
          <p15:clr>
            <a:srgbClr val="A4A3A4"/>
          </p15:clr>
        </p15:guide>
        <p15:guide id="8" orient="horz" pos="4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n Choi" initials="JC" lastIdx="3" clrIdx="0">
    <p:extLst>
      <p:ext uri="{19B8F6BF-5375-455C-9EA6-DF929625EA0E}">
        <p15:presenceInfo xmlns:p15="http://schemas.microsoft.com/office/powerpoint/2012/main" userId="S::choij@mitre.org::465d3fa6-3cb8-4078-93f1-e29079db7d4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8"/>
    <a:srgbClr val="87DEFF"/>
    <a:srgbClr val="005B93"/>
    <a:srgbClr val="6C6C6C"/>
    <a:srgbClr val="7E82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B6F80E-C534-4D40-94C8-A5DC071C3761}" v="2" dt="2021-03-16T14:48:51.0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08"/>
    <p:restoredTop sz="94836"/>
  </p:normalViewPr>
  <p:slideViewPr>
    <p:cSldViewPr snapToGrid="0" snapToObjects="1">
      <p:cViewPr varScale="1">
        <p:scale>
          <a:sx n="83" d="100"/>
          <a:sy n="83" d="100"/>
        </p:scale>
        <p:origin x="1816" y="208"/>
      </p:cViewPr>
      <p:guideLst>
        <p:guide orient="horz" pos="4656"/>
        <p:guide pos="120"/>
        <p:guide pos="6216"/>
        <p:guide orient="horz" pos="336"/>
        <p:guide orient="horz" pos="4776"/>
        <p:guide orient="horz" pos="264"/>
        <p:guide orient="horz" pos="120"/>
        <p:guide orient="horz" pos="4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font" Target="fonts/font9.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4.fntdata"/><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font" Target="fonts/font8.fntdata"/><Relationship Id="rId23" Type="http://schemas.openxmlformats.org/officeDocument/2006/relationships/tableStyles" Target="tableStyles.xml"/><Relationship Id="rId10" Type="http://schemas.openxmlformats.org/officeDocument/2006/relationships/font" Target="fonts/font3.fntdata"/><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hoi" userId="465d3fa6-3cb8-4078-93f1-e29079db7d40" providerId="ADAL" clId="{16B6F80E-C534-4D40-94C8-A5DC071C3761}"/>
    <pc:docChg chg="modSld modMainMaster modShowInfo">
      <pc:chgData name="Jen Choi" userId="465d3fa6-3cb8-4078-93f1-e29079db7d40" providerId="ADAL" clId="{16B6F80E-C534-4D40-94C8-A5DC071C3761}" dt="2021-03-16T18:34:29.844" v="225" actId="20577"/>
      <pc:docMkLst>
        <pc:docMk/>
      </pc:docMkLst>
      <pc:sldChg chg="modSp mod">
        <pc:chgData name="Jen Choi" userId="465d3fa6-3cb8-4078-93f1-e29079db7d40" providerId="ADAL" clId="{16B6F80E-C534-4D40-94C8-A5DC071C3761}" dt="2021-03-16T18:32:35.206" v="218" actId="20577"/>
        <pc:sldMkLst>
          <pc:docMk/>
          <pc:sldMk cId="3692133272" sldId="280"/>
        </pc:sldMkLst>
        <pc:spChg chg="mod">
          <ac:chgData name="Jen Choi" userId="465d3fa6-3cb8-4078-93f1-e29079db7d40" providerId="ADAL" clId="{16B6F80E-C534-4D40-94C8-A5DC071C3761}" dt="2021-03-16T18:15:55.411" v="50" actId="13926"/>
          <ac:spMkLst>
            <pc:docMk/>
            <pc:sldMk cId="3692133272" sldId="280"/>
            <ac:spMk id="8" creationId="{B12DEED5-2E20-7E4C-96AF-C4C87AB97DB1}"/>
          </ac:spMkLst>
        </pc:spChg>
        <pc:spChg chg="mod">
          <ac:chgData name="Jen Choi" userId="465d3fa6-3cb8-4078-93f1-e29079db7d40" providerId="ADAL" clId="{16B6F80E-C534-4D40-94C8-A5DC071C3761}" dt="2021-03-16T18:32:35.206" v="218" actId="20577"/>
          <ac:spMkLst>
            <pc:docMk/>
            <pc:sldMk cId="3692133272" sldId="280"/>
            <ac:spMk id="9" creationId="{9609E5D9-0699-0341-8F73-7C8218C4612A}"/>
          </ac:spMkLst>
        </pc:spChg>
      </pc:sldChg>
      <pc:sldChg chg="modSp mod">
        <pc:chgData name="Jen Choi" userId="465d3fa6-3cb8-4078-93f1-e29079db7d40" providerId="ADAL" clId="{16B6F80E-C534-4D40-94C8-A5DC071C3761}" dt="2021-03-16T18:34:29.844" v="225" actId="20577"/>
        <pc:sldMkLst>
          <pc:docMk/>
          <pc:sldMk cId="3788856191" sldId="281"/>
        </pc:sldMkLst>
        <pc:spChg chg="mod">
          <ac:chgData name="Jen Choi" userId="465d3fa6-3cb8-4078-93f1-e29079db7d40" providerId="ADAL" clId="{16B6F80E-C534-4D40-94C8-A5DC071C3761}" dt="2021-03-16T18:30:34.594" v="175" actId="1076"/>
          <ac:spMkLst>
            <pc:docMk/>
            <pc:sldMk cId="3788856191" sldId="281"/>
            <ac:spMk id="12" creationId="{87221BBF-12D8-AF46-873A-2C084F224F43}"/>
          </ac:spMkLst>
        </pc:spChg>
        <pc:spChg chg="mod">
          <ac:chgData name="Jen Choi" userId="465d3fa6-3cb8-4078-93f1-e29079db7d40" providerId="ADAL" clId="{16B6F80E-C534-4D40-94C8-A5DC071C3761}" dt="2021-03-16T18:27:04.385" v="130" actId="13926"/>
          <ac:spMkLst>
            <pc:docMk/>
            <pc:sldMk cId="3788856191" sldId="281"/>
            <ac:spMk id="41" creationId="{12E4049B-A905-374B-AB3C-260D17E5025A}"/>
          </ac:spMkLst>
        </pc:spChg>
        <pc:spChg chg="mod">
          <ac:chgData name="Jen Choi" userId="465d3fa6-3cb8-4078-93f1-e29079db7d40" providerId="ADAL" clId="{16B6F80E-C534-4D40-94C8-A5DC071C3761}" dt="2021-03-16T18:15:49.326" v="49" actId="13926"/>
          <ac:spMkLst>
            <pc:docMk/>
            <pc:sldMk cId="3788856191" sldId="281"/>
            <ac:spMk id="73" creationId="{9018D664-FDD4-574C-AE0D-AFD87D8FE7C1}"/>
          </ac:spMkLst>
        </pc:spChg>
        <pc:spChg chg="mod">
          <ac:chgData name="Jen Choi" userId="465d3fa6-3cb8-4078-93f1-e29079db7d40" providerId="ADAL" clId="{16B6F80E-C534-4D40-94C8-A5DC071C3761}" dt="2021-03-16T18:24:20.629" v="68" actId="13926"/>
          <ac:spMkLst>
            <pc:docMk/>
            <pc:sldMk cId="3788856191" sldId="281"/>
            <ac:spMk id="74" creationId="{04D81144-9F6A-8E43-A0BE-C374B6CA4070}"/>
          </ac:spMkLst>
        </pc:spChg>
        <pc:spChg chg="mod">
          <ac:chgData name="Jen Choi" userId="465d3fa6-3cb8-4078-93f1-e29079db7d40" providerId="ADAL" clId="{16B6F80E-C534-4D40-94C8-A5DC071C3761}" dt="2021-03-16T18:34:29.844" v="225" actId="20577"/>
          <ac:spMkLst>
            <pc:docMk/>
            <pc:sldMk cId="3788856191" sldId="281"/>
            <ac:spMk id="75" creationId="{44D0B885-278B-1B4B-8B9A-69B6E732D1D1}"/>
          </ac:spMkLst>
        </pc:spChg>
        <pc:cxnChg chg="mod">
          <ac:chgData name="Jen Choi" userId="465d3fa6-3cb8-4078-93f1-e29079db7d40" providerId="ADAL" clId="{16B6F80E-C534-4D40-94C8-A5DC071C3761}" dt="2021-03-16T18:30:38.362" v="176" actId="14100"/>
          <ac:cxnSpMkLst>
            <pc:docMk/>
            <pc:sldMk cId="3788856191" sldId="281"/>
            <ac:cxnSpMk id="14" creationId="{DC4A8956-4805-6646-B3A3-C26F281C735E}"/>
          </ac:cxnSpMkLst>
        </pc:cxnChg>
        <pc:cxnChg chg="mod">
          <ac:chgData name="Jen Choi" userId="465d3fa6-3cb8-4078-93f1-e29079db7d40" providerId="ADAL" clId="{16B6F80E-C534-4D40-94C8-A5DC071C3761}" dt="2021-03-16T18:30:41.254" v="177" actId="14100"/>
          <ac:cxnSpMkLst>
            <pc:docMk/>
            <pc:sldMk cId="3788856191" sldId="281"/>
            <ac:cxnSpMk id="78" creationId="{A24B9820-E71F-9044-A6E5-778B7C4DB5D1}"/>
          </ac:cxnSpMkLst>
        </pc:cxnChg>
      </pc:sldChg>
      <pc:sldMasterChg chg="modSp mod">
        <pc:chgData name="Jen Choi" userId="465d3fa6-3cb8-4078-93f1-e29079db7d40" providerId="ADAL" clId="{16B6F80E-C534-4D40-94C8-A5DC071C3761}" dt="2021-03-16T14:49:05.458" v="9" actId="13926"/>
        <pc:sldMasterMkLst>
          <pc:docMk/>
          <pc:sldMasterMk cId="3406188475" sldId="2147483660"/>
        </pc:sldMasterMkLst>
        <pc:spChg chg="mod">
          <ac:chgData name="Jen Choi" userId="465d3fa6-3cb8-4078-93f1-e29079db7d40" providerId="ADAL" clId="{16B6F80E-C534-4D40-94C8-A5DC071C3761}" dt="2021-03-16T14:49:05.458" v="9" actId="13926"/>
          <ac:spMkLst>
            <pc:docMk/>
            <pc:sldMasterMk cId="3406188475" sldId="2147483660"/>
            <ac:spMk id="9" creationId="{8C39EAAF-DA8C-8549-94C4-F11F8B2D3C90}"/>
          </ac:spMkLst>
        </pc:spChg>
      </pc:sldMasterChg>
    </pc:docChg>
  </pc:docChgLst>
  <pc:docChgLst>
    <pc:chgData name="Jen Choi" userId="465d3fa6-3cb8-4078-93f1-e29079db7d40" providerId="ADAL" clId="{F17A16E1-E520-084F-B3B6-A8C6FC89A995}"/>
    <pc:docChg chg="undo custSel addSld delSld modSld">
      <pc:chgData name="Jen Choi" userId="465d3fa6-3cb8-4078-93f1-e29079db7d40" providerId="ADAL" clId="{F17A16E1-E520-084F-B3B6-A8C6FC89A995}" dt="2021-03-11T21:28:48.199" v="893" actId="20577"/>
      <pc:docMkLst>
        <pc:docMk/>
      </pc:docMkLst>
      <pc:sldChg chg="modSp mod">
        <pc:chgData name="Jen Choi" userId="465d3fa6-3cb8-4078-93f1-e29079db7d40" providerId="ADAL" clId="{F17A16E1-E520-084F-B3B6-A8C6FC89A995}" dt="2021-03-11T21:28:48.199" v="893" actId="20577"/>
        <pc:sldMkLst>
          <pc:docMk/>
          <pc:sldMk cId="3692133272" sldId="280"/>
        </pc:sldMkLst>
        <pc:spChg chg="mod">
          <ac:chgData name="Jen Choi" userId="465d3fa6-3cb8-4078-93f1-e29079db7d40" providerId="ADAL" clId="{F17A16E1-E520-084F-B3B6-A8C6FC89A995}" dt="2021-03-11T21:25:27.011" v="379" actId="1076"/>
          <ac:spMkLst>
            <pc:docMk/>
            <pc:sldMk cId="3692133272" sldId="280"/>
            <ac:spMk id="8" creationId="{B12DEED5-2E20-7E4C-96AF-C4C87AB97DB1}"/>
          </ac:spMkLst>
        </pc:spChg>
        <pc:spChg chg="mod">
          <ac:chgData name="Jen Choi" userId="465d3fa6-3cb8-4078-93f1-e29079db7d40" providerId="ADAL" clId="{F17A16E1-E520-084F-B3B6-A8C6FC89A995}" dt="2021-03-11T21:28:48.199" v="893" actId="20577"/>
          <ac:spMkLst>
            <pc:docMk/>
            <pc:sldMk cId="3692133272" sldId="280"/>
            <ac:spMk id="9" creationId="{9609E5D9-0699-0341-8F73-7C8218C4612A}"/>
          </ac:spMkLst>
        </pc:spChg>
      </pc:sldChg>
      <pc:sldChg chg="addSp delSp modSp mod">
        <pc:chgData name="Jen Choi" userId="465d3fa6-3cb8-4078-93f1-e29079db7d40" providerId="ADAL" clId="{F17A16E1-E520-084F-B3B6-A8C6FC89A995}" dt="2021-03-11T21:28:07.746" v="822" actId="14100"/>
        <pc:sldMkLst>
          <pc:docMk/>
          <pc:sldMk cId="3788856191" sldId="281"/>
        </pc:sldMkLst>
        <pc:spChg chg="mod">
          <ac:chgData name="Jen Choi" userId="465d3fa6-3cb8-4078-93f1-e29079db7d40" providerId="ADAL" clId="{F17A16E1-E520-084F-B3B6-A8C6FC89A995}" dt="2021-03-11T21:22:43.310" v="175" actId="1076"/>
          <ac:spMkLst>
            <pc:docMk/>
            <pc:sldMk cId="3788856191" sldId="281"/>
            <ac:spMk id="2" creationId="{FEFE05A3-0B00-074E-BB75-946C334038F3}"/>
          </ac:spMkLst>
        </pc:spChg>
        <pc:spChg chg="mod">
          <ac:chgData name="Jen Choi" userId="465d3fa6-3cb8-4078-93f1-e29079db7d40" providerId="ADAL" clId="{F17A16E1-E520-084F-B3B6-A8C6FC89A995}" dt="2021-03-11T21:27:16.758" v="641" actId="20577"/>
          <ac:spMkLst>
            <pc:docMk/>
            <pc:sldMk cId="3788856191" sldId="281"/>
            <ac:spMk id="10" creationId="{C32414DA-03F2-6E48-8D66-B99A184621DE}"/>
          </ac:spMkLst>
        </pc:spChg>
        <pc:spChg chg="add mod">
          <ac:chgData name="Jen Choi" userId="465d3fa6-3cb8-4078-93f1-e29079db7d40" providerId="ADAL" clId="{F17A16E1-E520-084F-B3B6-A8C6FC89A995}" dt="2021-03-11T21:28:07.746" v="822" actId="14100"/>
          <ac:spMkLst>
            <pc:docMk/>
            <pc:sldMk cId="3788856191" sldId="281"/>
            <ac:spMk id="39" creationId="{968015C7-9338-FD49-A193-D8941CE83FD0}"/>
          </ac:spMkLst>
        </pc:spChg>
        <pc:spChg chg="mod">
          <ac:chgData name="Jen Choi" userId="465d3fa6-3cb8-4078-93f1-e29079db7d40" providerId="ADAL" clId="{F17A16E1-E520-084F-B3B6-A8C6FC89A995}" dt="2021-03-11T21:26:33.389" v="600" actId="20577"/>
          <ac:spMkLst>
            <pc:docMk/>
            <pc:sldMk cId="3788856191" sldId="281"/>
            <ac:spMk id="40" creationId="{5381248F-EEA3-154F-81AC-DEE68E23BE8A}"/>
          </ac:spMkLst>
        </pc:spChg>
        <pc:spChg chg="add del mod">
          <ac:chgData name="Jen Choi" userId="465d3fa6-3cb8-4078-93f1-e29079db7d40" providerId="ADAL" clId="{F17A16E1-E520-084F-B3B6-A8C6FC89A995}" dt="2021-03-11T21:21:35.031" v="101" actId="207"/>
          <ac:spMkLst>
            <pc:docMk/>
            <pc:sldMk cId="3788856191" sldId="281"/>
            <ac:spMk id="43" creationId="{1AE83D52-214E-2A4F-8293-F99DD18D650A}"/>
          </ac:spMkLst>
        </pc:spChg>
        <pc:spChg chg="add mod">
          <ac:chgData name="Jen Choi" userId="465d3fa6-3cb8-4078-93f1-e29079db7d40" providerId="ADAL" clId="{F17A16E1-E520-084F-B3B6-A8C6FC89A995}" dt="2021-03-11T21:25:51.042" v="490" actId="207"/>
          <ac:spMkLst>
            <pc:docMk/>
            <pc:sldMk cId="3788856191" sldId="281"/>
            <ac:spMk id="45" creationId="{427A1BE0-40A7-2C41-84B0-A12728EECDBA}"/>
          </ac:spMkLst>
        </pc:spChg>
        <pc:spChg chg="add mod">
          <ac:chgData name="Jen Choi" userId="465d3fa6-3cb8-4078-93f1-e29079db7d40" providerId="ADAL" clId="{F17A16E1-E520-084F-B3B6-A8C6FC89A995}" dt="2021-03-11T21:26:56.507" v="605" actId="1076"/>
          <ac:spMkLst>
            <pc:docMk/>
            <pc:sldMk cId="3788856191" sldId="281"/>
            <ac:spMk id="46" creationId="{3AAF7832-095B-3B4C-917B-12E8196A0352}"/>
          </ac:spMkLst>
        </pc:spChg>
        <pc:spChg chg="mod">
          <ac:chgData name="Jen Choi" userId="465d3fa6-3cb8-4078-93f1-e29079db7d40" providerId="ADAL" clId="{F17A16E1-E520-084F-B3B6-A8C6FC89A995}" dt="2021-03-11T21:26:30.333" v="592" actId="20577"/>
          <ac:spMkLst>
            <pc:docMk/>
            <pc:sldMk cId="3788856191" sldId="281"/>
            <ac:spMk id="91" creationId="{F03CF4A2-1C28-A84C-880E-DBF30173544C}"/>
          </ac:spMkLst>
        </pc:spChg>
      </pc:sldChg>
      <pc:sldChg chg="add del">
        <pc:chgData name="Jen Choi" userId="465d3fa6-3cb8-4078-93f1-e29079db7d40" providerId="ADAL" clId="{F17A16E1-E520-084F-B3B6-A8C6FC89A995}" dt="2021-03-11T21:20:09.647" v="1" actId="2696"/>
        <pc:sldMkLst>
          <pc:docMk/>
          <pc:sldMk cId="2710194005" sldId="744"/>
        </pc:sldMkLst>
      </pc:sldChg>
      <pc:sldChg chg="modSp add del">
        <pc:chgData name="Jen Choi" userId="465d3fa6-3cb8-4078-93f1-e29079db7d40" providerId="ADAL" clId="{F17A16E1-E520-084F-B3B6-A8C6FC89A995}" dt="2021-03-11T21:20:09.647" v="1" actId="2696"/>
        <pc:sldMkLst>
          <pc:docMk/>
          <pc:sldMk cId="2680092660" sldId="746"/>
        </pc:sldMkLst>
        <pc:graphicFrameChg chg="mod">
          <ac:chgData name="Jen Choi" userId="465d3fa6-3cb8-4078-93f1-e29079db7d40" providerId="ADAL" clId="{F17A16E1-E520-084F-B3B6-A8C6FC89A995}" dt="2021-03-11T21:19:49.736" v="0"/>
          <ac:graphicFrameMkLst>
            <pc:docMk/>
            <pc:sldMk cId="2680092660" sldId="746"/>
            <ac:graphicFrameMk id="3" creationId="{3ED9C91F-7058-2B42-996F-669CE53E0C9A}"/>
          </ac:graphicFrameMkLst>
        </pc:graphicFrameChg>
      </pc:sldChg>
      <pc:sldMasterChg chg="delSldLayout">
        <pc:chgData name="Jen Choi" userId="465d3fa6-3cb8-4078-93f1-e29079db7d40" providerId="ADAL" clId="{F17A16E1-E520-084F-B3B6-A8C6FC89A995}" dt="2021-03-11T21:20:09.647" v="1" actId="2696"/>
        <pc:sldMasterMkLst>
          <pc:docMk/>
          <pc:sldMasterMk cId="3406188475" sldId="2147483660"/>
        </pc:sldMasterMkLst>
        <pc:sldLayoutChg chg="del">
          <pc:chgData name="Jen Choi" userId="465d3fa6-3cb8-4078-93f1-e29079db7d40" providerId="ADAL" clId="{F17A16E1-E520-084F-B3B6-A8C6FC89A995}" dt="2021-03-11T21:20:09.647" v="1" actId="2696"/>
          <pc:sldLayoutMkLst>
            <pc:docMk/>
            <pc:sldMasterMk cId="3406188475" sldId="2147483660"/>
            <pc:sldLayoutMk cId="2812671439" sldId="214748366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2A3137-D5B2-A84D-BD68-B272F59DF4EA}" type="datetimeFigureOut">
              <a:rPr lang="en-US" smtClean="0"/>
              <a:t>4/12/21</a:t>
            </a:fld>
            <a:endParaRPr lang="en-US"/>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727DF2-AA70-9048-BACE-ED71861A92D4}" type="slidenum">
              <a:rPr lang="en-US" smtClean="0"/>
              <a:t>‹#›</a:t>
            </a:fld>
            <a:endParaRPr lang="en-US"/>
          </a:p>
        </p:txBody>
      </p:sp>
    </p:spTree>
    <p:extLst>
      <p:ext uri="{BB962C8B-B14F-4D97-AF65-F5344CB8AC3E}">
        <p14:creationId xmlns:p14="http://schemas.microsoft.com/office/powerpoint/2010/main" val="365528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97583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6CAA1B-F833-B74D-8E4B-3A6E9372A07F}"/>
              </a:ext>
            </a:extLst>
          </p:cNvPr>
          <p:cNvPicPr>
            <a:picLocks noChangeAspect="1"/>
          </p:cNvPicPr>
          <p:nvPr userDrawn="1"/>
        </p:nvPicPr>
        <p:blipFill>
          <a:blip r:embed="rId3"/>
          <a:stretch>
            <a:fillRect/>
          </a:stretch>
        </p:blipFill>
        <p:spPr>
          <a:xfrm>
            <a:off x="8041064" y="269608"/>
            <a:ext cx="1826836" cy="159086"/>
          </a:xfrm>
          <a:prstGeom prst="rect">
            <a:avLst/>
          </a:prstGeom>
        </p:spPr>
      </p:pic>
      <p:sp>
        <p:nvSpPr>
          <p:cNvPr id="8" name="TextBox 7">
            <a:extLst>
              <a:ext uri="{FF2B5EF4-FFF2-40B4-BE49-F238E27FC236}">
                <a16:creationId xmlns:a16="http://schemas.microsoft.com/office/drawing/2014/main" id="{7C536446-C962-8745-8F1A-5C1B8FF56AD6}"/>
              </a:ext>
            </a:extLst>
          </p:cNvPr>
          <p:cNvSpPr txBox="1"/>
          <p:nvPr userDrawn="1"/>
        </p:nvSpPr>
        <p:spPr>
          <a:xfrm>
            <a:off x="106162" y="7423572"/>
            <a:ext cx="1569660" cy="230832"/>
          </a:xfrm>
          <a:prstGeom prst="rect">
            <a:avLst/>
          </a:prstGeom>
          <a:noFill/>
        </p:spPr>
        <p:txBody>
          <a:bodyPr wrap="none" rtlCol="0">
            <a:spAutoFit/>
          </a:bodyPr>
          <a:lstStyle/>
          <a:p>
            <a:r>
              <a:rPr lang="en-US" sz="900" dirty="0" err="1">
                <a:latin typeface="Trade Gothic LT Pro" panose="020B0503040303020004" pitchFamily="34" charset="77"/>
                <a:cs typeface="Arial" panose="020B0604020202020204" pitchFamily="34" charset="0"/>
              </a:rPr>
              <a:t>itk.mitre.org</a:t>
            </a:r>
            <a:r>
              <a:rPr lang="en-US" sz="900" dirty="0">
                <a:latin typeface="Trade Gothic LT Pro" panose="020B0503040303020004" pitchFamily="34" charset="77"/>
                <a:cs typeface="Arial" panose="020B0604020202020204" pitchFamily="34" charset="0"/>
              </a:rPr>
              <a:t> | </a:t>
            </a:r>
            <a:r>
              <a:rPr lang="en-US" sz="900" dirty="0" err="1">
                <a:latin typeface="Trade Gothic LT Pro" panose="020B0503040303020004" pitchFamily="34" charset="77"/>
                <a:cs typeface="Arial" panose="020B0604020202020204" pitchFamily="34" charset="0"/>
              </a:rPr>
              <a:t>itk@mitre.org</a:t>
            </a:r>
            <a:endParaRPr lang="en-US" sz="900" dirty="0">
              <a:latin typeface="Trade Gothic LT Pro" panose="020B0503040303020004" pitchFamily="34" charset="77"/>
              <a:cs typeface="Arial" panose="020B0604020202020204" pitchFamily="34" charset="0"/>
            </a:endParaRPr>
          </a:p>
        </p:txBody>
      </p:sp>
      <p:sp>
        <p:nvSpPr>
          <p:cNvPr id="9" name="TextBox 8">
            <a:extLst>
              <a:ext uri="{FF2B5EF4-FFF2-40B4-BE49-F238E27FC236}">
                <a16:creationId xmlns:a16="http://schemas.microsoft.com/office/drawing/2014/main" id="{8C39EAAF-DA8C-8549-94C4-F11F8B2D3C90}"/>
              </a:ext>
            </a:extLst>
          </p:cNvPr>
          <p:cNvSpPr txBox="1"/>
          <p:nvPr userDrawn="1"/>
        </p:nvSpPr>
        <p:spPr>
          <a:xfrm>
            <a:off x="3720705" y="7433621"/>
            <a:ext cx="6288901"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latin typeface="Trade Gothic LT Pro" panose="020B0503040303020004" pitchFamily="34" charset="77"/>
                <a:cs typeface="Arial" panose="020B0604020202020204" pitchFamily="34" charset="0"/>
              </a:rPr>
              <a:t>© 2021 The MITRE Corporation. All rights reserved. Approved for public release. Distribution unlimited PR_20-01469-8.</a:t>
            </a:r>
          </a:p>
        </p:txBody>
      </p:sp>
      <p:sp>
        <p:nvSpPr>
          <p:cNvPr id="10" name="TextBox 9">
            <a:extLst>
              <a:ext uri="{FF2B5EF4-FFF2-40B4-BE49-F238E27FC236}">
                <a16:creationId xmlns:a16="http://schemas.microsoft.com/office/drawing/2014/main" id="{68B56AE4-6908-424A-A466-7CC4B2E5EF28}"/>
              </a:ext>
            </a:extLst>
          </p:cNvPr>
          <p:cNvSpPr txBox="1"/>
          <p:nvPr userDrawn="1"/>
        </p:nvSpPr>
        <p:spPr>
          <a:xfrm>
            <a:off x="1792729" y="7433621"/>
            <a:ext cx="1877437" cy="230832"/>
          </a:xfrm>
          <a:prstGeom prst="rect">
            <a:avLst/>
          </a:prstGeom>
          <a:noFill/>
        </p:spPr>
        <p:txBody>
          <a:bodyPr wrap="none" rtlCol="0">
            <a:spAutoFit/>
          </a:bodyPr>
          <a:lstStyle/>
          <a:p>
            <a:pPr algn="ctr"/>
            <a:r>
              <a:rPr lang="en-US" sz="900" dirty="0">
                <a:latin typeface="Trade Gothic LT Pro" panose="020B0503040303020004" pitchFamily="34" charset="77"/>
                <a:cs typeface="Arial" panose="020B0604020202020204" pitchFamily="34" charset="0"/>
              </a:rPr>
              <a:t>Stakeholder Identification Canvas</a:t>
            </a:r>
          </a:p>
        </p:txBody>
      </p:sp>
    </p:spTree>
    <p:extLst>
      <p:ext uri="{BB962C8B-B14F-4D97-AF65-F5344CB8AC3E}">
        <p14:creationId xmlns:p14="http://schemas.microsoft.com/office/powerpoint/2010/main" val="3406188475"/>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1005840" rtl="0" eaLnBrk="1" latinLnBrk="0" hangingPunct="1">
        <a:lnSpc>
          <a:spcPct val="90000"/>
        </a:lnSpc>
        <a:spcBef>
          <a:spcPct val="0"/>
        </a:spcBef>
        <a:buNone/>
        <a:defRPr sz="4840" kern="1200">
          <a:solidFill>
            <a:schemeClr val="tx1"/>
          </a:solidFill>
          <a:latin typeface="Arial" panose="020B0604020202020204" pitchFamily="34" charset="0"/>
          <a:ea typeface="+mj-ea"/>
          <a:cs typeface="Arial" panose="020B0604020202020204" pitchFamily="34" charset="0"/>
        </a:defRPr>
      </a:lvl1pPr>
    </p:titleStyle>
    <p:body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Arial" panose="020B0604020202020204" pitchFamily="34" charset="0"/>
          <a:ea typeface="+mn-ea"/>
          <a:cs typeface="Arial" panose="020B0604020202020204" pitchFamily="34" charset="0"/>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Arial" panose="020B0604020202020204" pitchFamily="34" charset="0"/>
          <a:ea typeface="+mn-ea"/>
          <a:cs typeface="Arial" panose="020B0604020202020204" pitchFamily="34" charset="0"/>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Arial" panose="020B0604020202020204" pitchFamily="34" charset="0"/>
          <a:ea typeface="+mn-ea"/>
          <a:cs typeface="Arial" panose="020B0604020202020204" pitchFamily="34" charset="0"/>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Arial" panose="020B0604020202020204" pitchFamily="34" charset="0"/>
          <a:ea typeface="+mn-ea"/>
          <a:cs typeface="Arial" panose="020B0604020202020204" pitchFamily="34" charset="0"/>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5DC8E814-7E17-49FE-BD77-9000A7673B8F}"/>
              </a:ext>
            </a:extLst>
          </p:cNvPr>
          <p:cNvCxnSpPr>
            <a:cxnSpLocks/>
          </p:cNvCxnSpPr>
          <p:nvPr/>
        </p:nvCxnSpPr>
        <p:spPr>
          <a:xfrm>
            <a:off x="6118392" y="3497852"/>
            <a:ext cx="0" cy="299720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7EF34A23-D545-48CF-A5CB-E589AEB32FA9}"/>
              </a:ext>
            </a:extLst>
          </p:cNvPr>
          <p:cNvSpPr/>
          <p:nvPr/>
        </p:nvSpPr>
        <p:spPr>
          <a:xfrm>
            <a:off x="190500" y="543232"/>
            <a:ext cx="9677400" cy="6806258"/>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87B7CB8-2177-4F1F-9EDA-DCE91CFD75EF}"/>
              </a:ext>
            </a:extLst>
          </p:cNvPr>
          <p:cNvSpPr txBox="1"/>
          <p:nvPr/>
        </p:nvSpPr>
        <p:spPr>
          <a:xfrm>
            <a:off x="103987" y="103554"/>
            <a:ext cx="5298245" cy="461665"/>
          </a:xfrm>
          <a:prstGeom prst="rect">
            <a:avLst/>
          </a:prstGeom>
          <a:noFill/>
          <a:ln>
            <a:noFill/>
          </a:ln>
        </p:spPr>
        <p:txBody>
          <a:bodyPr wrap="none" rtlCol="0">
            <a:spAutoFit/>
          </a:bodyPr>
          <a:lstStyle/>
          <a:p>
            <a:r>
              <a:rPr lang="en-US" sz="2400" dirty="0">
                <a:solidFill>
                  <a:srgbClr val="00B0F0"/>
                </a:solidFill>
                <a:latin typeface="Trade Gothic LT Pro Bold" panose="020B0503040303020004" pitchFamily="34" charset="77"/>
              </a:rPr>
              <a:t>STAKEHOLDER IDENTIFICATION CANVAS</a:t>
            </a:r>
            <a:endParaRPr lang="en-US" dirty="0">
              <a:solidFill>
                <a:schemeClr val="tx2"/>
              </a:solidFill>
              <a:latin typeface="Trade Gothic LT Pro Bold" panose="020B0503040303020004" pitchFamily="34" charset="77"/>
            </a:endParaRPr>
          </a:p>
        </p:txBody>
      </p:sp>
      <p:sp>
        <p:nvSpPr>
          <p:cNvPr id="4" name="TextBox 3">
            <a:extLst>
              <a:ext uri="{FF2B5EF4-FFF2-40B4-BE49-F238E27FC236}">
                <a16:creationId xmlns:a16="http://schemas.microsoft.com/office/drawing/2014/main" id="{C5F3430A-A819-4019-8875-19BE93D1DBFB}"/>
              </a:ext>
            </a:extLst>
          </p:cNvPr>
          <p:cNvSpPr txBox="1"/>
          <p:nvPr/>
        </p:nvSpPr>
        <p:spPr>
          <a:xfrm>
            <a:off x="184632" y="599841"/>
            <a:ext cx="2149948" cy="276999"/>
          </a:xfrm>
          <a:prstGeom prst="rect">
            <a:avLst/>
          </a:prstGeom>
          <a:noFill/>
        </p:spPr>
        <p:txBody>
          <a:bodyPr wrap="none" rtlCol="0">
            <a:spAutoFit/>
          </a:bodyPr>
          <a:lstStyle/>
          <a:p>
            <a:r>
              <a:rPr lang="en-US" sz="12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Who are all the stakeholders?</a:t>
            </a:r>
          </a:p>
        </p:txBody>
      </p:sp>
      <p:sp>
        <p:nvSpPr>
          <p:cNvPr id="5" name="TextBox 4">
            <a:extLst>
              <a:ext uri="{FF2B5EF4-FFF2-40B4-BE49-F238E27FC236}">
                <a16:creationId xmlns:a16="http://schemas.microsoft.com/office/drawing/2014/main" id="{4A52A2F9-D78E-4452-ACD2-95CAF47B4311}"/>
              </a:ext>
            </a:extLst>
          </p:cNvPr>
          <p:cNvSpPr txBox="1"/>
          <p:nvPr/>
        </p:nvSpPr>
        <p:spPr>
          <a:xfrm>
            <a:off x="184633" y="803740"/>
            <a:ext cx="2143792" cy="707886"/>
          </a:xfrm>
          <a:prstGeom prst="rect">
            <a:avLst/>
          </a:prstGeom>
          <a:noFill/>
        </p:spPr>
        <p:txBody>
          <a:bodyPr wrap="square" rtlCol="0">
            <a:spAutoFit/>
          </a:bodyPr>
          <a:lstStyle/>
          <a:p>
            <a:pPr defTabSz="295854">
              <a:defRPr/>
            </a:pPr>
            <a:r>
              <a:rPr lang="en-US" sz="1000" i="1" dirty="0">
                <a:latin typeface="Trade Gothic LT Pro" panose="020B0503040303020004" pitchFamily="34" charset="0"/>
              </a:rPr>
              <a:t>Individuals, organizations, or groups who are involved with, can influence, or will be impacted by the effort</a:t>
            </a:r>
          </a:p>
        </p:txBody>
      </p:sp>
      <p:cxnSp>
        <p:nvCxnSpPr>
          <p:cNvPr id="6" name="Straight Connector 5">
            <a:extLst>
              <a:ext uri="{FF2B5EF4-FFF2-40B4-BE49-F238E27FC236}">
                <a16:creationId xmlns:a16="http://schemas.microsoft.com/office/drawing/2014/main" id="{A791AD51-9D92-489F-B782-DC18008BF1DF}"/>
              </a:ext>
            </a:extLst>
          </p:cNvPr>
          <p:cNvCxnSpPr>
            <a:cxnSpLocks/>
          </p:cNvCxnSpPr>
          <p:nvPr/>
        </p:nvCxnSpPr>
        <p:spPr>
          <a:xfrm>
            <a:off x="2328425" y="543232"/>
            <a:ext cx="0" cy="595182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8397AED-2D22-4FC2-AB6F-8758A88AF9F2}"/>
              </a:ext>
            </a:extLst>
          </p:cNvPr>
          <p:cNvSpPr txBox="1"/>
          <p:nvPr/>
        </p:nvSpPr>
        <p:spPr>
          <a:xfrm>
            <a:off x="2971306" y="599840"/>
            <a:ext cx="817853" cy="276999"/>
          </a:xfrm>
          <a:prstGeom prst="rect">
            <a:avLst/>
          </a:prstGeom>
          <a:noFill/>
        </p:spPr>
        <p:txBody>
          <a:bodyPr wrap="none" rtlCol="0">
            <a:spAutoFit/>
          </a:bodyPr>
          <a:lstStyle/>
          <a:p>
            <a:r>
              <a:rPr lang="en-US" sz="12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Customer</a:t>
            </a:r>
          </a:p>
        </p:txBody>
      </p:sp>
      <p:sp>
        <p:nvSpPr>
          <p:cNvPr id="8" name="TextBox 7">
            <a:extLst>
              <a:ext uri="{FF2B5EF4-FFF2-40B4-BE49-F238E27FC236}">
                <a16:creationId xmlns:a16="http://schemas.microsoft.com/office/drawing/2014/main" id="{5762BE59-784D-4B41-A55B-2EDEF2EBD7F4}"/>
              </a:ext>
            </a:extLst>
          </p:cNvPr>
          <p:cNvSpPr txBox="1"/>
          <p:nvPr/>
        </p:nvSpPr>
        <p:spPr>
          <a:xfrm>
            <a:off x="5679809" y="599840"/>
            <a:ext cx="859531" cy="276999"/>
          </a:xfrm>
          <a:prstGeom prst="rect">
            <a:avLst/>
          </a:prstGeom>
          <a:noFill/>
        </p:spPr>
        <p:txBody>
          <a:bodyPr wrap="none" rtlCol="0">
            <a:spAutoFit/>
          </a:bodyPr>
          <a:lstStyle/>
          <a:p>
            <a:r>
              <a:rPr lang="en-US" sz="12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Connector</a:t>
            </a:r>
          </a:p>
        </p:txBody>
      </p:sp>
      <p:sp>
        <p:nvSpPr>
          <p:cNvPr id="9" name="TextBox 8">
            <a:extLst>
              <a:ext uri="{FF2B5EF4-FFF2-40B4-BE49-F238E27FC236}">
                <a16:creationId xmlns:a16="http://schemas.microsoft.com/office/drawing/2014/main" id="{0CD25AD6-4905-4832-9A4F-64568C3A3445}"/>
              </a:ext>
            </a:extLst>
          </p:cNvPr>
          <p:cNvSpPr txBox="1"/>
          <p:nvPr/>
        </p:nvSpPr>
        <p:spPr>
          <a:xfrm>
            <a:off x="8139752" y="584527"/>
            <a:ext cx="1388522" cy="276999"/>
          </a:xfrm>
          <a:prstGeom prst="rect">
            <a:avLst/>
          </a:prstGeom>
          <a:noFill/>
        </p:spPr>
        <p:txBody>
          <a:bodyPr wrap="none" rtlCol="0">
            <a:spAutoFit/>
          </a:bodyPr>
          <a:lstStyle/>
          <a:p>
            <a:r>
              <a:rPr lang="en-US" sz="12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Audience of focus</a:t>
            </a:r>
          </a:p>
        </p:txBody>
      </p:sp>
      <p:sp>
        <p:nvSpPr>
          <p:cNvPr id="10" name="Rectangle 9">
            <a:extLst>
              <a:ext uri="{FF2B5EF4-FFF2-40B4-BE49-F238E27FC236}">
                <a16:creationId xmlns:a16="http://schemas.microsoft.com/office/drawing/2014/main" id="{378FD01B-82A7-49AE-A0DC-A5702760B14D}"/>
              </a:ext>
            </a:extLst>
          </p:cNvPr>
          <p:cNvSpPr/>
          <p:nvPr/>
        </p:nvSpPr>
        <p:spPr>
          <a:xfrm>
            <a:off x="2340535" y="803740"/>
            <a:ext cx="2036135" cy="246221"/>
          </a:xfrm>
          <a:prstGeom prst="rect">
            <a:avLst/>
          </a:prstGeom>
        </p:spPr>
        <p:txBody>
          <a:bodyPr wrap="none">
            <a:spAutoFit/>
          </a:bodyPr>
          <a:lstStyle/>
          <a:p>
            <a:pPr algn="ctr" defTabSz="295854">
              <a:defRPr/>
            </a:pPr>
            <a:r>
              <a:rPr lang="en-US" sz="1000" i="1" dirty="0">
                <a:latin typeface="Trade Gothic LT Pro" panose="020B0503040303020004" pitchFamily="34" charset="0"/>
              </a:rPr>
              <a:t>Who is asking us to do this work?</a:t>
            </a:r>
          </a:p>
        </p:txBody>
      </p:sp>
      <p:sp>
        <p:nvSpPr>
          <p:cNvPr id="11" name="Rectangle 10">
            <a:extLst>
              <a:ext uri="{FF2B5EF4-FFF2-40B4-BE49-F238E27FC236}">
                <a16:creationId xmlns:a16="http://schemas.microsoft.com/office/drawing/2014/main" id="{07A4D88D-8043-4A22-A9D7-E8BC87949295}"/>
              </a:ext>
            </a:extLst>
          </p:cNvPr>
          <p:cNvSpPr/>
          <p:nvPr/>
        </p:nvSpPr>
        <p:spPr>
          <a:xfrm>
            <a:off x="4454602" y="807182"/>
            <a:ext cx="3297698" cy="246221"/>
          </a:xfrm>
          <a:prstGeom prst="rect">
            <a:avLst/>
          </a:prstGeom>
        </p:spPr>
        <p:txBody>
          <a:bodyPr wrap="none">
            <a:spAutoFit/>
          </a:bodyPr>
          <a:lstStyle/>
          <a:p>
            <a:pPr algn="ctr" defTabSz="295854">
              <a:defRPr/>
            </a:pPr>
            <a:r>
              <a:rPr lang="en-US" sz="1000" i="1" dirty="0">
                <a:latin typeface="Trade Gothic LT Pro" panose="020B0503040303020004" pitchFamily="34" charset="0"/>
              </a:rPr>
              <a:t>Who could help us serve / reach the audience of focus? </a:t>
            </a:r>
          </a:p>
        </p:txBody>
      </p:sp>
      <p:sp>
        <p:nvSpPr>
          <p:cNvPr id="12" name="Rectangle 11">
            <a:extLst>
              <a:ext uri="{FF2B5EF4-FFF2-40B4-BE49-F238E27FC236}">
                <a16:creationId xmlns:a16="http://schemas.microsoft.com/office/drawing/2014/main" id="{8D1674FA-EE82-4175-93D5-8C4C3BBCCA25}"/>
              </a:ext>
            </a:extLst>
          </p:cNvPr>
          <p:cNvSpPr/>
          <p:nvPr/>
        </p:nvSpPr>
        <p:spPr>
          <a:xfrm>
            <a:off x="8158289" y="803740"/>
            <a:ext cx="1313180" cy="246221"/>
          </a:xfrm>
          <a:prstGeom prst="rect">
            <a:avLst/>
          </a:prstGeom>
        </p:spPr>
        <p:txBody>
          <a:bodyPr wrap="none">
            <a:spAutoFit/>
          </a:bodyPr>
          <a:lstStyle/>
          <a:p>
            <a:pPr algn="ctr" defTabSz="295854">
              <a:defRPr/>
            </a:pPr>
            <a:r>
              <a:rPr lang="en-US" sz="1000" i="1" dirty="0">
                <a:latin typeface="Trade Gothic LT Pro" panose="020B0503040303020004" pitchFamily="34" charset="0"/>
              </a:rPr>
              <a:t>Who are we serving?</a:t>
            </a:r>
          </a:p>
        </p:txBody>
      </p:sp>
      <p:sp>
        <p:nvSpPr>
          <p:cNvPr id="13" name="Rectangle 12">
            <a:extLst>
              <a:ext uri="{FF2B5EF4-FFF2-40B4-BE49-F238E27FC236}">
                <a16:creationId xmlns:a16="http://schemas.microsoft.com/office/drawing/2014/main" id="{DA5B9054-E9E7-42DC-BB72-F25F219D6FFC}"/>
              </a:ext>
            </a:extLst>
          </p:cNvPr>
          <p:cNvSpPr/>
          <p:nvPr/>
        </p:nvSpPr>
        <p:spPr>
          <a:xfrm>
            <a:off x="4555605" y="1770912"/>
            <a:ext cx="3095719" cy="400110"/>
          </a:xfrm>
          <a:prstGeom prst="rect">
            <a:avLst/>
          </a:prstGeom>
        </p:spPr>
        <p:txBody>
          <a:bodyPr wrap="none">
            <a:spAutoFit/>
          </a:bodyPr>
          <a:lstStyle/>
          <a:p>
            <a:pPr algn="ctr" defTabSz="295854">
              <a:defRPr/>
            </a:pPr>
            <a:r>
              <a:rPr lang="en-US" sz="1000" i="1" dirty="0">
                <a:latin typeface="Trade Gothic LT Pro" panose="020B0503040303020004" pitchFamily="34" charset="0"/>
              </a:rPr>
              <a:t>Who are the gate keepers? </a:t>
            </a:r>
          </a:p>
          <a:p>
            <a:pPr algn="ctr" defTabSz="295854">
              <a:defRPr/>
            </a:pPr>
            <a:r>
              <a:rPr lang="en-US" sz="1000" i="1" dirty="0">
                <a:latin typeface="Trade Gothic LT Pro" panose="020B0503040303020004" pitchFamily="34" charset="0"/>
              </a:rPr>
              <a:t>Who might provide permission / resources / access? </a:t>
            </a:r>
          </a:p>
        </p:txBody>
      </p:sp>
      <p:sp>
        <p:nvSpPr>
          <p:cNvPr id="14" name="TextBox 13">
            <a:extLst>
              <a:ext uri="{FF2B5EF4-FFF2-40B4-BE49-F238E27FC236}">
                <a16:creationId xmlns:a16="http://schemas.microsoft.com/office/drawing/2014/main" id="{822C30EE-A2BB-4875-90B7-7C2EC4DC32D0}"/>
              </a:ext>
            </a:extLst>
          </p:cNvPr>
          <p:cNvSpPr txBox="1"/>
          <p:nvPr/>
        </p:nvSpPr>
        <p:spPr>
          <a:xfrm>
            <a:off x="4006095" y="2885308"/>
            <a:ext cx="4546437" cy="553998"/>
          </a:xfrm>
          <a:prstGeom prst="rect">
            <a:avLst/>
          </a:prstGeom>
          <a:noFill/>
        </p:spPr>
        <p:txBody>
          <a:bodyPr wrap="none" rtlCol="0">
            <a:spAutoFit/>
          </a:bodyPr>
          <a:lstStyle/>
          <a:p>
            <a:r>
              <a:rPr lang="en-US" sz="1000" b="1" dirty="0">
                <a:solidFill>
                  <a:srgbClr val="6C6C6C"/>
                </a:solidFill>
                <a:latin typeface="Trade Gothic LT Pro Bold" panose="020B0503040303020004" pitchFamily="34" charset="0"/>
              </a:rPr>
              <a:t>Tip! </a:t>
            </a:r>
            <a:r>
              <a:rPr lang="en-US" sz="1000" dirty="0">
                <a:solidFill>
                  <a:srgbClr val="6C6C6C"/>
                </a:solidFill>
                <a:latin typeface="Trade Gothic LT Pro" panose="020B0503040303020004" pitchFamily="34" charset="0"/>
              </a:rPr>
              <a:t>Customers may also be Connectors or Audience of Focus, and vice versa. </a:t>
            </a:r>
          </a:p>
          <a:p>
            <a:endParaRPr lang="en-US" sz="2000" dirty="0">
              <a:latin typeface="Trade Gothic LT Pro" panose="020B0503040303020004" pitchFamily="34" charset="0"/>
            </a:endParaRPr>
          </a:p>
        </p:txBody>
      </p:sp>
      <p:cxnSp>
        <p:nvCxnSpPr>
          <p:cNvPr id="15" name="Straight Arrow Connector 14">
            <a:extLst>
              <a:ext uri="{FF2B5EF4-FFF2-40B4-BE49-F238E27FC236}">
                <a16:creationId xmlns:a16="http://schemas.microsoft.com/office/drawing/2014/main" id="{3022E101-E723-4CBD-94A8-067C7F9F1857}"/>
              </a:ext>
            </a:extLst>
          </p:cNvPr>
          <p:cNvCxnSpPr>
            <a:cxnSpLocks/>
          </p:cNvCxnSpPr>
          <p:nvPr/>
        </p:nvCxnSpPr>
        <p:spPr>
          <a:xfrm>
            <a:off x="8489977" y="2995864"/>
            <a:ext cx="649804" cy="0"/>
          </a:xfrm>
          <a:prstGeom prst="straightConnector1">
            <a:avLst/>
          </a:prstGeom>
          <a:ln w="9525">
            <a:solidFill>
              <a:srgbClr val="6C6C6C"/>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6ADD580-F751-4810-8C4A-884BC353E0F3}"/>
              </a:ext>
            </a:extLst>
          </p:cNvPr>
          <p:cNvCxnSpPr>
            <a:cxnSpLocks/>
          </p:cNvCxnSpPr>
          <p:nvPr/>
        </p:nvCxnSpPr>
        <p:spPr>
          <a:xfrm flipH="1">
            <a:off x="3397222" y="2995864"/>
            <a:ext cx="608873" cy="0"/>
          </a:xfrm>
          <a:prstGeom prst="straightConnector1">
            <a:avLst/>
          </a:prstGeom>
          <a:ln w="9525">
            <a:solidFill>
              <a:srgbClr val="6C6C6C"/>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81BD956-8CFB-4634-921B-093300FFEB20}"/>
              </a:ext>
            </a:extLst>
          </p:cNvPr>
          <p:cNvSpPr/>
          <p:nvPr/>
        </p:nvSpPr>
        <p:spPr>
          <a:xfrm>
            <a:off x="2339854" y="3286775"/>
            <a:ext cx="3778538" cy="246221"/>
          </a:xfrm>
          <a:prstGeom prst="rect">
            <a:avLst/>
          </a:prstGeom>
          <a:solidFill>
            <a:srgbClr val="0B2338"/>
          </a:solid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rade Gothic LT Pro" panose="020B0503040303020004" pitchFamily="34" charset="0"/>
              </a:rPr>
              <a:t>Build Empathy </a:t>
            </a:r>
          </a:p>
        </p:txBody>
      </p:sp>
      <p:sp>
        <p:nvSpPr>
          <p:cNvPr id="19" name="Rectangle 18">
            <a:extLst>
              <a:ext uri="{FF2B5EF4-FFF2-40B4-BE49-F238E27FC236}">
                <a16:creationId xmlns:a16="http://schemas.microsoft.com/office/drawing/2014/main" id="{2342EFDF-DE93-420F-B9E2-BB6D93B59C2C}"/>
              </a:ext>
            </a:extLst>
          </p:cNvPr>
          <p:cNvSpPr/>
          <p:nvPr/>
        </p:nvSpPr>
        <p:spPr>
          <a:xfrm>
            <a:off x="6111596" y="3286775"/>
            <a:ext cx="3752026" cy="246221"/>
          </a:xfrm>
          <a:prstGeom prst="rect">
            <a:avLst/>
          </a:prstGeom>
          <a:solidFill>
            <a:srgbClr val="005B93"/>
          </a:solid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rade Gothic LT Pro" panose="020B0503040303020004" pitchFamily="34" charset="0"/>
              </a:rPr>
              <a:t>Notice Bias &amp; Assumptions</a:t>
            </a:r>
          </a:p>
        </p:txBody>
      </p:sp>
      <p:sp>
        <p:nvSpPr>
          <p:cNvPr id="20" name="Rectangle 19">
            <a:extLst>
              <a:ext uri="{FF2B5EF4-FFF2-40B4-BE49-F238E27FC236}">
                <a16:creationId xmlns:a16="http://schemas.microsoft.com/office/drawing/2014/main" id="{D27256AD-FD40-4207-AFE3-D8D281FF00CD}"/>
              </a:ext>
            </a:extLst>
          </p:cNvPr>
          <p:cNvSpPr/>
          <p:nvPr/>
        </p:nvSpPr>
        <p:spPr>
          <a:xfrm>
            <a:off x="190500" y="6495052"/>
            <a:ext cx="9677400" cy="859048"/>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68AA421-4263-4B8D-BE13-A837D82E00F7}"/>
              </a:ext>
            </a:extLst>
          </p:cNvPr>
          <p:cNvSpPr txBox="1"/>
          <p:nvPr/>
        </p:nvSpPr>
        <p:spPr>
          <a:xfrm>
            <a:off x="2346025" y="3591542"/>
            <a:ext cx="3320140" cy="276999"/>
          </a:xfrm>
          <a:prstGeom prst="rect">
            <a:avLst/>
          </a:prstGeom>
          <a:noFill/>
        </p:spPr>
        <p:txBody>
          <a:bodyPr wrap="none" rtlCol="0">
            <a:spAutoFit/>
          </a:bodyPr>
          <a:lstStyle/>
          <a:p>
            <a:r>
              <a:rPr lang="en-US" sz="12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Who or what will benefit or be burdened? </a:t>
            </a:r>
            <a:r>
              <a:rPr lang="en-US" sz="1000" i="1" dirty="0">
                <a:latin typeface="Trade Gothic LT Pro" panose="020B0503040303020004" pitchFamily="34" charset="0"/>
              </a:rPr>
              <a:t>How? </a:t>
            </a:r>
            <a:endParaRPr lang="en-US" sz="10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endParaRPr>
          </a:p>
        </p:txBody>
      </p:sp>
      <p:sp>
        <p:nvSpPr>
          <p:cNvPr id="24" name="TextBox 23">
            <a:extLst>
              <a:ext uri="{FF2B5EF4-FFF2-40B4-BE49-F238E27FC236}">
                <a16:creationId xmlns:a16="http://schemas.microsoft.com/office/drawing/2014/main" id="{B32E1CEB-A902-48E6-9102-CF798A8EDE87}"/>
              </a:ext>
            </a:extLst>
          </p:cNvPr>
          <p:cNvSpPr txBox="1"/>
          <p:nvPr/>
        </p:nvSpPr>
        <p:spPr>
          <a:xfrm>
            <a:off x="2332227" y="5059895"/>
            <a:ext cx="3739953" cy="400110"/>
          </a:xfrm>
          <a:prstGeom prst="rect">
            <a:avLst/>
          </a:prstGeom>
          <a:noFill/>
        </p:spPr>
        <p:txBody>
          <a:bodyPr wrap="square" rtlCol="0">
            <a:spAutoFit/>
          </a:bodyPr>
          <a:lstStyle/>
          <a:p>
            <a:r>
              <a:rPr lang="en-US" sz="1000" i="1" dirty="0">
                <a:latin typeface="Trade Gothic LT Pro" panose="020B0503040303020004" pitchFamily="34" charset="0"/>
              </a:rPr>
              <a:t>Who or what has (historically) not been involved and needs to be?</a:t>
            </a:r>
          </a:p>
        </p:txBody>
      </p:sp>
      <p:sp>
        <p:nvSpPr>
          <p:cNvPr id="25" name="TextBox 24">
            <a:extLst>
              <a:ext uri="{FF2B5EF4-FFF2-40B4-BE49-F238E27FC236}">
                <a16:creationId xmlns:a16="http://schemas.microsoft.com/office/drawing/2014/main" id="{C9071F4F-00CC-4917-B480-912D3C53E095}"/>
              </a:ext>
            </a:extLst>
          </p:cNvPr>
          <p:cNvSpPr txBox="1"/>
          <p:nvPr/>
        </p:nvSpPr>
        <p:spPr>
          <a:xfrm>
            <a:off x="6146500" y="3591542"/>
            <a:ext cx="3699404" cy="430887"/>
          </a:xfrm>
          <a:prstGeom prst="rect">
            <a:avLst/>
          </a:prstGeom>
          <a:noFill/>
        </p:spPr>
        <p:txBody>
          <a:bodyPr wrap="square" rtlCol="0">
            <a:spAutoFit/>
          </a:bodyPr>
          <a:lstStyle/>
          <a:p>
            <a:pPr defTabSz="295854">
              <a:defRPr/>
            </a:pPr>
            <a:r>
              <a:rPr lang="en-US" sz="12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Who may have an alternative perspective? </a:t>
            </a:r>
            <a:r>
              <a:rPr lang="en-US" sz="1000" i="1" dirty="0">
                <a:latin typeface="Trade Gothic LT Pro" panose="020B0503040303020004" pitchFamily="34" charset="0"/>
              </a:rPr>
              <a:t>How might they help us think differently?</a:t>
            </a:r>
          </a:p>
        </p:txBody>
      </p:sp>
      <p:sp>
        <p:nvSpPr>
          <p:cNvPr id="26" name="TextBox 25">
            <a:extLst>
              <a:ext uri="{FF2B5EF4-FFF2-40B4-BE49-F238E27FC236}">
                <a16:creationId xmlns:a16="http://schemas.microsoft.com/office/drawing/2014/main" id="{1524BF87-298A-47DE-B752-EB8470024224}"/>
              </a:ext>
            </a:extLst>
          </p:cNvPr>
          <p:cNvSpPr txBox="1"/>
          <p:nvPr/>
        </p:nvSpPr>
        <p:spPr>
          <a:xfrm>
            <a:off x="6105955" y="4484289"/>
            <a:ext cx="3739951" cy="615553"/>
          </a:xfrm>
          <a:prstGeom prst="rect">
            <a:avLst/>
          </a:prstGeom>
          <a:noFill/>
        </p:spPr>
        <p:txBody>
          <a:bodyPr wrap="square" rtlCol="0">
            <a:spAutoFit/>
          </a:bodyPr>
          <a:lstStyle/>
          <a:p>
            <a:pPr defTabSz="295854">
              <a:defRPr/>
            </a:pPr>
            <a:r>
              <a:rPr lang="en-US" sz="12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Have we identified a comprehensive and representative set of stakeholders? </a:t>
            </a:r>
            <a:r>
              <a:rPr lang="en-US" sz="1000" i="1" dirty="0">
                <a:latin typeface="Trade Gothic LT Pro" panose="020B0503040303020004" pitchFamily="34" charset="0"/>
              </a:rPr>
              <a:t>How do we know? If not, how might we find out?</a:t>
            </a:r>
            <a:endParaRPr lang="en-US" sz="1200" i="1" dirty="0">
              <a:latin typeface="Trade Gothic LT Pro" panose="020B0503040303020004" pitchFamily="34" charset="0"/>
            </a:endParaRPr>
          </a:p>
        </p:txBody>
      </p:sp>
      <p:sp>
        <p:nvSpPr>
          <p:cNvPr id="27" name="TextBox 26">
            <a:extLst>
              <a:ext uri="{FF2B5EF4-FFF2-40B4-BE49-F238E27FC236}">
                <a16:creationId xmlns:a16="http://schemas.microsoft.com/office/drawing/2014/main" id="{711B9C1B-78BC-47EF-BB51-350C690CA693}"/>
              </a:ext>
            </a:extLst>
          </p:cNvPr>
          <p:cNvSpPr txBox="1"/>
          <p:nvPr/>
        </p:nvSpPr>
        <p:spPr>
          <a:xfrm>
            <a:off x="2327594" y="4885744"/>
            <a:ext cx="1846980" cy="276999"/>
          </a:xfrm>
          <a:prstGeom prst="rect">
            <a:avLst/>
          </a:prstGeom>
          <a:noFill/>
        </p:spPr>
        <p:txBody>
          <a:bodyPr wrap="none" rtlCol="0">
            <a:spAutoFit/>
          </a:bodyPr>
          <a:lstStyle/>
          <a:p>
            <a:r>
              <a:rPr lang="en-US" sz="12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Who or what is missing? </a:t>
            </a:r>
            <a:endParaRPr lang="en-US" sz="10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endParaRPr>
          </a:p>
        </p:txBody>
      </p:sp>
      <p:sp>
        <p:nvSpPr>
          <p:cNvPr id="28" name="TextBox 27">
            <a:extLst>
              <a:ext uri="{FF2B5EF4-FFF2-40B4-BE49-F238E27FC236}">
                <a16:creationId xmlns:a16="http://schemas.microsoft.com/office/drawing/2014/main" id="{F88706DB-99A5-41A4-8128-91BE9ECDA077}"/>
              </a:ext>
            </a:extLst>
          </p:cNvPr>
          <p:cNvSpPr txBox="1"/>
          <p:nvPr/>
        </p:nvSpPr>
        <p:spPr>
          <a:xfrm>
            <a:off x="6105955" y="5589988"/>
            <a:ext cx="3739951" cy="461665"/>
          </a:xfrm>
          <a:prstGeom prst="rect">
            <a:avLst/>
          </a:prstGeom>
          <a:noFill/>
        </p:spPr>
        <p:txBody>
          <a:bodyPr wrap="square" rtlCol="0">
            <a:spAutoFit/>
          </a:bodyPr>
          <a:lstStyle/>
          <a:p>
            <a:pPr defTabSz="295854">
              <a:defRPr/>
            </a:pPr>
            <a:r>
              <a:rPr lang="en-US" sz="12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Is our team representative of who we’re trying to serve? </a:t>
            </a:r>
            <a:r>
              <a:rPr lang="en-US" sz="1000" i="1" dirty="0">
                <a:latin typeface="Trade Gothic LT Pro" panose="020B0503040303020004" pitchFamily="34" charset="0"/>
              </a:rPr>
              <a:t>How might that impact our approach?</a:t>
            </a:r>
            <a:r>
              <a:rPr lang="en-US" sz="10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 </a:t>
            </a:r>
            <a:endParaRPr lang="en-US" sz="1000" i="1"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endParaRPr>
          </a:p>
        </p:txBody>
      </p:sp>
      <p:sp>
        <p:nvSpPr>
          <p:cNvPr id="29" name="TextBox 28">
            <a:extLst>
              <a:ext uri="{FF2B5EF4-FFF2-40B4-BE49-F238E27FC236}">
                <a16:creationId xmlns:a16="http://schemas.microsoft.com/office/drawing/2014/main" id="{DC2C957B-88D1-4ECF-AFC3-0D615EBD8DE5}"/>
              </a:ext>
            </a:extLst>
          </p:cNvPr>
          <p:cNvSpPr txBox="1"/>
          <p:nvPr/>
        </p:nvSpPr>
        <p:spPr>
          <a:xfrm>
            <a:off x="208854" y="5135728"/>
            <a:ext cx="2131682" cy="1323439"/>
          </a:xfrm>
          <a:prstGeom prst="rect">
            <a:avLst/>
          </a:prstGeom>
          <a:noFill/>
        </p:spPr>
        <p:txBody>
          <a:bodyPr wrap="square" rtlCol="0">
            <a:spAutoFit/>
          </a:bodyPr>
          <a:lstStyle/>
          <a:p>
            <a:r>
              <a:rPr lang="en-US" sz="1000" i="1" dirty="0">
                <a:latin typeface="Trade Gothic LT Pro" panose="020B0503040303020004" pitchFamily="34" charset="0"/>
              </a:rPr>
              <a:t>Now look through the list and categorize into like groups. If you’re stuck, try using:</a:t>
            </a:r>
          </a:p>
          <a:p>
            <a:r>
              <a:rPr lang="en-US" sz="1000" i="1" dirty="0">
                <a:latin typeface="Trade Gothic LT Pro" panose="020B0503040303020004" pitchFamily="34" charset="0"/>
              </a:rPr>
              <a:t>R - stakeholders who give resources </a:t>
            </a:r>
          </a:p>
          <a:p>
            <a:r>
              <a:rPr lang="en-US" sz="1000" i="1" dirty="0">
                <a:latin typeface="Trade Gothic LT Pro" panose="020B0503040303020004" pitchFamily="34" charset="0"/>
              </a:rPr>
              <a:t>P - stakeholders who give permission</a:t>
            </a:r>
          </a:p>
          <a:p>
            <a:r>
              <a:rPr lang="en-US" sz="1000" i="1" dirty="0">
                <a:latin typeface="Trade Gothic LT Pro" panose="020B0503040303020004" pitchFamily="34" charset="0"/>
              </a:rPr>
              <a:t>D - decision-makers</a:t>
            </a:r>
          </a:p>
        </p:txBody>
      </p:sp>
      <p:sp>
        <p:nvSpPr>
          <p:cNvPr id="30" name="TextBox 29">
            <a:extLst>
              <a:ext uri="{FF2B5EF4-FFF2-40B4-BE49-F238E27FC236}">
                <a16:creationId xmlns:a16="http://schemas.microsoft.com/office/drawing/2014/main" id="{AEE5BD8A-3E2A-4470-8155-A41662F76F3F}"/>
              </a:ext>
            </a:extLst>
          </p:cNvPr>
          <p:cNvSpPr txBox="1"/>
          <p:nvPr/>
        </p:nvSpPr>
        <p:spPr>
          <a:xfrm>
            <a:off x="172901" y="6518808"/>
            <a:ext cx="2798406" cy="461665"/>
          </a:xfrm>
          <a:prstGeom prst="rect">
            <a:avLst/>
          </a:prstGeom>
          <a:noFill/>
        </p:spPr>
        <p:txBody>
          <a:bodyPr wrap="square" rtlCol="0">
            <a:spAutoFit/>
          </a:bodyPr>
          <a:lstStyle/>
          <a:p>
            <a:r>
              <a:rPr lang="en-US" sz="12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Which stakeholders do we need to understand better?</a:t>
            </a:r>
          </a:p>
        </p:txBody>
      </p:sp>
      <p:sp>
        <p:nvSpPr>
          <p:cNvPr id="31" name="TextBox 30">
            <a:extLst>
              <a:ext uri="{FF2B5EF4-FFF2-40B4-BE49-F238E27FC236}">
                <a16:creationId xmlns:a16="http://schemas.microsoft.com/office/drawing/2014/main" id="{82ED61EA-A388-4879-8D6C-08AE965FBB5B}"/>
              </a:ext>
            </a:extLst>
          </p:cNvPr>
          <p:cNvSpPr txBox="1"/>
          <p:nvPr/>
        </p:nvSpPr>
        <p:spPr>
          <a:xfrm>
            <a:off x="1486408" y="6724971"/>
            <a:ext cx="1245362" cy="246221"/>
          </a:xfrm>
          <a:prstGeom prst="rect">
            <a:avLst/>
          </a:prstGeom>
          <a:noFill/>
        </p:spPr>
        <p:txBody>
          <a:bodyPr wrap="square" rtlCol="0">
            <a:spAutoFit/>
          </a:bodyPr>
          <a:lstStyle/>
          <a:p>
            <a:r>
              <a:rPr lang="en-US" sz="1000" i="1" dirty="0">
                <a:latin typeface="Trade Gothic LT Pro" panose="020B0503040303020004" pitchFamily="34" charset="0"/>
              </a:rPr>
              <a:t>Focus on 2 or 3.</a:t>
            </a:r>
          </a:p>
        </p:txBody>
      </p:sp>
      <p:sp>
        <p:nvSpPr>
          <p:cNvPr id="32" name="TextBox 31">
            <a:extLst>
              <a:ext uri="{FF2B5EF4-FFF2-40B4-BE49-F238E27FC236}">
                <a16:creationId xmlns:a16="http://schemas.microsoft.com/office/drawing/2014/main" id="{298DADBD-5251-49B6-ACEA-4D40E6481F61}"/>
              </a:ext>
            </a:extLst>
          </p:cNvPr>
          <p:cNvSpPr txBox="1"/>
          <p:nvPr/>
        </p:nvSpPr>
        <p:spPr>
          <a:xfrm>
            <a:off x="5811403" y="6518808"/>
            <a:ext cx="1455874" cy="276999"/>
          </a:xfrm>
          <a:prstGeom prst="rect">
            <a:avLst/>
          </a:prstGeom>
          <a:noFill/>
        </p:spPr>
        <p:txBody>
          <a:bodyPr wrap="square" rtlCol="0">
            <a:spAutoFit/>
          </a:bodyPr>
          <a:lstStyle/>
          <a:p>
            <a:r>
              <a:rPr lang="en-US" sz="12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Next steps:</a:t>
            </a:r>
          </a:p>
        </p:txBody>
      </p:sp>
      <p:cxnSp>
        <p:nvCxnSpPr>
          <p:cNvPr id="33" name="Straight Connector 32">
            <a:extLst>
              <a:ext uri="{FF2B5EF4-FFF2-40B4-BE49-F238E27FC236}">
                <a16:creationId xmlns:a16="http://schemas.microsoft.com/office/drawing/2014/main" id="{16CAC768-E3C4-4EDB-B84D-EE16C635B5E2}"/>
              </a:ext>
            </a:extLst>
          </p:cNvPr>
          <p:cNvCxnSpPr>
            <a:cxnSpLocks/>
          </p:cNvCxnSpPr>
          <p:nvPr/>
        </p:nvCxnSpPr>
        <p:spPr>
          <a:xfrm>
            <a:off x="5851975" y="6495052"/>
            <a:ext cx="0" cy="815358"/>
          </a:xfrm>
          <a:prstGeom prst="line">
            <a:avLst/>
          </a:prstGeom>
          <a:ln w="3175">
            <a:solidFill>
              <a:srgbClr val="7E828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5870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07212F-1776-5144-9583-72996E899833}"/>
              </a:ext>
            </a:extLst>
          </p:cNvPr>
          <p:cNvSpPr txBox="1"/>
          <p:nvPr/>
        </p:nvSpPr>
        <p:spPr>
          <a:xfrm>
            <a:off x="103987" y="103554"/>
            <a:ext cx="4860626" cy="461665"/>
          </a:xfrm>
          <a:prstGeom prst="rect">
            <a:avLst/>
          </a:prstGeom>
          <a:noFill/>
        </p:spPr>
        <p:txBody>
          <a:bodyPr wrap="none" rtlCol="0">
            <a:spAutoFit/>
          </a:bodyPr>
          <a:lstStyle/>
          <a:p>
            <a:r>
              <a:rPr lang="en-US" sz="2400" b="1" dirty="0">
                <a:solidFill>
                  <a:srgbClr val="00B0F0"/>
                </a:solidFill>
                <a:latin typeface="Trade Gothic LT Pro Bold" panose="020B0503040303020004" pitchFamily="34" charset="77"/>
              </a:rPr>
              <a:t>TOOL TIPS: </a:t>
            </a:r>
            <a:r>
              <a:rPr lang="en-US" b="1" dirty="0">
                <a:solidFill>
                  <a:schemeClr val="tx2"/>
                </a:solidFill>
                <a:latin typeface="Trade Gothic LT Pro Bold" panose="020B0503040303020004" pitchFamily="34" charset="77"/>
              </a:rPr>
              <a:t>Stakeholder Identification Canvas</a:t>
            </a:r>
          </a:p>
        </p:txBody>
      </p:sp>
      <p:sp>
        <p:nvSpPr>
          <p:cNvPr id="8" name="TextBox 7">
            <a:extLst>
              <a:ext uri="{FF2B5EF4-FFF2-40B4-BE49-F238E27FC236}">
                <a16:creationId xmlns:a16="http://schemas.microsoft.com/office/drawing/2014/main" id="{B12DEED5-2E20-7E4C-96AF-C4C87AB97DB1}"/>
              </a:ext>
            </a:extLst>
          </p:cNvPr>
          <p:cNvSpPr txBox="1"/>
          <p:nvPr/>
        </p:nvSpPr>
        <p:spPr>
          <a:xfrm>
            <a:off x="103988" y="565219"/>
            <a:ext cx="4989802" cy="6966010"/>
          </a:xfrm>
          <a:prstGeom prst="rect">
            <a:avLst/>
          </a:prstGeom>
          <a:noFill/>
        </p:spPr>
        <p:txBody>
          <a:bodyPr wrap="square" rtlCol="0">
            <a:spAutoFit/>
          </a:bodyPr>
          <a:lstStyle/>
          <a:p>
            <a:pPr fontAlgn="base"/>
            <a:r>
              <a:rPr lang="en-US" sz="1000" dirty="0">
                <a:latin typeface="Trade Gothic LT Pro" panose="020B0503040303020004" pitchFamily="34" charset="0"/>
                <a:ea typeface="Helvetica Neue" panose="02000503000000020004" pitchFamily="2" charset="0"/>
                <a:cs typeface="Helvetica Neue" panose="02000503000000020004" pitchFamily="2" charset="0"/>
              </a:rPr>
              <a:t>A quick way to identify stakeholders.</a:t>
            </a:r>
          </a:p>
          <a:p>
            <a:pPr fontAlgn="base"/>
            <a:r>
              <a:rPr lang="en-US" sz="1000" b="1" dirty="0">
                <a:latin typeface="Trade Gothic LT Pro Bold" panose="020B0503040303020004" pitchFamily="34" charset="0"/>
                <a:ea typeface="Helvetica Neue" panose="02000503000000020004" pitchFamily="2" charset="0"/>
                <a:cs typeface="Helvetica Neue" panose="02000503000000020004" pitchFamily="2" charset="0"/>
              </a:rPr>
              <a:t>Session Length: </a:t>
            </a:r>
            <a:r>
              <a:rPr lang="en-US" sz="1000" dirty="0">
                <a:latin typeface="Trade Gothic LT Pro" panose="020B0503040303020004" pitchFamily="34" charset="0"/>
                <a:ea typeface="Helvetica Neue" panose="02000503000000020004" pitchFamily="2" charset="0"/>
                <a:cs typeface="Helvetica Neue" panose="02000503000000020004" pitchFamily="2" charset="0"/>
              </a:rPr>
              <a:t>10+ minutes </a:t>
            </a:r>
          </a:p>
          <a:p>
            <a:pPr fontAlgn="base"/>
            <a:r>
              <a:rPr lang="en-US" sz="1000" b="1" dirty="0">
                <a:latin typeface="Trade Gothic LT Pro Bold" panose="020B0503040303020004" pitchFamily="34" charset="0"/>
                <a:ea typeface="Helvetica Neue" panose="02000503000000020004" pitchFamily="2" charset="0"/>
                <a:cs typeface="Helvetica Neue" panose="02000503000000020004" pitchFamily="2" charset="0"/>
              </a:rPr>
              <a:t>Group Size: </a:t>
            </a:r>
            <a:r>
              <a:rPr lang="en-US" sz="1000" dirty="0">
                <a:latin typeface="Trade Gothic LT Pro" panose="020B0503040303020004" pitchFamily="34" charset="0"/>
                <a:ea typeface="Helvetica Neue" panose="02000503000000020004" pitchFamily="2" charset="0"/>
                <a:cs typeface="Helvetica Neue" panose="02000503000000020004" pitchFamily="2" charset="0"/>
              </a:rPr>
              <a:t>Individual or up to 8 people </a:t>
            </a:r>
          </a:p>
          <a:p>
            <a:pPr fontAlgn="base"/>
            <a:r>
              <a:rPr lang="en-US" sz="1000" b="1" dirty="0">
                <a:latin typeface="Trade Gothic LT Pro Bold" panose="020B0503040303020004" pitchFamily="34" charset="0"/>
                <a:ea typeface="Helvetica Neue" panose="02000503000000020004" pitchFamily="2" charset="0"/>
                <a:cs typeface="Helvetica Neue" panose="02000503000000020004" pitchFamily="2" charset="0"/>
              </a:rPr>
              <a:t>Prep Time: </a:t>
            </a:r>
            <a:r>
              <a:rPr lang="en-US" sz="1000" dirty="0">
                <a:latin typeface="Trade Gothic LT Pro" panose="020B0503040303020004" pitchFamily="34" charset="0"/>
                <a:ea typeface="Helvetica Neue" panose="02000503000000020004" pitchFamily="2" charset="0"/>
                <a:cs typeface="Helvetica Neue" panose="02000503000000020004" pitchFamily="2" charset="0"/>
              </a:rPr>
              <a:t>5 minutes</a:t>
            </a:r>
          </a:p>
          <a:p>
            <a:endParaRPr lang="en-US" sz="1000" b="1" dirty="0">
              <a:latin typeface="Trade Gothic LT Pro Bold" panose="020B0503040303020004" pitchFamily="34" charset="0"/>
              <a:ea typeface="Helvetica Neue" panose="02000503000000020004" pitchFamily="2" charset="0"/>
              <a:cs typeface="Helvetica Neue" panose="02000503000000020004" pitchFamily="2" charset="0"/>
            </a:endParaRPr>
          </a:p>
          <a:p>
            <a:r>
              <a:rPr lang="en-US" sz="1000" b="1" dirty="0">
                <a:latin typeface="Trade Gothic LT Pro Bold" panose="020B0503040303020004" pitchFamily="34" charset="0"/>
                <a:ea typeface="Helvetica Neue" panose="02000503000000020004" pitchFamily="2" charset="0"/>
                <a:cs typeface="Helvetica Neue" panose="02000503000000020004" pitchFamily="2" charset="0"/>
              </a:rPr>
              <a:t>WHEN</a:t>
            </a:r>
          </a:p>
          <a:p>
            <a:pPr fontAlgn="base">
              <a:spcAft>
                <a:spcPts val="388"/>
              </a:spcAft>
            </a:pPr>
            <a:r>
              <a:rPr lang="en-US" sz="1000" dirty="0">
                <a:latin typeface="Trade Gothic LT Pro" panose="020B0503040303020004" pitchFamily="34" charset="0"/>
                <a:ea typeface="Helvetica Neue" panose="02000503000000020004" pitchFamily="2" charset="0"/>
                <a:cs typeface="Helvetica Neue" panose="02000503000000020004" pitchFamily="2" charset="0"/>
              </a:rPr>
              <a:t>Stakeholder Identification is best early in the process but is an important step whenever you need to consider the people involved, interested, or impacted by your project or initiative. Revisiting the stakeholders throughout the phases of an effort will ensure that the right set of people, groups, and organizations are being considered. Use this as an ideation strategy before you begin developing your stakeholder engagement strategy. </a:t>
            </a:r>
          </a:p>
          <a:p>
            <a:pPr fontAlgn="base">
              <a:spcAft>
                <a:spcPts val="388"/>
              </a:spcAft>
            </a:pPr>
            <a:endParaRPr lang="en-US" sz="1000" dirty="0">
              <a:latin typeface="Trade Gothic LT Pro" panose="020B0503040303020004" pitchFamily="34" charset="0"/>
              <a:ea typeface="Helvetica Neue" panose="02000503000000020004" pitchFamily="2" charset="0"/>
              <a:cs typeface="Helvetica Neue" panose="02000503000000020004" pitchFamily="2" charset="0"/>
            </a:endParaRPr>
          </a:p>
          <a:p>
            <a:r>
              <a:rPr lang="en-US" sz="1000" b="1" dirty="0">
                <a:latin typeface="Trade Gothic LT Pro Bold" panose="020B0503040303020004" pitchFamily="34" charset="0"/>
                <a:ea typeface="Helvetica Neue" panose="02000503000000020004" pitchFamily="2" charset="0"/>
                <a:cs typeface="Helvetica Neue" panose="02000503000000020004" pitchFamily="2" charset="0"/>
              </a:rPr>
              <a:t>WHY</a:t>
            </a:r>
          </a:p>
          <a:p>
            <a:pPr fontAlgn="base">
              <a:spcAft>
                <a:spcPts val="388"/>
              </a:spcAft>
            </a:pPr>
            <a:r>
              <a:rPr lang="en-US" sz="1000" dirty="0">
                <a:latin typeface="Trade Gothic LT Pro" panose="020B0503040303020004" pitchFamily="34" charset="0"/>
                <a:ea typeface="Helvetica Neue" panose="02000503000000020004" pitchFamily="2" charset="0"/>
                <a:cs typeface="Helvetica Neue" panose="02000503000000020004" pitchFamily="2" charset="0"/>
              </a:rPr>
              <a:t>Considering individuals and organizations who are actively involved in the project, or whose interests may be positively or negatively affected by your effort is essential to project success. Characterizing stakeholders helps provide clarity that will be helpful when developing an Engagement Strategy. </a:t>
            </a:r>
          </a:p>
          <a:p>
            <a:pPr fontAlgn="base">
              <a:spcAft>
                <a:spcPts val="388"/>
              </a:spcAft>
            </a:pPr>
            <a:r>
              <a:rPr lang="en-US" sz="1000" dirty="0">
                <a:latin typeface="Trade Gothic LT Pro" panose="020B0503040303020004" pitchFamily="34" charset="0"/>
                <a:ea typeface="Helvetica Neue" panose="02000503000000020004" pitchFamily="2" charset="0"/>
                <a:cs typeface="Helvetica Neue" panose="02000503000000020004" pitchFamily="2" charset="0"/>
              </a:rPr>
              <a:t>This tool will help you identify a more comprehensive set of stakeholders, including groups who may benefit or become burdened — helping you to be mindful of the needs and priorities of the larger community, encouraging a diverse and inclusive approach to collaboration, and considering secondary and tertiary affects.</a:t>
            </a:r>
          </a:p>
          <a:p>
            <a:pPr fontAlgn="base">
              <a:spcAft>
                <a:spcPts val="388"/>
              </a:spcAft>
            </a:pPr>
            <a:endParaRPr lang="en-US" sz="1000" dirty="0">
              <a:latin typeface="Trade Gothic LT Pro" panose="020B0503040303020004" pitchFamily="34" charset="0"/>
              <a:ea typeface="Helvetica Neue" panose="02000503000000020004" pitchFamily="2" charset="0"/>
              <a:cs typeface="Helvetica Neue" panose="02000503000000020004" pitchFamily="2" charset="0"/>
            </a:endParaRPr>
          </a:p>
          <a:p>
            <a:pPr fontAlgn="base">
              <a:spcAft>
                <a:spcPts val="388"/>
              </a:spcAft>
            </a:pPr>
            <a:r>
              <a:rPr lang="en-US" sz="1000" b="1" dirty="0">
                <a:latin typeface="Trade Gothic LT Pro Bold" panose="020B0503040303020004" pitchFamily="34" charset="0"/>
                <a:ea typeface="Helvetica Neue" panose="02000503000000020004" pitchFamily="2" charset="0"/>
                <a:cs typeface="Helvetica Neue" panose="02000503000000020004" pitchFamily="2" charset="0"/>
              </a:rPr>
              <a:t>HOW</a:t>
            </a:r>
            <a:endParaRPr lang="en-US" sz="1000" b="1" dirty="0">
              <a:solidFill>
                <a:srgbClr val="555555"/>
              </a:solidFill>
              <a:latin typeface="Trade Gothic LT Pro Bold" panose="020B0503040303020004" pitchFamily="34" charset="0"/>
              <a:ea typeface="Helvetica Neue" panose="02000503000000020004" pitchFamily="2" charset="0"/>
              <a:cs typeface="Helvetica Neue" panose="02000503000000020004" pitchFamily="2" charset="0"/>
            </a:endParaRPr>
          </a:p>
          <a:p>
            <a:pPr fontAlgn="base">
              <a:spcAft>
                <a:spcPts val="777"/>
              </a:spcAft>
            </a:pPr>
            <a:r>
              <a:rPr lang="en-US" sz="1000" b="1" dirty="0">
                <a:latin typeface="Trade Gothic LT Pro Bold" panose="020B0503040303020004" pitchFamily="34" charset="0"/>
                <a:ea typeface="Helvetica Neue" panose="02000503000000020004" pitchFamily="2" charset="0"/>
                <a:cs typeface="Helvetica Neue" panose="02000503000000020004" pitchFamily="2" charset="0"/>
              </a:rPr>
              <a:t>STEP 1: </a:t>
            </a:r>
            <a:r>
              <a:rPr lang="en-US" sz="1000" dirty="0">
                <a:latin typeface="Trade Gothic LT Pro" panose="020B0503040303020004" pitchFamily="34" charset="0"/>
                <a:ea typeface="Helvetica Neue" panose="02000503000000020004" pitchFamily="2" charset="0"/>
                <a:cs typeface="Helvetica Neue" panose="02000503000000020004" pitchFamily="2" charset="0"/>
              </a:rPr>
              <a:t>Begin on the left. In the “Who are all the stakeholders” area, quickly write down potential stakeholders for the topic. Once you’re done, take a look through and begin categorizing &amp; marking stakeholders into groups. If you’re stuck, one common marking to use is those who provide resources (R), permission (P), and/or are decision makers (D).</a:t>
            </a:r>
          </a:p>
          <a:p>
            <a:pPr fontAlgn="base">
              <a:spcAft>
                <a:spcPts val="777"/>
              </a:spcAft>
            </a:pPr>
            <a:r>
              <a:rPr lang="en-US" sz="1000" b="1" dirty="0">
                <a:latin typeface="Trade Gothic LT Pro Bold" panose="020B0503040303020004" pitchFamily="34" charset="0"/>
                <a:ea typeface="Helvetica Neue" panose="02000503000000020004" pitchFamily="2" charset="0"/>
                <a:cs typeface="Helvetica Neue" panose="02000503000000020004" pitchFamily="2" charset="0"/>
              </a:rPr>
              <a:t>STEP 2: </a:t>
            </a:r>
            <a:r>
              <a:rPr lang="en-US" sz="1000" dirty="0">
                <a:latin typeface="Trade Gothic LT Pro" panose="020B0503040303020004" pitchFamily="34" charset="0"/>
                <a:ea typeface="Helvetica Neue" panose="02000503000000020004" pitchFamily="2" charset="0"/>
                <a:cs typeface="Helvetica Neue" panose="02000503000000020004" pitchFamily="2" charset="0"/>
              </a:rPr>
              <a:t>Now move to the top right half of the canvas. Categorize your stakeholders by moving them to the customers, connectors, and audience of focus areas. </a:t>
            </a:r>
          </a:p>
          <a:p>
            <a:pPr fontAlgn="base">
              <a:spcAft>
                <a:spcPts val="777"/>
              </a:spcAft>
            </a:pPr>
            <a:r>
              <a:rPr lang="en-US" sz="1000" b="1" dirty="0">
                <a:latin typeface="Trade Gothic LT Pro Bold" panose="020B0503040303020004" pitchFamily="34" charset="0"/>
                <a:ea typeface="Helvetica Neue" panose="02000503000000020004" pitchFamily="2" charset="0"/>
                <a:cs typeface="Helvetica Neue" panose="02000503000000020004" pitchFamily="2" charset="0"/>
              </a:rPr>
              <a:t>STEP 3: </a:t>
            </a:r>
            <a:r>
              <a:rPr lang="en-US" sz="1000" dirty="0">
                <a:latin typeface="Trade Gothic LT Pro" panose="020B0503040303020004" pitchFamily="34" charset="0"/>
                <a:ea typeface="Helvetica Neue" panose="02000503000000020004" pitchFamily="2" charset="0"/>
                <a:cs typeface="Helvetica Neue" panose="02000503000000020004" pitchFamily="2" charset="0"/>
              </a:rPr>
              <a:t>Next, move to the middle right half of the canvas. Answer the prompts in the “Build Empathy” and “Notice Bias &amp; Assumptions” areas. </a:t>
            </a:r>
          </a:p>
          <a:p>
            <a:pPr fontAlgn="base">
              <a:spcAft>
                <a:spcPts val="777"/>
              </a:spcAft>
            </a:pPr>
            <a:r>
              <a:rPr lang="en-US" sz="1000" b="1" dirty="0">
                <a:latin typeface="Trade Gothic LT Pro Bold" panose="020B0503040303020004" pitchFamily="34" charset="0"/>
                <a:ea typeface="Helvetica Neue" panose="02000503000000020004" pitchFamily="2" charset="0"/>
                <a:cs typeface="Helvetica Neue" panose="02000503000000020004" pitchFamily="2" charset="0"/>
              </a:rPr>
              <a:t>STEP 4</a:t>
            </a:r>
            <a:r>
              <a:rPr lang="en-US" sz="1000" dirty="0">
                <a:latin typeface="Trade Gothic LT Pro" panose="020B0503040303020004" pitchFamily="34" charset="0"/>
                <a:ea typeface="Helvetica Neue" panose="02000503000000020004" pitchFamily="2" charset="0"/>
                <a:cs typeface="Helvetica Neue" panose="02000503000000020004" pitchFamily="2" charset="0"/>
              </a:rPr>
              <a:t>: Evaluate whether this is the full set of stakeholders that need to be considered for this effort. If not, continue to ideate until you can answer “yes” with confidence or have identified a strategy for determining how you might determine whether it is the full set or not.. </a:t>
            </a:r>
          </a:p>
          <a:p>
            <a:pPr fontAlgn="base">
              <a:spcAft>
                <a:spcPts val="777"/>
              </a:spcAft>
            </a:pPr>
            <a:r>
              <a:rPr lang="en-US" sz="1000" b="1" dirty="0">
                <a:latin typeface="Trade Gothic LT Pro Bold" panose="020B0503040303020004" pitchFamily="34" charset="0"/>
                <a:ea typeface="Helvetica Neue" panose="02000503000000020004" pitchFamily="2" charset="0"/>
                <a:cs typeface="Helvetica Neue" panose="02000503000000020004" pitchFamily="2" charset="0"/>
              </a:rPr>
              <a:t>STEP 5:</a:t>
            </a:r>
            <a:r>
              <a:rPr lang="en-US" sz="1000" dirty="0">
                <a:latin typeface="Trade Gothic LT Pro" panose="020B0503040303020004" pitchFamily="34" charset="0"/>
                <a:ea typeface="Helvetica Neue" panose="02000503000000020004" pitchFamily="2" charset="0"/>
                <a:cs typeface="Helvetica Neue" panose="02000503000000020004" pitchFamily="2" charset="0"/>
              </a:rPr>
              <a:t> Lastly, move to the bottom portion of the canvas. Based on the prior discussion, narrow down your list to 2-3 stakeholders that the team needs to understand better. Capture any actions that have arisen in the discussion.</a:t>
            </a:r>
          </a:p>
        </p:txBody>
      </p:sp>
      <p:sp>
        <p:nvSpPr>
          <p:cNvPr id="9" name="TextBox 8">
            <a:extLst>
              <a:ext uri="{FF2B5EF4-FFF2-40B4-BE49-F238E27FC236}">
                <a16:creationId xmlns:a16="http://schemas.microsoft.com/office/drawing/2014/main" id="{9609E5D9-0699-0341-8F73-7C8218C4612A}"/>
              </a:ext>
            </a:extLst>
          </p:cNvPr>
          <p:cNvSpPr txBox="1"/>
          <p:nvPr/>
        </p:nvSpPr>
        <p:spPr>
          <a:xfrm>
            <a:off x="5093789" y="538598"/>
            <a:ext cx="4774111" cy="6852802"/>
          </a:xfrm>
          <a:prstGeom prst="rect">
            <a:avLst/>
          </a:prstGeom>
          <a:solidFill>
            <a:schemeClr val="tx2">
              <a:lumMod val="10000"/>
              <a:lumOff val="90000"/>
            </a:schemeClr>
          </a:solidFill>
        </p:spPr>
        <p:txBody>
          <a:bodyPr wrap="square" rtlCol="0">
            <a:noAutofit/>
          </a:bodyPr>
          <a:lstStyle/>
          <a:p>
            <a:pPr defTabSz="295854">
              <a:spcAft>
                <a:spcPts val="388"/>
              </a:spcAft>
              <a:defRPr/>
            </a:pPr>
            <a:r>
              <a:rPr lang="en-US" sz="9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TIPS</a:t>
            </a:r>
          </a:p>
          <a:p>
            <a:pPr marL="221891" indent="-221891" defTabSz="295854">
              <a:spcAft>
                <a:spcPts val="388"/>
              </a:spcAft>
              <a:buFont typeface="Arial" panose="020B0604020202020204" pitchFamily="34" charset="0"/>
              <a:buChar char="•"/>
              <a:defRPr/>
            </a:pPr>
            <a:r>
              <a:rPr lang="en-US" sz="900" dirty="0">
                <a:latin typeface="Trade Gothic LT Pro" panose="020B0503040303020004" pitchFamily="34" charset="0"/>
                <a:ea typeface="Helvetica Neue" panose="02000503000000020004" pitchFamily="2" charset="0"/>
                <a:cs typeface="Helvetica Neue" panose="02000503000000020004" pitchFamily="2" charset="0"/>
              </a:rPr>
              <a:t>Don’t spend too much time in the initial “Who are all the stakeholders” area because you can continue to add stakeholders throughout the canvas and categorizing will help to expand your list.</a:t>
            </a:r>
          </a:p>
          <a:p>
            <a:pPr marL="221891" indent="-221891" defTabSz="295854">
              <a:spcAft>
                <a:spcPts val="388"/>
              </a:spcAft>
              <a:buFont typeface="Arial" panose="020B0604020202020204" pitchFamily="34" charset="0"/>
              <a:buChar char="•"/>
              <a:defRPr/>
            </a:pPr>
            <a:r>
              <a:rPr lang="en-US" sz="900" dirty="0">
                <a:latin typeface="Trade Gothic LT Pro" panose="020B0503040303020004" pitchFamily="34" charset="0"/>
                <a:ea typeface="Helvetica Neue" panose="02000503000000020004" pitchFamily="2" charset="0"/>
                <a:cs typeface="Helvetica Neue" panose="02000503000000020004" pitchFamily="2" charset="0"/>
              </a:rPr>
              <a:t>When Building Empathy, it helps to think about who might experience a difference or consequence from the effort.</a:t>
            </a:r>
          </a:p>
          <a:p>
            <a:pPr marL="221891" indent="-221891" defTabSz="295854">
              <a:spcAft>
                <a:spcPts val="388"/>
              </a:spcAft>
              <a:buFont typeface="Arial" panose="020B0604020202020204" pitchFamily="34" charset="0"/>
              <a:buChar char="•"/>
              <a:defRPr/>
            </a:pPr>
            <a:r>
              <a:rPr lang="en-US" sz="900" dirty="0">
                <a:latin typeface="Trade Gothic LT Pro" panose="020B0503040303020004" pitchFamily="34" charset="0"/>
                <a:ea typeface="Helvetica Neue" panose="02000503000000020004" pitchFamily="2" charset="0"/>
                <a:cs typeface="Helvetica Neue" panose="02000503000000020004" pitchFamily="2" charset="0"/>
              </a:rPr>
              <a:t>Considering primary, secondary, and tertiary effects of the effort will help you recognize a comprehensive list of stakeholders and vice versa.  </a:t>
            </a:r>
          </a:p>
          <a:p>
            <a:pPr marL="221891" indent="-221891" defTabSz="295854">
              <a:buFont typeface="Arial" panose="020B0604020202020204" pitchFamily="34" charset="0"/>
              <a:buChar char="•"/>
              <a:defRPr/>
            </a:pPr>
            <a:endPar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endParaRPr>
          </a:p>
          <a:p>
            <a:pPr defTabSz="295854">
              <a:defRPr/>
            </a:pPr>
            <a:r>
              <a:rPr lang="en-US" sz="9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Question Bank </a:t>
            </a:r>
            <a:r>
              <a:rPr lang="en-US" sz="900" i="1"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(to help guide the discussion)</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else is important in the customer’s organization?</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receives from the customers?</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are the joint stakeholders?</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has the problem that is being solved? </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What community is being served (or not)? </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is a beneficiary or becomes disadvantaged in this effort? </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may have been overlooked? </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is delivering or creating approaches (e.g., potential solutions)?</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needs to be involved from the community to help inform or develop the approach?</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is the champion of this effort?</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are the enablers? </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may help us get/create buy-in? </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is an ally?</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provides governance?</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are the decision-makers?</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needs to be involved (</a:t>
            </a:r>
            <a:r>
              <a:rPr lang="en-US" sz="900" dirty="0" err="1">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esp</a:t>
            </a: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 from the community) in decision-making processes? </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may have a conflict of interest?</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will challenge this effort? </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will block this effort?</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interfaces with whom? </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is this project responsible to? </a:t>
            </a:r>
          </a:p>
          <a:p>
            <a:pPr marL="221891" lvl="1" indent="-221891">
              <a:spcAft>
                <a:spcPts val="388"/>
              </a:spcAft>
              <a:buFont typeface="+mj-lt"/>
              <a:buAutoNum type="arabicPeriod"/>
            </a:pPr>
            <a:r>
              <a:rPr lang="en-US" sz="900" dirty="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Who must we report to?</a:t>
            </a:r>
          </a:p>
          <a:p>
            <a:pPr fontAlgn="base">
              <a:spcAft>
                <a:spcPts val="388"/>
              </a:spcAft>
            </a:pPr>
            <a:endParaRPr lang="en-US" sz="900" b="1" cap="all" dirty="0">
              <a:latin typeface="Trade Gothic LT Pro Bold" panose="020B0503040303020004" pitchFamily="34" charset="0"/>
              <a:ea typeface="Helvetica Neue" panose="02000503000000020004" pitchFamily="2" charset="0"/>
              <a:cs typeface="Helvetica Neue" panose="02000503000000020004" pitchFamily="2" charset="0"/>
            </a:endParaRPr>
          </a:p>
          <a:p>
            <a:pPr fontAlgn="base">
              <a:spcAft>
                <a:spcPts val="388"/>
              </a:spcAft>
            </a:pPr>
            <a:r>
              <a:rPr lang="en-US" sz="900" b="1" cap="all" dirty="0">
                <a:latin typeface="Trade Gothic LT Pro Bold" panose="020B0503040303020004" pitchFamily="34" charset="0"/>
                <a:ea typeface="Helvetica Neue" panose="02000503000000020004" pitchFamily="2" charset="0"/>
                <a:cs typeface="Helvetica Neue" panose="02000503000000020004" pitchFamily="2" charset="0"/>
              </a:rPr>
              <a:t>POTENTIAL NEXT STEPS</a:t>
            </a:r>
          </a:p>
          <a:p>
            <a:pPr marL="110945" indent="-110945" fontAlgn="base">
              <a:spcAft>
                <a:spcPts val="388"/>
              </a:spcAft>
              <a:buFont typeface="Arial" panose="020B0604020202020204" pitchFamily="34" charset="0"/>
              <a:buChar char="•"/>
            </a:pPr>
            <a:r>
              <a:rPr lang="en-US" sz="900" dirty="0">
                <a:latin typeface="Trade Gothic LT Pro" panose="020B0503040303020004" pitchFamily="34" charset="0"/>
                <a:ea typeface="Helvetica Neue" panose="02000503000000020004" pitchFamily="2" charset="0"/>
                <a:cs typeface="Helvetica Neue" panose="02000503000000020004" pitchFamily="2" charset="0"/>
              </a:rPr>
              <a:t>For any areas of the canvas that remain blank or have little information, do some research to fill in the knowledge gaps. </a:t>
            </a:r>
          </a:p>
          <a:p>
            <a:pPr marL="110945" indent="-110945" fontAlgn="base">
              <a:spcAft>
                <a:spcPts val="388"/>
              </a:spcAft>
              <a:buFont typeface="Arial" panose="020B0604020202020204" pitchFamily="34" charset="0"/>
              <a:buChar char="•"/>
            </a:pPr>
            <a:r>
              <a:rPr lang="en-US" sz="900" dirty="0">
                <a:latin typeface="Trade Gothic LT Pro" panose="020B0503040303020004" pitchFamily="34" charset="0"/>
                <a:ea typeface="Helvetica Neue" panose="02000503000000020004" pitchFamily="2" charset="0"/>
                <a:cs typeface="Helvetica Neue" panose="02000503000000020004" pitchFamily="2" charset="0"/>
              </a:rPr>
              <a:t>It’s common for teams to iterate between the process of Stakeholder Identification, Analysis, and Engagement. </a:t>
            </a:r>
            <a:endParaRPr lang="en-US" sz="900" dirty="0">
              <a:highlight>
                <a:srgbClr val="FFFF00"/>
              </a:highlight>
              <a:latin typeface="Trade Gothic LT Pro" panose="020B0503040303020004" pitchFamily="34" charset="0"/>
              <a:ea typeface="Helvetica Neue" panose="02000503000000020004" pitchFamily="2" charset="0"/>
              <a:cs typeface="Helvetica Neue" panose="02000503000000020004" pitchFamily="2" charset="0"/>
            </a:endParaRPr>
          </a:p>
          <a:p>
            <a:pPr marL="221891" indent="-221891">
              <a:lnSpc>
                <a:spcPct val="120000"/>
              </a:lnSpc>
              <a:buFont typeface="+mj-lt"/>
              <a:buAutoNum type="arabicPeriod"/>
            </a:pPr>
            <a:endParaRPr lang="en-US" sz="900" dirty="0">
              <a:latin typeface="Trade Gothic LT Pro" panose="020B0503040303020004" pitchFamily="34" charset="0"/>
              <a:ea typeface="Helvetica Neue" panose="02000503000000020004" pitchFamily="2" charset="0"/>
              <a:cs typeface="Helvetica Neue" panose="02000503000000020004" pitchFamily="2" charset="0"/>
            </a:endParaRPr>
          </a:p>
          <a:p>
            <a:endParaRPr lang="en-US" sz="900" dirty="0">
              <a:latin typeface="Trade Gothic LT Pro" panose="020B0503040303020004" pitchFamily="34"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692133272"/>
      </p:ext>
    </p:extLst>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0B2338"/>
      </a:dk2>
      <a:lt2>
        <a:srgbClr val="E7E6E6"/>
      </a:lt2>
      <a:accent1>
        <a:srgbClr val="E51D3E"/>
      </a:accent1>
      <a:accent2>
        <a:srgbClr val="ED7D31"/>
      </a:accent2>
      <a:accent3>
        <a:srgbClr val="78C044"/>
      </a:accent3>
      <a:accent4>
        <a:srgbClr val="0DA8D9"/>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894E99C172A24489941E5861361F779" ma:contentTypeVersion="8" ma:contentTypeDescription="Create a new document." ma:contentTypeScope="" ma:versionID="771431e25d0fe5f94154fb889c3e9476">
  <xsd:schema xmlns:xsd="http://www.w3.org/2001/XMLSchema" xmlns:xs="http://www.w3.org/2001/XMLSchema" xmlns:p="http://schemas.microsoft.com/office/2006/metadata/properties" xmlns:ns2="754fbc98-762c-4a90-9774-edf41ff53b67" targetNamespace="http://schemas.microsoft.com/office/2006/metadata/properties" ma:root="true" ma:fieldsID="aec298c6dc5a8bb722e4e4f30310d181" ns2:_="">
    <xsd:import namespace="754fbc98-762c-4a90-9774-edf41ff53b6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4fbc98-762c-4a90-9774-edf41ff53b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7BCBA8-82B7-402E-BF33-5911A7271E4B}"/>
</file>

<file path=customXml/itemProps2.xml><?xml version="1.0" encoding="utf-8"?>
<ds:datastoreItem xmlns:ds="http://schemas.openxmlformats.org/officeDocument/2006/customXml" ds:itemID="{29F1097A-2C52-4462-A31B-2013D3B2FA3A}">
  <ds:schemaRefs>
    <ds:schemaRef ds:uri="http://www.w3.org/XML/1998/namespace"/>
    <ds:schemaRef ds:uri="http://schemas.openxmlformats.org/package/2006/metadata/core-properties"/>
    <ds:schemaRef ds:uri="http://purl.org/dc/terms/"/>
    <ds:schemaRef ds:uri="33cba829-d85d-4798-923b-b4ed59ab2c87"/>
    <ds:schemaRef ds:uri="http://purl.org/dc/elements/1.1/"/>
    <ds:schemaRef ds:uri="http://schemas.microsoft.com/office/2006/documentManagement/types"/>
    <ds:schemaRef ds:uri="6e58d295-81e5-410f-9199-b5aff2b02c5b"/>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2DBF0C38-9EB8-4C8F-B4B9-ABC8910519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2632</TotalTime>
  <Words>996</Words>
  <Application>Microsoft Macintosh PowerPoint</Application>
  <PresentationFormat>Custom</PresentationFormat>
  <Paragraphs>78</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Calibri</vt:lpstr>
      <vt:lpstr>Arial</vt:lpstr>
      <vt:lpstr>Trade Gothic LT Pro</vt:lpstr>
      <vt:lpstr>Trade Gothic LT Pro Bold</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Kaylee S White</dc:creator>
  <cp:keywords/>
  <dc:description/>
  <cp:lastModifiedBy>Jen Choi</cp:lastModifiedBy>
  <cp:revision>21</cp:revision>
  <dcterms:created xsi:type="dcterms:W3CDTF">2020-11-19T17:23:52Z</dcterms:created>
  <dcterms:modified xsi:type="dcterms:W3CDTF">2021-04-12T17:58:06Z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0x0101009894E99C172A24489941E5861361F779</vt:lpwstr>
  </property>
</Properties>
</file>