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74" r:id="rId5"/>
  </p:sldMasterIdLst>
  <p:notesMasterIdLst>
    <p:notesMasterId r:id="rId9"/>
  </p:notesMasterIdLst>
  <p:handoutMasterIdLst>
    <p:handoutMasterId r:id="rId10"/>
  </p:handoutMasterIdLst>
  <p:sldIdLst>
    <p:sldId id="756" r:id="rId6"/>
    <p:sldId id="757" r:id="rId7"/>
    <p:sldId id="280" r:id="rId8"/>
  </p:sldIdLst>
  <p:sldSz cx="100584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onisha Rahman" initials="MR" lastIdx="10" clrIdx="0">
    <p:extLst>
      <p:ext uri="{19B8F6BF-5375-455C-9EA6-DF929625EA0E}">
        <p15:presenceInfo xmlns:p15="http://schemas.microsoft.com/office/powerpoint/2012/main" userId="S::RAHMANM@MITRE.ORG::6cf91401-9094-4e8f-a695-42ee7077f7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8"/>
    <a:srgbClr val="455471"/>
    <a:srgbClr val="9E91CF"/>
    <a:srgbClr val="B17ED8"/>
    <a:srgbClr val="87DEFF"/>
    <a:srgbClr val="005B93"/>
    <a:srgbClr val="CAF0FC"/>
    <a:srgbClr val="262626"/>
    <a:srgbClr val="154169"/>
    <a:srgbClr val="B9EA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9EA610-84F7-6545-BEE9-E89A9DB983CC}" v="6" dt="2021-06-21T17:02:18.7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554" y="102"/>
      </p:cViewPr>
      <p:guideLst>
        <p:guide orient="horz" pos="2448"/>
        <p:guide pos="31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C3CCF0-20A0-4277-B884-FCDC13D421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9C8C52-E96C-4D62-9306-4F2B3D25D3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CFA0B8-05D5-4D03-BED0-5F9DB4E2AD1C}" type="datetimeFigureOut">
              <a:rPr lang="en-US" smtClean="0"/>
              <a:t>6/29/2021</a:t>
            </a:fld>
            <a:endParaRPr lang="en-US"/>
          </a:p>
        </p:txBody>
      </p:sp>
      <p:sp>
        <p:nvSpPr>
          <p:cNvPr id="4" name="Footer Placeholder 3">
            <a:extLst>
              <a:ext uri="{FF2B5EF4-FFF2-40B4-BE49-F238E27FC236}">
                <a16:creationId xmlns:a16="http://schemas.microsoft.com/office/drawing/2014/main" id="{F7160679-50D1-49D8-B7AD-A9CF1516F2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0F18EA8-AA11-4184-9321-7F5274B1945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B1F5E2-A98F-40FE-8D42-344BEA526396}" type="slidenum">
              <a:rPr lang="en-US" smtClean="0"/>
              <a:t>‹#›</a:t>
            </a:fld>
            <a:endParaRPr lang="en-US"/>
          </a:p>
        </p:txBody>
      </p:sp>
    </p:spTree>
    <p:extLst>
      <p:ext uri="{BB962C8B-B14F-4D97-AF65-F5344CB8AC3E}">
        <p14:creationId xmlns:p14="http://schemas.microsoft.com/office/powerpoint/2010/main" val="1952471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A9B366-79F4-4B62-AF82-2B8B21D70C18}" type="datetimeFigureOut">
              <a:rPr lang="en-US" smtClean="0"/>
              <a:t>6/29/2021</a:t>
            </a:fld>
            <a:endParaRPr lang="en-US"/>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21AF85-23DB-4EF3-AEBB-2F7BA47FDD8E}" type="slidenum">
              <a:rPr lang="en-US" smtClean="0"/>
              <a:t>‹#›</a:t>
            </a:fld>
            <a:endParaRPr lang="en-US"/>
          </a:p>
        </p:txBody>
      </p:sp>
    </p:spTree>
    <p:extLst>
      <p:ext uri="{BB962C8B-B14F-4D97-AF65-F5344CB8AC3E}">
        <p14:creationId xmlns:p14="http://schemas.microsoft.com/office/powerpoint/2010/main" val="1446424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624AF3DF-9DA6-4D2D-8AE5-AE1E7397918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4079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624AF3DF-9DA6-4D2D-8AE5-AE1E7397918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3717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076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4631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6CAA1B-F833-B74D-8E4B-3A6E9372A07F}"/>
              </a:ext>
            </a:extLst>
          </p:cNvPr>
          <p:cNvPicPr>
            <a:picLocks noChangeAspect="1"/>
          </p:cNvPicPr>
          <p:nvPr userDrawn="1"/>
        </p:nvPicPr>
        <p:blipFill>
          <a:blip r:embed="rId3"/>
          <a:stretch>
            <a:fillRect/>
          </a:stretch>
        </p:blipFill>
        <p:spPr>
          <a:xfrm>
            <a:off x="8041064" y="269608"/>
            <a:ext cx="1826836" cy="159086"/>
          </a:xfrm>
          <a:prstGeom prst="rect">
            <a:avLst/>
          </a:prstGeom>
        </p:spPr>
      </p:pic>
    </p:spTree>
    <p:extLst>
      <p:ext uri="{BB962C8B-B14F-4D97-AF65-F5344CB8AC3E}">
        <p14:creationId xmlns:p14="http://schemas.microsoft.com/office/powerpoint/2010/main" val="2351520007"/>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1005840" rtl="0" eaLnBrk="1" latinLnBrk="0" hangingPunct="1">
        <a:lnSpc>
          <a:spcPct val="90000"/>
        </a:lnSpc>
        <a:spcBef>
          <a:spcPct val="0"/>
        </a:spcBef>
        <a:buNone/>
        <a:defRPr sz="4840" kern="1200">
          <a:solidFill>
            <a:schemeClr val="tx1"/>
          </a:solidFill>
          <a:latin typeface="Arial" panose="020B0604020202020204" pitchFamily="34" charset="0"/>
          <a:ea typeface="+mj-ea"/>
          <a:cs typeface="Arial" panose="020B0604020202020204" pitchFamily="34" charset="0"/>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Arial" panose="020B0604020202020204" pitchFamily="34" charset="0"/>
          <a:ea typeface="+mn-ea"/>
          <a:cs typeface="Arial" panose="020B0604020202020204" pitchFamily="34" charset="0"/>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Arial" panose="020B0604020202020204" pitchFamily="34" charset="0"/>
          <a:ea typeface="+mn-ea"/>
          <a:cs typeface="Arial" panose="020B0604020202020204" pitchFamily="34" charset="0"/>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21241"/>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842303" rtl="0" eaLnBrk="1" latinLnBrk="0" hangingPunct="1">
        <a:lnSpc>
          <a:spcPct val="90000"/>
        </a:lnSpc>
        <a:spcBef>
          <a:spcPct val="0"/>
        </a:spcBef>
        <a:buNone/>
        <a:defRPr sz="4053" kern="1200">
          <a:solidFill>
            <a:schemeClr val="tx1"/>
          </a:solidFill>
          <a:latin typeface="Arial" panose="020B0604020202020204" pitchFamily="34" charset="0"/>
          <a:ea typeface="+mj-ea"/>
          <a:cs typeface="Arial" panose="020B0604020202020204" pitchFamily="34" charset="0"/>
        </a:defRPr>
      </a:lvl1pPr>
    </p:titleStyle>
    <p:bodyStyle>
      <a:lvl1pPr marL="210575" indent="-210575" algn="l" defTabSz="842303" rtl="0" eaLnBrk="1" latinLnBrk="0" hangingPunct="1">
        <a:lnSpc>
          <a:spcPct val="90000"/>
        </a:lnSpc>
        <a:spcBef>
          <a:spcPts val="921"/>
        </a:spcBef>
        <a:buFont typeface="Arial" panose="020B0604020202020204" pitchFamily="34" charset="0"/>
        <a:buChar char="•"/>
        <a:defRPr sz="2579" kern="1200">
          <a:solidFill>
            <a:schemeClr val="tx1"/>
          </a:solidFill>
          <a:latin typeface="Arial" panose="020B0604020202020204" pitchFamily="34" charset="0"/>
          <a:ea typeface="+mn-ea"/>
          <a:cs typeface="Arial" panose="020B0604020202020204" pitchFamily="34" charset="0"/>
        </a:defRPr>
      </a:lvl1pPr>
      <a:lvl2pPr marL="631727" indent="-210575" algn="l" defTabSz="842303" rtl="0" eaLnBrk="1" latinLnBrk="0" hangingPunct="1">
        <a:lnSpc>
          <a:spcPct val="90000"/>
        </a:lnSpc>
        <a:spcBef>
          <a:spcPts val="461"/>
        </a:spcBef>
        <a:buFont typeface="Arial" panose="020B0604020202020204" pitchFamily="34" charset="0"/>
        <a:buChar char="•"/>
        <a:defRPr sz="2210" kern="1200">
          <a:solidFill>
            <a:schemeClr val="tx1"/>
          </a:solidFill>
          <a:latin typeface="Arial" panose="020B0604020202020204" pitchFamily="34" charset="0"/>
          <a:ea typeface="+mn-ea"/>
          <a:cs typeface="Arial" panose="020B0604020202020204" pitchFamily="34" charset="0"/>
        </a:defRPr>
      </a:lvl2pPr>
      <a:lvl3pPr marL="1052878" indent="-210575" algn="l" defTabSz="842303" rtl="0" eaLnBrk="1" latinLnBrk="0" hangingPunct="1">
        <a:lnSpc>
          <a:spcPct val="90000"/>
        </a:lnSpc>
        <a:spcBef>
          <a:spcPts val="461"/>
        </a:spcBef>
        <a:buFont typeface="Arial" panose="020B0604020202020204" pitchFamily="34" charset="0"/>
        <a:buChar char="•"/>
        <a:defRPr sz="1842" kern="1200">
          <a:solidFill>
            <a:schemeClr val="tx1"/>
          </a:solidFill>
          <a:latin typeface="Arial" panose="020B0604020202020204" pitchFamily="34" charset="0"/>
          <a:ea typeface="+mn-ea"/>
          <a:cs typeface="Arial" panose="020B0604020202020204" pitchFamily="34" charset="0"/>
        </a:defRPr>
      </a:lvl3pPr>
      <a:lvl4pPr marL="1474030" indent="-210575" algn="l" defTabSz="842303" rtl="0" eaLnBrk="1" latinLnBrk="0" hangingPunct="1">
        <a:lnSpc>
          <a:spcPct val="90000"/>
        </a:lnSpc>
        <a:spcBef>
          <a:spcPts val="461"/>
        </a:spcBef>
        <a:buFont typeface="Arial" panose="020B0604020202020204" pitchFamily="34" charset="0"/>
        <a:buChar char="•"/>
        <a:defRPr sz="1658" kern="1200">
          <a:solidFill>
            <a:schemeClr val="tx1"/>
          </a:solidFill>
          <a:latin typeface="Arial" panose="020B0604020202020204" pitchFamily="34" charset="0"/>
          <a:ea typeface="+mn-ea"/>
          <a:cs typeface="Arial" panose="020B0604020202020204" pitchFamily="34" charset="0"/>
        </a:defRPr>
      </a:lvl4pPr>
      <a:lvl5pPr marL="1895181" indent="-210575" algn="l" defTabSz="842303" rtl="0" eaLnBrk="1" latinLnBrk="0" hangingPunct="1">
        <a:lnSpc>
          <a:spcPct val="90000"/>
        </a:lnSpc>
        <a:spcBef>
          <a:spcPts val="461"/>
        </a:spcBef>
        <a:buFont typeface="Arial" panose="020B0604020202020204" pitchFamily="34" charset="0"/>
        <a:buChar char="•"/>
        <a:defRPr sz="1658" kern="1200">
          <a:solidFill>
            <a:schemeClr val="tx1"/>
          </a:solidFill>
          <a:latin typeface="Arial" panose="020B0604020202020204" pitchFamily="34" charset="0"/>
          <a:ea typeface="+mn-ea"/>
          <a:cs typeface="Arial" panose="020B0604020202020204" pitchFamily="34" charset="0"/>
        </a:defRPr>
      </a:lvl5pPr>
      <a:lvl6pPr marL="2316332" indent="-210575" algn="l" defTabSz="842303" rtl="0" eaLnBrk="1" latinLnBrk="0" hangingPunct="1">
        <a:lnSpc>
          <a:spcPct val="90000"/>
        </a:lnSpc>
        <a:spcBef>
          <a:spcPts val="461"/>
        </a:spcBef>
        <a:buFont typeface="Arial" panose="020B0604020202020204" pitchFamily="34" charset="0"/>
        <a:buChar char="•"/>
        <a:defRPr sz="1658" kern="1200">
          <a:solidFill>
            <a:schemeClr val="tx1"/>
          </a:solidFill>
          <a:latin typeface="+mn-lt"/>
          <a:ea typeface="+mn-ea"/>
          <a:cs typeface="+mn-cs"/>
        </a:defRPr>
      </a:lvl6pPr>
      <a:lvl7pPr marL="2737483" indent="-210575" algn="l" defTabSz="842303" rtl="0" eaLnBrk="1" latinLnBrk="0" hangingPunct="1">
        <a:lnSpc>
          <a:spcPct val="90000"/>
        </a:lnSpc>
        <a:spcBef>
          <a:spcPts val="461"/>
        </a:spcBef>
        <a:buFont typeface="Arial" panose="020B0604020202020204" pitchFamily="34" charset="0"/>
        <a:buChar char="•"/>
        <a:defRPr sz="1658" kern="1200">
          <a:solidFill>
            <a:schemeClr val="tx1"/>
          </a:solidFill>
          <a:latin typeface="+mn-lt"/>
          <a:ea typeface="+mn-ea"/>
          <a:cs typeface="+mn-cs"/>
        </a:defRPr>
      </a:lvl7pPr>
      <a:lvl8pPr marL="3158635" indent="-210575" algn="l" defTabSz="842303" rtl="0" eaLnBrk="1" latinLnBrk="0" hangingPunct="1">
        <a:lnSpc>
          <a:spcPct val="90000"/>
        </a:lnSpc>
        <a:spcBef>
          <a:spcPts val="461"/>
        </a:spcBef>
        <a:buFont typeface="Arial" panose="020B0604020202020204" pitchFamily="34" charset="0"/>
        <a:buChar char="•"/>
        <a:defRPr sz="1658" kern="1200">
          <a:solidFill>
            <a:schemeClr val="tx1"/>
          </a:solidFill>
          <a:latin typeface="+mn-lt"/>
          <a:ea typeface="+mn-ea"/>
          <a:cs typeface="+mn-cs"/>
        </a:defRPr>
      </a:lvl8pPr>
      <a:lvl9pPr marL="3579786" indent="-210575" algn="l" defTabSz="842303" rtl="0" eaLnBrk="1" latinLnBrk="0" hangingPunct="1">
        <a:lnSpc>
          <a:spcPct val="90000"/>
        </a:lnSpc>
        <a:spcBef>
          <a:spcPts val="461"/>
        </a:spcBef>
        <a:buFont typeface="Arial" panose="020B0604020202020204" pitchFamily="34" charset="0"/>
        <a:buChar char="•"/>
        <a:defRPr sz="1658" kern="1200">
          <a:solidFill>
            <a:schemeClr val="tx1"/>
          </a:solidFill>
          <a:latin typeface="+mn-lt"/>
          <a:ea typeface="+mn-ea"/>
          <a:cs typeface="+mn-cs"/>
        </a:defRPr>
      </a:lvl9pPr>
    </p:bodyStyle>
    <p:otherStyle>
      <a:defPPr>
        <a:defRPr lang="en-US"/>
      </a:defPPr>
      <a:lvl1pPr marL="0" algn="l" defTabSz="842303" rtl="0" eaLnBrk="1" latinLnBrk="0" hangingPunct="1">
        <a:defRPr sz="1658" kern="1200">
          <a:solidFill>
            <a:schemeClr val="tx1"/>
          </a:solidFill>
          <a:latin typeface="+mn-lt"/>
          <a:ea typeface="+mn-ea"/>
          <a:cs typeface="+mn-cs"/>
        </a:defRPr>
      </a:lvl1pPr>
      <a:lvl2pPr marL="421151" algn="l" defTabSz="842303" rtl="0" eaLnBrk="1" latinLnBrk="0" hangingPunct="1">
        <a:defRPr sz="1658" kern="1200">
          <a:solidFill>
            <a:schemeClr val="tx1"/>
          </a:solidFill>
          <a:latin typeface="+mn-lt"/>
          <a:ea typeface="+mn-ea"/>
          <a:cs typeface="+mn-cs"/>
        </a:defRPr>
      </a:lvl2pPr>
      <a:lvl3pPr marL="842303" algn="l" defTabSz="842303" rtl="0" eaLnBrk="1" latinLnBrk="0" hangingPunct="1">
        <a:defRPr sz="1658" kern="1200">
          <a:solidFill>
            <a:schemeClr val="tx1"/>
          </a:solidFill>
          <a:latin typeface="+mn-lt"/>
          <a:ea typeface="+mn-ea"/>
          <a:cs typeface="+mn-cs"/>
        </a:defRPr>
      </a:lvl3pPr>
      <a:lvl4pPr marL="1263454" algn="l" defTabSz="842303" rtl="0" eaLnBrk="1" latinLnBrk="0" hangingPunct="1">
        <a:defRPr sz="1658" kern="1200">
          <a:solidFill>
            <a:schemeClr val="tx1"/>
          </a:solidFill>
          <a:latin typeface="+mn-lt"/>
          <a:ea typeface="+mn-ea"/>
          <a:cs typeface="+mn-cs"/>
        </a:defRPr>
      </a:lvl4pPr>
      <a:lvl5pPr marL="1684605" algn="l" defTabSz="842303" rtl="0" eaLnBrk="1" latinLnBrk="0" hangingPunct="1">
        <a:defRPr sz="1658" kern="1200">
          <a:solidFill>
            <a:schemeClr val="tx1"/>
          </a:solidFill>
          <a:latin typeface="+mn-lt"/>
          <a:ea typeface="+mn-ea"/>
          <a:cs typeface="+mn-cs"/>
        </a:defRPr>
      </a:lvl5pPr>
      <a:lvl6pPr marL="2105757" algn="l" defTabSz="842303" rtl="0" eaLnBrk="1" latinLnBrk="0" hangingPunct="1">
        <a:defRPr sz="1658" kern="1200">
          <a:solidFill>
            <a:schemeClr val="tx1"/>
          </a:solidFill>
          <a:latin typeface="+mn-lt"/>
          <a:ea typeface="+mn-ea"/>
          <a:cs typeface="+mn-cs"/>
        </a:defRPr>
      </a:lvl6pPr>
      <a:lvl7pPr marL="2526908" algn="l" defTabSz="842303" rtl="0" eaLnBrk="1" latinLnBrk="0" hangingPunct="1">
        <a:defRPr sz="1658" kern="1200">
          <a:solidFill>
            <a:schemeClr val="tx1"/>
          </a:solidFill>
          <a:latin typeface="+mn-lt"/>
          <a:ea typeface="+mn-ea"/>
          <a:cs typeface="+mn-cs"/>
        </a:defRPr>
      </a:lvl7pPr>
      <a:lvl8pPr marL="2948059" algn="l" defTabSz="842303" rtl="0" eaLnBrk="1" latinLnBrk="0" hangingPunct="1">
        <a:defRPr sz="1658" kern="1200">
          <a:solidFill>
            <a:schemeClr val="tx1"/>
          </a:solidFill>
          <a:latin typeface="+mn-lt"/>
          <a:ea typeface="+mn-ea"/>
          <a:cs typeface="+mn-cs"/>
        </a:defRPr>
      </a:lvl8pPr>
      <a:lvl9pPr marL="3369210" algn="l" defTabSz="842303" rtl="0" eaLnBrk="1" latinLnBrk="0" hangingPunct="1">
        <a:defRPr sz="16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5E18822C-3866-4590-AB44-148D25E6DED6}"/>
              </a:ext>
            </a:extLst>
          </p:cNvPr>
          <p:cNvSpPr/>
          <p:nvPr/>
        </p:nvSpPr>
        <p:spPr>
          <a:xfrm>
            <a:off x="265683" y="6343436"/>
            <a:ext cx="338328" cy="1010888"/>
          </a:xfrm>
          <a:prstGeom prst="rect">
            <a:avLst/>
          </a:prstGeom>
          <a:solidFill>
            <a:srgbClr val="87DEFF"/>
          </a:solidFill>
          <a:ln w="63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a:solidFill>
                  <a:schemeClr val="tx2"/>
                </a:solidFill>
                <a:latin typeface="Trade Gothic LT Pro Bold" panose="020B0803040303020004" pitchFamily="34" charset="0"/>
              </a:rPr>
              <a:t>Assess</a:t>
            </a:r>
          </a:p>
        </p:txBody>
      </p:sp>
      <p:sp>
        <p:nvSpPr>
          <p:cNvPr id="2" name="TextBox 1">
            <a:extLst>
              <a:ext uri="{FF2B5EF4-FFF2-40B4-BE49-F238E27FC236}">
                <a16:creationId xmlns:a16="http://schemas.microsoft.com/office/drawing/2014/main" id="{A5C30DF5-EA82-804F-B290-E191C0017C5E}"/>
              </a:ext>
            </a:extLst>
          </p:cNvPr>
          <p:cNvSpPr txBox="1"/>
          <p:nvPr/>
        </p:nvSpPr>
        <p:spPr>
          <a:xfrm>
            <a:off x="169875" y="508113"/>
            <a:ext cx="9326769" cy="461665"/>
          </a:xfrm>
          <a:prstGeom prst="rect">
            <a:avLst/>
          </a:prstGeom>
          <a:noFill/>
        </p:spPr>
        <p:txBody>
          <a:bodyPr wrap="square" rtlCol="0">
            <a:spAutoFit/>
          </a:bodyPr>
          <a:lstStyle/>
          <a:p>
            <a:pPr defTabSz="382865"/>
            <a:r>
              <a:rPr lang="en-US" sz="2400" b="1">
                <a:solidFill>
                  <a:srgbClr val="00B0F0"/>
                </a:solidFill>
                <a:latin typeface="Trade Gothic LT Pro Bold" panose="020B0503040303020004" pitchFamily="34" charset="77"/>
              </a:rPr>
              <a:t>QUICKSTART STAKEHOLDER ENGAGEMENT CANVAS: </a:t>
            </a:r>
            <a:r>
              <a:rPr lang="en-US" b="1">
                <a:solidFill>
                  <a:srgbClr val="0B2338"/>
                </a:solidFill>
                <a:latin typeface="Trade Gothic LT Pro Bold" panose="020B0503040303020004" pitchFamily="34" charset="77"/>
              </a:rPr>
              <a:t>Analysis</a:t>
            </a:r>
            <a:endParaRPr lang="en-US" sz="1600" b="1">
              <a:solidFill>
                <a:srgbClr val="0B2338"/>
              </a:solidFill>
              <a:latin typeface="Trade Gothic LT Pro Bold" panose="020B0503040303020004" pitchFamily="34" charset="77"/>
            </a:endParaRPr>
          </a:p>
        </p:txBody>
      </p:sp>
      <p:sp>
        <p:nvSpPr>
          <p:cNvPr id="100" name="Rectangle 99">
            <a:extLst>
              <a:ext uri="{FF2B5EF4-FFF2-40B4-BE49-F238E27FC236}">
                <a16:creationId xmlns:a16="http://schemas.microsoft.com/office/drawing/2014/main" id="{B1012B21-1F42-44EE-A051-6B9894E01C31}"/>
              </a:ext>
            </a:extLst>
          </p:cNvPr>
          <p:cNvSpPr/>
          <p:nvPr/>
        </p:nvSpPr>
        <p:spPr>
          <a:xfrm>
            <a:off x="265814" y="991044"/>
            <a:ext cx="9526772" cy="6374924"/>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43EE6D8D-FA72-4BA7-8058-FB50FE1C4881}"/>
              </a:ext>
            </a:extLst>
          </p:cNvPr>
          <p:cNvSpPr txBox="1"/>
          <p:nvPr/>
        </p:nvSpPr>
        <p:spPr>
          <a:xfrm>
            <a:off x="106162" y="7423572"/>
            <a:ext cx="1569660" cy="230832"/>
          </a:xfrm>
          <a:prstGeom prst="rect">
            <a:avLst/>
          </a:prstGeom>
          <a:noFill/>
        </p:spPr>
        <p:txBody>
          <a:bodyPr wrap="none" rtlCol="0">
            <a:spAutoFit/>
          </a:bodyPr>
          <a:lstStyle/>
          <a:p>
            <a:r>
              <a:rPr lang="en-US" sz="900" err="1">
                <a:latin typeface="Trade Gothic LT Pro" panose="020B0503040303020004" pitchFamily="34" charset="77"/>
                <a:cs typeface="Arial" panose="020B0604020202020204" pitchFamily="34" charset="0"/>
              </a:rPr>
              <a:t>itk.mitre.org</a:t>
            </a:r>
            <a:r>
              <a:rPr lang="en-US" sz="900">
                <a:latin typeface="Trade Gothic LT Pro" panose="020B0503040303020004" pitchFamily="34" charset="77"/>
                <a:cs typeface="Arial" panose="020B0604020202020204" pitchFamily="34" charset="0"/>
              </a:rPr>
              <a:t> | </a:t>
            </a:r>
            <a:r>
              <a:rPr lang="en-US" sz="900" err="1">
                <a:latin typeface="Trade Gothic LT Pro" panose="020B0503040303020004" pitchFamily="34" charset="77"/>
                <a:cs typeface="Arial" panose="020B0604020202020204" pitchFamily="34" charset="0"/>
              </a:rPr>
              <a:t>itk@mitre.org</a:t>
            </a:r>
            <a:endParaRPr lang="en-US" sz="900">
              <a:latin typeface="Trade Gothic LT Pro" panose="020B0503040303020004" pitchFamily="34" charset="77"/>
              <a:cs typeface="Arial" panose="020B0604020202020204" pitchFamily="34" charset="0"/>
            </a:endParaRPr>
          </a:p>
        </p:txBody>
      </p:sp>
      <p:sp>
        <p:nvSpPr>
          <p:cNvPr id="19" name="TextBox 18">
            <a:extLst>
              <a:ext uri="{FF2B5EF4-FFF2-40B4-BE49-F238E27FC236}">
                <a16:creationId xmlns:a16="http://schemas.microsoft.com/office/drawing/2014/main" id="{2BE8F124-1477-441A-ADF5-1CA278A6990F}"/>
              </a:ext>
            </a:extLst>
          </p:cNvPr>
          <p:cNvSpPr txBox="1"/>
          <p:nvPr/>
        </p:nvSpPr>
        <p:spPr>
          <a:xfrm>
            <a:off x="3720705" y="7433621"/>
            <a:ext cx="5833648" cy="230832"/>
          </a:xfrm>
          <a:prstGeom prst="rect">
            <a:avLst/>
          </a:prstGeom>
          <a:noFill/>
        </p:spPr>
        <p:txBody>
          <a:bodyPr wrap="none" rtlCol="0">
            <a:spAutoFit/>
          </a:bodyPr>
          <a:lstStyle/>
          <a:p>
            <a:pPr lvl="0">
              <a:defRPr/>
            </a:pPr>
            <a:r>
              <a:rPr lang="en-US" sz="900">
                <a:latin typeface="Trade Gothic LT Pro" panose="020B0503040303020004" pitchFamily="34" charset="77"/>
                <a:cs typeface="Arial" panose="020B0604020202020204" pitchFamily="34" charset="0"/>
              </a:rPr>
              <a:t>© 2021 The MITRE Corporation. All rights reserved. Approved for public release. Distribution unlimited PR_20-01469-12.</a:t>
            </a:r>
          </a:p>
        </p:txBody>
      </p:sp>
      <p:sp>
        <p:nvSpPr>
          <p:cNvPr id="25" name="TextBox 24">
            <a:extLst>
              <a:ext uri="{FF2B5EF4-FFF2-40B4-BE49-F238E27FC236}">
                <a16:creationId xmlns:a16="http://schemas.microsoft.com/office/drawing/2014/main" id="{58ADA534-0C74-43E6-8372-754CC462BA8D}"/>
              </a:ext>
            </a:extLst>
          </p:cNvPr>
          <p:cNvSpPr txBox="1"/>
          <p:nvPr/>
        </p:nvSpPr>
        <p:spPr>
          <a:xfrm>
            <a:off x="265814" y="1012222"/>
            <a:ext cx="2328795" cy="429078"/>
          </a:xfrm>
          <a:prstGeom prst="rect">
            <a:avLst/>
          </a:prstGeom>
          <a:noFill/>
        </p:spPr>
        <p:txBody>
          <a:bodyPr wrap="square" lIns="59167" tIns="29584" rIns="59167" bIns="29584" rtlCol="0" anchor="t">
            <a:spAutoFit/>
          </a:bodyPr>
          <a:lstStyle/>
          <a:p>
            <a:pPr defTabSz="382865"/>
            <a:r>
              <a:rPr lang="en-US" sz="1200" b="1">
                <a:solidFill>
                  <a:srgbClr val="000000"/>
                </a:solidFill>
                <a:latin typeface="Trade Gothic LT Pro Bold"/>
              </a:rPr>
              <a:t>Stakeholder name</a:t>
            </a:r>
          </a:p>
          <a:p>
            <a:pPr defTabSz="382865"/>
            <a:r>
              <a:rPr lang="en-US" sz="1200" b="1">
                <a:solidFill>
                  <a:srgbClr val="000000"/>
                </a:solidFill>
                <a:latin typeface="Trade Gothic LT Pro Bold"/>
              </a:rPr>
              <a:t>Contact info</a:t>
            </a:r>
          </a:p>
        </p:txBody>
      </p:sp>
      <p:sp>
        <p:nvSpPr>
          <p:cNvPr id="34" name="TextBox 33">
            <a:extLst>
              <a:ext uri="{FF2B5EF4-FFF2-40B4-BE49-F238E27FC236}">
                <a16:creationId xmlns:a16="http://schemas.microsoft.com/office/drawing/2014/main" id="{A229D8EA-0EC9-4089-97DC-A079057D23DC}"/>
              </a:ext>
            </a:extLst>
          </p:cNvPr>
          <p:cNvSpPr txBox="1"/>
          <p:nvPr/>
        </p:nvSpPr>
        <p:spPr>
          <a:xfrm>
            <a:off x="5024504" y="1012222"/>
            <a:ext cx="2328795" cy="429078"/>
          </a:xfrm>
          <a:prstGeom prst="rect">
            <a:avLst/>
          </a:prstGeom>
          <a:noFill/>
        </p:spPr>
        <p:txBody>
          <a:bodyPr wrap="square" lIns="59167" tIns="29584" rIns="59167" bIns="29584" rtlCol="0" anchor="t">
            <a:spAutoFit/>
          </a:bodyPr>
          <a:lstStyle/>
          <a:p>
            <a:pPr defTabSz="382865"/>
            <a:r>
              <a:rPr lang="en-US" sz="1200" i="1">
                <a:solidFill>
                  <a:srgbClr val="000000"/>
                </a:solidFill>
                <a:latin typeface="Trade Gothic LT Pro Bold"/>
              </a:rPr>
              <a:t>Stakeholder proxy</a:t>
            </a:r>
          </a:p>
          <a:p>
            <a:pPr defTabSz="382865"/>
            <a:r>
              <a:rPr lang="en-US" sz="1200" i="1">
                <a:solidFill>
                  <a:srgbClr val="000000"/>
                </a:solidFill>
                <a:latin typeface="Trade Gothic LT Pro Bold"/>
              </a:rPr>
              <a:t>Contact info</a:t>
            </a:r>
          </a:p>
        </p:txBody>
      </p:sp>
      <p:sp>
        <p:nvSpPr>
          <p:cNvPr id="37" name="Rectangle 36">
            <a:extLst>
              <a:ext uri="{FF2B5EF4-FFF2-40B4-BE49-F238E27FC236}">
                <a16:creationId xmlns:a16="http://schemas.microsoft.com/office/drawing/2014/main" id="{A16BB7CB-9CE5-41D0-B4D3-7D15FBBCD55C}"/>
              </a:ext>
            </a:extLst>
          </p:cNvPr>
          <p:cNvSpPr/>
          <p:nvPr/>
        </p:nvSpPr>
        <p:spPr>
          <a:xfrm>
            <a:off x="265814" y="1418440"/>
            <a:ext cx="4763384" cy="336872"/>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latin typeface="Trade Gothic LT Pro Bold" panose="020B0803040303020004" pitchFamily="34" charset="0"/>
              </a:rPr>
              <a:t>Assess stakeholder motivations</a:t>
            </a:r>
          </a:p>
        </p:txBody>
      </p:sp>
      <p:sp>
        <p:nvSpPr>
          <p:cNvPr id="38" name="Rectangle 37">
            <a:extLst>
              <a:ext uri="{FF2B5EF4-FFF2-40B4-BE49-F238E27FC236}">
                <a16:creationId xmlns:a16="http://schemas.microsoft.com/office/drawing/2014/main" id="{7F6A624F-07BB-4149-8D57-61B7A8A9E538}"/>
              </a:ext>
            </a:extLst>
          </p:cNvPr>
          <p:cNvSpPr/>
          <p:nvPr/>
        </p:nvSpPr>
        <p:spPr>
          <a:xfrm>
            <a:off x="5029198" y="1418440"/>
            <a:ext cx="4763323" cy="338328"/>
          </a:xfrm>
          <a:prstGeom prst="rect">
            <a:avLst/>
          </a:prstGeom>
          <a:solidFill>
            <a:srgbClr val="005B9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latin typeface="Trade Gothic LT Pro Bold" panose="020B0803040303020004" pitchFamily="34" charset="0"/>
              </a:rPr>
              <a:t>Assess our motivations</a:t>
            </a:r>
          </a:p>
        </p:txBody>
      </p:sp>
      <p:sp>
        <p:nvSpPr>
          <p:cNvPr id="40" name="Rectangle 39">
            <a:extLst>
              <a:ext uri="{FF2B5EF4-FFF2-40B4-BE49-F238E27FC236}">
                <a16:creationId xmlns:a16="http://schemas.microsoft.com/office/drawing/2014/main" id="{F79DF7CF-FEB0-4BD6-955A-EB7536C6B740}"/>
              </a:ext>
            </a:extLst>
          </p:cNvPr>
          <p:cNvSpPr/>
          <p:nvPr/>
        </p:nvSpPr>
        <p:spPr>
          <a:xfrm>
            <a:off x="265749" y="6354866"/>
            <a:ext cx="9526772" cy="1001349"/>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8FCA5180-1E2C-494B-AFD7-7C19C6883166}"/>
              </a:ext>
            </a:extLst>
          </p:cNvPr>
          <p:cNvSpPr txBox="1"/>
          <p:nvPr/>
        </p:nvSpPr>
        <p:spPr>
          <a:xfrm>
            <a:off x="265685" y="1835322"/>
            <a:ext cx="2233165" cy="2416046"/>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What is important to the stakeholder? </a:t>
            </a:r>
          </a:p>
          <a:p>
            <a:pPr defTabSz="295854">
              <a:defRPr/>
            </a:pPr>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What motivations, objectives or goals (explicit or implicit) might they have? </a:t>
            </a:r>
          </a:p>
          <a:p>
            <a:pPr defTabSz="295854">
              <a:defRPr/>
            </a:pPr>
            <a:endPar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endPar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endParaRPr lang="en-US" sz="10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endParaRPr lang="en-US" sz="10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r>
              <a:rPr lang="en-US" sz="900">
                <a:latin typeface="Trade Gothic LT Pro" panose="020B0503040303020004" pitchFamily="34" charset="77"/>
                <a:ea typeface="Helvetica Neue" panose="02000503000000020004" pitchFamily="2" charset="0"/>
                <a:cs typeface="Helvetica Neue" panose="02000503000000020004" pitchFamily="2" charset="0"/>
              </a:rPr>
              <a:t>What might they </a:t>
            </a:r>
            <a:r>
              <a:rPr lang="en-US" sz="900" u="sng">
                <a:latin typeface="Trade Gothic LT Pro" panose="020B0503040303020004" pitchFamily="34" charset="77"/>
                <a:ea typeface="Helvetica Neue" panose="02000503000000020004" pitchFamily="2" charset="0"/>
                <a:cs typeface="Helvetica Neue" panose="02000503000000020004" pitchFamily="2" charset="0"/>
              </a:rPr>
              <a:t>need</a:t>
            </a:r>
            <a:r>
              <a:rPr lang="en-US" sz="900">
                <a:latin typeface="Trade Gothic LT Pro" panose="020B0503040303020004" pitchFamily="34" charset="77"/>
                <a:ea typeface="Helvetica Neue" panose="02000503000000020004" pitchFamily="2" charset="0"/>
                <a:cs typeface="Helvetica Neue" panose="02000503000000020004" pitchFamily="2" charset="0"/>
              </a:rPr>
              <a:t> from the effort? </a:t>
            </a:r>
          </a:p>
          <a:p>
            <a:pPr defTabSz="295854">
              <a:defRPr/>
            </a:pPr>
            <a:endParaRPr lang="en-US" sz="10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endParaRPr lang="en-US" sz="10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endParaRPr lang="en-US" sz="10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endParaRPr lang="en-US" sz="8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r>
              <a:rPr lang="en-US" sz="900">
                <a:latin typeface="Trade Gothic LT Pro" panose="020B0503040303020004" pitchFamily="34" charset="77"/>
                <a:ea typeface="Helvetica Neue" panose="02000503000000020004" pitchFamily="2" charset="0"/>
                <a:cs typeface="Helvetica Neue" panose="02000503000000020004" pitchFamily="2" charset="0"/>
              </a:rPr>
              <a:t>What might they </a:t>
            </a:r>
            <a:r>
              <a:rPr lang="en-US" sz="900" u="sng">
                <a:latin typeface="Trade Gothic LT Pro" panose="020B0503040303020004" pitchFamily="34" charset="77"/>
                <a:ea typeface="Helvetica Neue" panose="02000503000000020004" pitchFamily="2" charset="0"/>
                <a:cs typeface="Helvetica Neue" panose="02000503000000020004" pitchFamily="2" charset="0"/>
              </a:rPr>
              <a:t>want</a:t>
            </a:r>
            <a:r>
              <a:rPr lang="en-US" sz="900">
                <a:latin typeface="Trade Gothic LT Pro" panose="020B0503040303020004" pitchFamily="34" charset="77"/>
                <a:ea typeface="Helvetica Neue" panose="02000503000000020004" pitchFamily="2" charset="0"/>
                <a:cs typeface="Helvetica Neue" panose="02000503000000020004" pitchFamily="2" charset="0"/>
              </a:rPr>
              <a:t> or </a:t>
            </a:r>
            <a:r>
              <a:rPr lang="en-US" sz="900" u="sng">
                <a:latin typeface="Trade Gothic LT Pro" panose="020B0503040303020004" pitchFamily="34" charset="77"/>
                <a:ea typeface="Helvetica Neue" panose="02000503000000020004" pitchFamily="2" charset="0"/>
                <a:cs typeface="Helvetica Neue" panose="02000503000000020004" pitchFamily="2" charset="0"/>
              </a:rPr>
              <a:t>expect</a:t>
            </a:r>
            <a:r>
              <a:rPr lang="en-US" sz="900">
                <a:latin typeface="Trade Gothic LT Pro" panose="020B0503040303020004" pitchFamily="34" charset="77"/>
                <a:ea typeface="Helvetica Neue" panose="02000503000000020004" pitchFamily="2" charset="0"/>
                <a:cs typeface="Helvetica Neue" panose="02000503000000020004" pitchFamily="2" charset="0"/>
              </a:rPr>
              <a:t> from the effort? </a:t>
            </a:r>
            <a:endPar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endPar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p:txBody>
      </p:sp>
      <p:sp>
        <p:nvSpPr>
          <p:cNvPr id="44" name="Rectangle 43">
            <a:extLst>
              <a:ext uri="{FF2B5EF4-FFF2-40B4-BE49-F238E27FC236}">
                <a16:creationId xmlns:a16="http://schemas.microsoft.com/office/drawing/2014/main" id="{F725C541-BACD-478D-8FB6-B06011C87CE8}"/>
              </a:ext>
            </a:extLst>
          </p:cNvPr>
          <p:cNvSpPr/>
          <p:nvPr/>
        </p:nvSpPr>
        <p:spPr>
          <a:xfrm>
            <a:off x="265684" y="1754644"/>
            <a:ext cx="4747390" cy="4597561"/>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45" name="Straight Connector 44">
            <a:extLst>
              <a:ext uri="{FF2B5EF4-FFF2-40B4-BE49-F238E27FC236}">
                <a16:creationId xmlns:a16="http://schemas.microsoft.com/office/drawing/2014/main" id="{914AD9AB-1B10-4F4B-A0E1-80405F2366F0}"/>
              </a:ext>
            </a:extLst>
          </p:cNvPr>
          <p:cNvCxnSpPr>
            <a:cxnSpLocks/>
          </p:cNvCxnSpPr>
          <p:nvPr/>
        </p:nvCxnSpPr>
        <p:spPr>
          <a:xfrm>
            <a:off x="2490789" y="1697040"/>
            <a:ext cx="1" cy="4666595"/>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C0C0FB4-E992-441C-B548-6A9AAED0787A}"/>
              </a:ext>
            </a:extLst>
          </p:cNvPr>
          <p:cNvCxnSpPr>
            <a:cxnSpLocks/>
          </p:cNvCxnSpPr>
          <p:nvPr/>
        </p:nvCxnSpPr>
        <p:spPr>
          <a:xfrm>
            <a:off x="265684" y="4464394"/>
            <a:ext cx="9526837" cy="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97FE09C-1A70-4D61-BB48-09C677BED259}"/>
              </a:ext>
            </a:extLst>
          </p:cNvPr>
          <p:cNvCxnSpPr>
            <a:cxnSpLocks/>
          </p:cNvCxnSpPr>
          <p:nvPr/>
        </p:nvCxnSpPr>
        <p:spPr>
          <a:xfrm>
            <a:off x="2490789" y="3108034"/>
            <a:ext cx="7301732" cy="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46F8A83-8231-4E4F-A4EF-605E9E789A35}"/>
              </a:ext>
            </a:extLst>
          </p:cNvPr>
          <p:cNvCxnSpPr>
            <a:cxnSpLocks/>
          </p:cNvCxnSpPr>
          <p:nvPr/>
        </p:nvCxnSpPr>
        <p:spPr>
          <a:xfrm flipH="1">
            <a:off x="7348604" y="1824949"/>
            <a:ext cx="1" cy="2655185"/>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B0B4BF53-945E-4E06-824A-AC9F125D2345}"/>
              </a:ext>
            </a:extLst>
          </p:cNvPr>
          <p:cNvSpPr txBox="1"/>
          <p:nvPr/>
        </p:nvSpPr>
        <p:spPr>
          <a:xfrm>
            <a:off x="246458" y="4466062"/>
            <a:ext cx="2328794" cy="969496"/>
          </a:xfrm>
          <a:prstGeom prst="rect">
            <a:avLst/>
          </a:prstGeom>
          <a:noFill/>
        </p:spPr>
        <p:txBody>
          <a:bodyPr wrap="square" rtlCol="0">
            <a:spAutoFit/>
          </a:bodyPr>
          <a:lstStyle/>
          <a:p>
            <a:r>
              <a:rPr lang="en-US" sz="1050" b="1">
                <a:latin typeface="Trade Gothic LT Pro Bold" panose="020B0503040303020004" pitchFamily="34" charset="77"/>
                <a:ea typeface="Helvetica Neue" panose="02000503000000020004" pitchFamily="2" charset="0"/>
                <a:cs typeface="Helvetica Neue" panose="02000503000000020004" pitchFamily="2" charset="0"/>
              </a:rPr>
              <a:t>How does the effort impact the stakeholder? </a:t>
            </a:r>
          </a:p>
          <a:p>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How do they benefit or experience harm? Consider financial, professional, health, communal or social opportunities, access, experience, etc.</a:t>
            </a:r>
          </a:p>
        </p:txBody>
      </p:sp>
      <p:sp>
        <p:nvSpPr>
          <p:cNvPr id="55" name="TextBox 54">
            <a:extLst>
              <a:ext uri="{FF2B5EF4-FFF2-40B4-BE49-F238E27FC236}">
                <a16:creationId xmlns:a16="http://schemas.microsoft.com/office/drawing/2014/main" id="{1040EA17-41FE-4709-A5E2-43FF6636368E}"/>
              </a:ext>
            </a:extLst>
          </p:cNvPr>
          <p:cNvSpPr txBox="1"/>
          <p:nvPr/>
        </p:nvSpPr>
        <p:spPr>
          <a:xfrm>
            <a:off x="2490790" y="1743638"/>
            <a:ext cx="2492246" cy="577081"/>
          </a:xfrm>
          <a:prstGeom prst="rect">
            <a:avLst/>
          </a:prstGeom>
          <a:noFill/>
        </p:spPr>
        <p:txBody>
          <a:bodyPr wrap="square" rtlCol="0">
            <a:spAutoFit/>
          </a:bodyPr>
          <a:lstStyle/>
          <a:p>
            <a:pPr defTabSz="382865"/>
            <a:r>
              <a:rPr lang="en-US" sz="1050" b="1">
                <a:solidFill>
                  <a:srgbClr val="000000"/>
                </a:solidFill>
                <a:latin typeface="Trade Gothic LT Pro Bold" panose="020B0503040303020004" pitchFamily="34" charset="77"/>
              </a:rPr>
              <a:t>What perspectives, resources, access or benefits can the stakeholder provide or block?</a:t>
            </a:r>
          </a:p>
        </p:txBody>
      </p:sp>
      <p:sp>
        <p:nvSpPr>
          <p:cNvPr id="56" name="TextBox 55">
            <a:extLst>
              <a:ext uri="{FF2B5EF4-FFF2-40B4-BE49-F238E27FC236}">
                <a16:creationId xmlns:a16="http://schemas.microsoft.com/office/drawing/2014/main" id="{F2FA2D92-CA2C-427B-8209-267CB0508A23}"/>
              </a:ext>
            </a:extLst>
          </p:cNvPr>
          <p:cNvSpPr txBox="1"/>
          <p:nvPr/>
        </p:nvSpPr>
        <p:spPr>
          <a:xfrm>
            <a:off x="2498917" y="3106263"/>
            <a:ext cx="2450170" cy="577081"/>
          </a:xfrm>
          <a:prstGeom prst="rect">
            <a:avLst/>
          </a:prstGeom>
          <a:noFill/>
        </p:spPr>
        <p:txBody>
          <a:bodyPr wrap="square" rtlCol="0">
            <a:spAutoFit/>
          </a:bodyPr>
          <a:lstStyle/>
          <a:p>
            <a:pPr defTabSz="382865"/>
            <a:r>
              <a:rPr lang="en-US" sz="1050" b="1">
                <a:solidFill>
                  <a:srgbClr val="000000"/>
                </a:solidFill>
                <a:latin typeface="Trade Gothic LT Pro Bold" panose="020B0503040303020004" pitchFamily="34" charset="77"/>
              </a:rPr>
              <a:t>What relevant first-hand experience (e.g., lived experience) does the stakeholder have?</a:t>
            </a:r>
          </a:p>
        </p:txBody>
      </p:sp>
      <p:sp>
        <p:nvSpPr>
          <p:cNvPr id="57" name="TextBox 56">
            <a:extLst>
              <a:ext uri="{FF2B5EF4-FFF2-40B4-BE49-F238E27FC236}">
                <a16:creationId xmlns:a16="http://schemas.microsoft.com/office/drawing/2014/main" id="{16383054-2016-4D5F-9D2A-609FCB095300}"/>
              </a:ext>
            </a:extLst>
          </p:cNvPr>
          <p:cNvSpPr txBox="1"/>
          <p:nvPr/>
        </p:nvSpPr>
        <p:spPr>
          <a:xfrm>
            <a:off x="2498850" y="4462727"/>
            <a:ext cx="2514223" cy="1308050"/>
          </a:xfrm>
          <a:prstGeom prst="rect">
            <a:avLst/>
          </a:prstGeom>
          <a:noFill/>
        </p:spPr>
        <p:txBody>
          <a:bodyPr wrap="square" rtlCol="0">
            <a:spAutoFit/>
          </a:bodyPr>
          <a:lstStyle/>
          <a:p>
            <a:r>
              <a:rPr lang="en-US" sz="1050" b="1">
                <a:latin typeface="Trade Gothic LT Pro Bold" panose="020B0503040303020004" pitchFamily="34" charset="77"/>
                <a:ea typeface="Helvetica Neue" panose="02000503000000020004" pitchFamily="2" charset="0"/>
                <a:cs typeface="Helvetica Neue" panose="02000503000000020004" pitchFamily="2" charset="0"/>
              </a:rPr>
              <a:t>What power does the stakeholder have over the effort? </a:t>
            </a:r>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Consider power as shaping, regulating, or influencing the effort</a:t>
            </a:r>
          </a:p>
          <a:p>
            <a:endParaRPr lang="en-US" sz="1000" b="1">
              <a:latin typeface="Trade Gothic LT Pro Bold" panose="020B0503040303020004" pitchFamily="34" charset="77"/>
              <a:ea typeface="Helvetica Neue" panose="02000503000000020004" pitchFamily="2" charset="0"/>
              <a:cs typeface="Helvetica Neue" panose="02000503000000020004" pitchFamily="2" charset="0"/>
            </a:endParaRPr>
          </a:p>
          <a:p>
            <a:endParaRPr lang="en-US" sz="1000" b="1">
              <a:latin typeface="Trade Gothic LT Pro Bold" panose="020B0503040303020004" pitchFamily="34" charset="77"/>
              <a:ea typeface="Helvetica Neue" panose="02000503000000020004" pitchFamily="2" charset="0"/>
              <a:cs typeface="Helvetica Neue" panose="02000503000000020004" pitchFamily="2" charset="0"/>
            </a:endParaRPr>
          </a:p>
          <a:p>
            <a:endParaRPr lang="en-US" sz="1000" b="1">
              <a:latin typeface="Trade Gothic LT Pro Bold" panose="020B0503040303020004" pitchFamily="34" charset="77"/>
              <a:ea typeface="Helvetica Neue" panose="02000503000000020004" pitchFamily="2" charset="0"/>
              <a:cs typeface="Helvetica Neue" panose="02000503000000020004" pitchFamily="2" charset="0"/>
            </a:endParaRPr>
          </a:p>
          <a:p>
            <a:endParaRPr lang="en-US" sz="1000" b="1">
              <a:latin typeface="Trade Gothic LT Pro Bold" panose="020B0503040303020004" pitchFamily="34" charset="77"/>
              <a:ea typeface="Helvetica Neue" panose="02000503000000020004" pitchFamily="2" charset="0"/>
              <a:cs typeface="Helvetica Neue" panose="02000503000000020004" pitchFamily="2" charset="0"/>
            </a:endParaRPr>
          </a:p>
          <a:p>
            <a:r>
              <a:rPr lang="en-US" sz="900">
                <a:latin typeface="Trade Gothic LT Pro" panose="020B0503040303020004" pitchFamily="34" charset="77"/>
                <a:ea typeface="Helvetica Neue" panose="02000503000000020004" pitchFamily="2" charset="0"/>
                <a:cs typeface="Helvetica Neue" panose="02000503000000020004" pitchFamily="2" charset="0"/>
              </a:rPr>
              <a:t>Over others?</a:t>
            </a:r>
          </a:p>
        </p:txBody>
      </p:sp>
      <p:sp>
        <p:nvSpPr>
          <p:cNvPr id="59" name="TextBox 58">
            <a:extLst>
              <a:ext uri="{FF2B5EF4-FFF2-40B4-BE49-F238E27FC236}">
                <a16:creationId xmlns:a16="http://schemas.microsoft.com/office/drawing/2014/main" id="{37B5F235-836A-405F-B498-B6D397F3AAD6}"/>
              </a:ext>
            </a:extLst>
          </p:cNvPr>
          <p:cNvSpPr txBox="1"/>
          <p:nvPr/>
        </p:nvSpPr>
        <p:spPr>
          <a:xfrm>
            <a:off x="5040297" y="3164872"/>
            <a:ext cx="2308240" cy="692497"/>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Why do we want to engage with this stakeholder? </a:t>
            </a:r>
            <a:endParaRPr lang="en-US" sz="1050" b="1"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How does this support our effort’s objective?</a:t>
            </a:r>
          </a:p>
        </p:txBody>
      </p:sp>
      <p:sp>
        <p:nvSpPr>
          <p:cNvPr id="60" name="TextBox 59">
            <a:extLst>
              <a:ext uri="{FF2B5EF4-FFF2-40B4-BE49-F238E27FC236}">
                <a16:creationId xmlns:a16="http://schemas.microsoft.com/office/drawing/2014/main" id="{A8BDA743-4851-428C-BA68-153BEC2962ED}"/>
              </a:ext>
            </a:extLst>
          </p:cNvPr>
          <p:cNvSpPr txBox="1"/>
          <p:nvPr/>
        </p:nvSpPr>
        <p:spPr>
          <a:xfrm>
            <a:off x="7396321" y="3164872"/>
            <a:ext cx="2423488" cy="253912"/>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What will this engagement lead to? </a:t>
            </a:r>
            <a:endParaRPr lang="en-US" sz="105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p:txBody>
      </p:sp>
      <p:sp>
        <p:nvSpPr>
          <p:cNvPr id="61" name="TextBox 60">
            <a:extLst>
              <a:ext uri="{FF2B5EF4-FFF2-40B4-BE49-F238E27FC236}">
                <a16:creationId xmlns:a16="http://schemas.microsoft.com/office/drawing/2014/main" id="{2D9391E5-9FCD-42A4-B7DF-8D96D4C9E95D}"/>
              </a:ext>
            </a:extLst>
          </p:cNvPr>
          <p:cNvSpPr txBox="1"/>
          <p:nvPr/>
        </p:nvSpPr>
        <p:spPr>
          <a:xfrm>
            <a:off x="7359635" y="1800788"/>
            <a:ext cx="2423491" cy="716928"/>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What do we NEED from this stakeholder?</a:t>
            </a:r>
          </a:p>
          <a:p>
            <a:pPr defTabSz="295854">
              <a:defRPr/>
            </a:pPr>
            <a:endParaRPr lang="en-US" sz="1003" b="1"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endParaRPr lang="en-US" sz="1003" b="1"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endParaRPr lang="en-US" sz="1003" b="1"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endParaRPr>
          </a:p>
        </p:txBody>
      </p:sp>
      <p:sp>
        <p:nvSpPr>
          <p:cNvPr id="62" name="TextBox 61">
            <a:extLst>
              <a:ext uri="{FF2B5EF4-FFF2-40B4-BE49-F238E27FC236}">
                <a16:creationId xmlns:a16="http://schemas.microsoft.com/office/drawing/2014/main" id="{9C53BB5C-596C-48CF-BD7A-8F0C52F0078C}"/>
              </a:ext>
            </a:extLst>
          </p:cNvPr>
          <p:cNvSpPr txBox="1"/>
          <p:nvPr/>
        </p:nvSpPr>
        <p:spPr>
          <a:xfrm>
            <a:off x="5040296" y="1800788"/>
            <a:ext cx="2308241" cy="969496"/>
          </a:xfrm>
          <a:prstGeom prst="rect">
            <a:avLst/>
          </a:prstGeom>
          <a:noFill/>
        </p:spPr>
        <p:txBody>
          <a:bodyPr wrap="square" rtlCol="0">
            <a:spAutoFit/>
          </a:bodyPr>
          <a:lstStyle/>
          <a:p>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Characterize the stakeholder relative to our effort:</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Ally/ advocate</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Neutral</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Opponent</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Something else: _______</a:t>
            </a:r>
          </a:p>
        </p:txBody>
      </p:sp>
      <p:sp>
        <p:nvSpPr>
          <p:cNvPr id="63" name="TextBox 62">
            <a:extLst>
              <a:ext uri="{FF2B5EF4-FFF2-40B4-BE49-F238E27FC236}">
                <a16:creationId xmlns:a16="http://schemas.microsoft.com/office/drawing/2014/main" id="{9EB3932A-39C5-413D-A839-C211E1EC4181}"/>
              </a:ext>
            </a:extLst>
          </p:cNvPr>
          <p:cNvSpPr txBox="1"/>
          <p:nvPr/>
        </p:nvSpPr>
        <p:spPr>
          <a:xfrm>
            <a:off x="5040296" y="4480134"/>
            <a:ext cx="4742825" cy="393058"/>
          </a:xfrm>
          <a:prstGeom prst="rect">
            <a:avLst/>
          </a:prstGeom>
          <a:noFill/>
        </p:spPr>
        <p:txBody>
          <a:bodyPr wrap="square" rtlCol="0">
            <a:spAutoFit/>
          </a:bodyPr>
          <a:lstStyle/>
          <a:p>
            <a:pPr defTabSz="382865"/>
            <a:r>
              <a:rPr lang="en-US" sz="1050" b="1">
                <a:solidFill>
                  <a:srgbClr val="000000"/>
                </a:solidFill>
                <a:latin typeface="Trade Gothic LT Pro Bold" panose="020B0503040303020004" pitchFamily="34" charset="77"/>
              </a:rPr>
              <a:t>What other assumptions and biases do we have about this stakeholder? </a:t>
            </a:r>
            <a:r>
              <a:rPr lang="en-US" sz="900" i="1">
                <a:solidFill>
                  <a:prstClr val="black"/>
                </a:solidFill>
                <a:latin typeface="Trade Gothic LT Pro" panose="020B0503040303020004" pitchFamily="34" charset="77"/>
              </a:rPr>
              <a:t>Individual, system, explicit, implicit…</a:t>
            </a:r>
          </a:p>
        </p:txBody>
      </p:sp>
      <p:sp>
        <p:nvSpPr>
          <p:cNvPr id="64" name="TextBox 63">
            <a:extLst>
              <a:ext uri="{FF2B5EF4-FFF2-40B4-BE49-F238E27FC236}">
                <a16:creationId xmlns:a16="http://schemas.microsoft.com/office/drawing/2014/main" id="{27762D46-4E8D-4879-A283-D30A5A2A8D7D}"/>
              </a:ext>
            </a:extLst>
          </p:cNvPr>
          <p:cNvSpPr txBox="1"/>
          <p:nvPr/>
        </p:nvSpPr>
        <p:spPr>
          <a:xfrm>
            <a:off x="615441" y="6365526"/>
            <a:ext cx="9167680" cy="546303"/>
          </a:xfrm>
          <a:prstGeom prst="rect">
            <a:avLst/>
          </a:prstGeom>
          <a:noFill/>
        </p:spPr>
        <p:txBody>
          <a:bodyPr wrap="square" rtlCol="0">
            <a:spAutoFit/>
          </a:bodyPr>
          <a:lstStyle/>
          <a:p>
            <a:pPr algn="ctr"/>
            <a:r>
              <a:rPr lang="en-US" sz="1050" b="1">
                <a:latin typeface="Trade Gothic LT Pro Bold" panose="020B0503040303020004" pitchFamily="34" charset="77"/>
                <a:ea typeface="Helvetica Neue" panose="02000503000000020004" pitchFamily="2" charset="0"/>
                <a:cs typeface="Helvetica Neue" panose="02000503000000020004" pitchFamily="2" charset="0"/>
              </a:rPr>
              <a:t>What have we learned/discovered that will help us be successful when engaging the stakeholder?</a:t>
            </a:r>
            <a:r>
              <a:rPr lang="en-US" sz="1050">
                <a:latin typeface="Trade Gothic LT Pro Bold" panose="020B0503040303020004" pitchFamily="34" charset="77"/>
                <a:ea typeface="Helvetica Neue" panose="02000503000000020004" pitchFamily="2" charset="0"/>
                <a:cs typeface="Helvetica Neue" panose="02000503000000020004" pitchFamily="2" charset="0"/>
              </a:rPr>
              <a:t> </a:t>
            </a:r>
          </a:p>
          <a:p>
            <a:pPr algn="ctr"/>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If we have divergent views, how might we be successful?</a:t>
            </a:r>
          </a:p>
          <a:p>
            <a:pPr marL="221891" indent="-221891" algn="ctr">
              <a:buFont typeface="Wingdings" pitchFamily="2" charset="2"/>
              <a:buChar char="q"/>
            </a:pPr>
            <a:endParaRPr lang="en-US" sz="1000">
              <a:latin typeface="Trade Gothic LT Pro" panose="020B0503040303020004" pitchFamily="34" charset="77"/>
              <a:ea typeface="Helvetica Neue" panose="02000503000000020004" pitchFamily="2" charset="0"/>
              <a:cs typeface="Helvetica Neue" panose="02000503000000020004" pitchFamily="2" charset="0"/>
            </a:endParaRPr>
          </a:p>
        </p:txBody>
      </p:sp>
      <p:sp>
        <p:nvSpPr>
          <p:cNvPr id="29" name="TextBox 28">
            <a:extLst>
              <a:ext uri="{FF2B5EF4-FFF2-40B4-BE49-F238E27FC236}">
                <a16:creationId xmlns:a16="http://schemas.microsoft.com/office/drawing/2014/main" id="{9C7B781C-0C40-4515-AA1F-DCBD1CFDBC2B}"/>
              </a:ext>
            </a:extLst>
          </p:cNvPr>
          <p:cNvSpPr txBox="1"/>
          <p:nvPr/>
        </p:nvSpPr>
        <p:spPr>
          <a:xfrm>
            <a:off x="1653272" y="7433621"/>
            <a:ext cx="2156361" cy="230832"/>
          </a:xfrm>
          <a:prstGeom prst="rect">
            <a:avLst/>
          </a:prstGeom>
          <a:noFill/>
        </p:spPr>
        <p:txBody>
          <a:bodyPr wrap="none" rtlCol="0">
            <a:spAutoFit/>
          </a:bodyPr>
          <a:lstStyle/>
          <a:p>
            <a:pPr algn="ctr"/>
            <a:r>
              <a:rPr lang="en-US" sz="900" err="1">
                <a:latin typeface="Trade Gothic LT Pro" panose="020B0503040303020004" pitchFamily="34" charset="77"/>
                <a:cs typeface="Arial" panose="020B0604020202020204" pitchFamily="34" charset="0"/>
              </a:rPr>
              <a:t>Quickstart</a:t>
            </a:r>
            <a:r>
              <a:rPr lang="en-US" sz="900">
                <a:latin typeface="Trade Gothic LT Pro" panose="020B0503040303020004" pitchFamily="34" charset="77"/>
                <a:cs typeface="Arial" panose="020B0604020202020204" pitchFamily="34" charset="0"/>
              </a:rPr>
              <a:t> Stakeholder Engagement V1</a:t>
            </a:r>
          </a:p>
        </p:txBody>
      </p:sp>
    </p:spTree>
    <p:extLst>
      <p:ext uri="{BB962C8B-B14F-4D97-AF65-F5344CB8AC3E}">
        <p14:creationId xmlns:p14="http://schemas.microsoft.com/office/powerpoint/2010/main" val="1217476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5E18822C-3866-4590-AB44-148D25E6DED6}"/>
              </a:ext>
            </a:extLst>
          </p:cNvPr>
          <p:cNvSpPr/>
          <p:nvPr/>
        </p:nvSpPr>
        <p:spPr>
          <a:xfrm>
            <a:off x="265682" y="6486838"/>
            <a:ext cx="339865" cy="856056"/>
          </a:xfrm>
          <a:prstGeom prst="rect">
            <a:avLst/>
          </a:prstGeom>
          <a:solidFill>
            <a:srgbClr val="87DEFF"/>
          </a:solidFill>
          <a:ln w="63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a:solidFill>
                  <a:schemeClr val="tx2"/>
                </a:solidFill>
                <a:latin typeface="Trade Gothic LT Pro Bold" panose="020B0803040303020004" pitchFamily="34" charset="0"/>
              </a:rPr>
              <a:t>Decide</a:t>
            </a:r>
          </a:p>
        </p:txBody>
      </p:sp>
      <p:sp>
        <p:nvSpPr>
          <p:cNvPr id="2" name="TextBox 1">
            <a:extLst>
              <a:ext uri="{FF2B5EF4-FFF2-40B4-BE49-F238E27FC236}">
                <a16:creationId xmlns:a16="http://schemas.microsoft.com/office/drawing/2014/main" id="{A5C30DF5-EA82-804F-B290-E191C0017C5E}"/>
              </a:ext>
            </a:extLst>
          </p:cNvPr>
          <p:cNvSpPr txBox="1"/>
          <p:nvPr/>
        </p:nvSpPr>
        <p:spPr>
          <a:xfrm>
            <a:off x="169875" y="508113"/>
            <a:ext cx="9326769" cy="461665"/>
          </a:xfrm>
          <a:prstGeom prst="rect">
            <a:avLst/>
          </a:prstGeom>
          <a:noFill/>
        </p:spPr>
        <p:txBody>
          <a:bodyPr wrap="square" rtlCol="0">
            <a:spAutoFit/>
          </a:bodyPr>
          <a:lstStyle/>
          <a:p>
            <a:pPr defTabSz="382865"/>
            <a:r>
              <a:rPr lang="en-US" sz="2400" b="1">
                <a:solidFill>
                  <a:srgbClr val="00B0F0"/>
                </a:solidFill>
                <a:latin typeface="Trade Gothic LT Pro Bold" panose="020B0503040303020004" pitchFamily="34" charset="77"/>
              </a:rPr>
              <a:t>QUICKSTART STAKEHOLDER ENGAGEMENT CANVAS: </a:t>
            </a:r>
            <a:r>
              <a:rPr lang="en-US" b="1">
                <a:solidFill>
                  <a:srgbClr val="0B2338"/>
                </a:solidFill>
                <a:latin typeface="Trade Gothic LT Pro Bold" panose="020B0503040303020004" pitchFamily="34" charset="77"/>
              </a:rPr>
              <a:t>Engagement</a:t>
            </a:r>
            <a:endParaRPr lang="en-US" sz="1600" b="1">
              <a:solidFill>
                <a:srgbClr val="0B2338"/>
              </a:solidFill>
              <a:latin typeface="Trade Gothic LT Pro Bold" panose="020B0503040303020004" pitchFamily="34" charset="77"/>
            </a:endParaRPr>
          </a:p>
        </p:txBody>
      </p:sp>
      <p:sp>
        <p:nvSpPr>
          <p:cNvPr id="100" name="Rectangle 99">
            <a:extLst>
              <a:ext uri="{FF2B5EF4-FFF2-40B4-BE49-F238E27FC236}">
                <a16:creationId xmlns:a16="http://schemas.microsoft.com/office/drawing/2014/main" id="{B1012B21-1F42-44EE-A051-6B9894E01C31}"/>
              </a:ext>
            </a:extLst>
          </p:cNvPr>
          <p:cNvSpPr/>
          <p:nvPr/>
        </p:nvSpPr>
        <p:spPr>
          <a:xfrm>
            <a:off x="265814" y="991043"/>
            <a:ext cx="9526772" cy="6345117"/>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43EE6D8D-FA72-4BA7-8058-FB50FE1C4881}"/>
              </a:ext>
            </a:extLst>
          </p:cNvPr>
          <p:cNvSpPr txBox="1"/>
          <p:nvPr/>
        </p:nvSpPr>
        <p:spPr>
          <a:xfrm>
            <a:off x="106162" y="7423572"/>
            <a:ext cx="1569660" cy="230832"/>
          </a:xfrm>
          <a:prstGeom prst="rect">
            <a:avLst/>
          </a:prstGeom>
          <a:noFill/>
        </p:spPr>
        <p:txBody>
          <a:bodyPr wrap="none" rtlCol="0">
            <a:spAutoFit/>
          </a:bodyPr>
          <a:lstStyle/>
          <a:p>
            <a:r>
              <a:rPr lang="en-US" sz="900" err="1">
                <a:latin typeface="Trade Gothic LT Pro" panose="020B0503040303020004" pitchFamily="34" charset="77"/>
                <a:cs typeface="Arial" panose="020B0604020202020204" pitchFamily="34" charset="0"/>
              </a:rPr>
              <a:t>itk.mitre.org</a:t>
            </a:r>
            <a:r>
              <a:rPr lang="en-US" sz="900">
                <a:latin typeface="Trade Gothic LT Pro" panose="020B0503040303020004" pitchFamily="34" charset="77"/>
                <a:cs typeface="Arial" panose="020B0604020202020204" pitchFamily="34" charset="0"/>
              </a:rPr>
              <a:t> | </a:t>
            </a:r>
            <a:r>
              <a:rPr lang="en-US" sz="900" err="1">
                <a:latin typeface="Trade Gothic LT Pro" panose="020B0503040303020004" pitchFamily="34" charset="77"/>
                <a:cs typeface="Arial" panose="020B0604020202020204" pitchFamily="34" charset="0"/>
              </a:rPr>
              <a:t>itk@mitre.org</a:t>
            </a:r>
            <a:endParaRPr lang="en-US" sz="900">
              <a:latin typeface="Trade Gothic LT Pro" panose="020B0503040303020004" pitchFamily="34" charset="77"/>
              <a:cs typeface="Arial" panose="020B0604020202020204" pitchFamily="34" charset="0"/>
            </a:endParaRPr>
          </a:p>
        </p:txBody>
      </p:sp>
      <p:sp>
        <p:nvSpPr>
          <p:cNvPr id="19" name="TextBox 18">
            <a:extLst>
              <a:ext uri="{FF2B5EF4-FFF2-40B4-BE49-F238E27FC236}">
                <a16:creationId xmlns:a16="http://schemas.microsoft.com/office/drawing/2014/main" id="{2BE8F124-1477-441A-ADF5-1CA278A6990F}"/>
              </a:ext>
            </a:extLst>
          </p:cNvPr>
          <p:cNvSpPr txBox="1"/>
          <p:nvPr/>
        </p:nvSpPr>
        <p:spPr>
          <a:xfrm>
            <a:off x="3720705" y="7433621"/>
            <a:ext cx="5833648" cy="230832"/>
          </a:xfrm>
          <a:prstGeom prst="rect">
            <a:avLst/>
          </a:prstGeom>
          <a:noFill/>
        </p:spPr>
        <p:txBody>
          <a:bodyPr wrap="none" rtlCol="0">
            <a:spAutoFit/>
          </a:bodyPr>
          <a:lstStyle/>
          <a:p>
            <a:pPr lvl="0">
              <a:defRPr/>
            </a:pPr>
            <a:r>
              <a:rPr lang="en-US" sz="900">
                <a:latin typeface="Trade Gothic LT Pro" panose="020B0503040303020004" pitchFamily="34" charset="77"/>
                <a:cs typeface="Arial" panose="020B0604020202020204" pitchFamily="34" charset="0"/>
              </a:rPr>
              <a:t>© 2021 The MITRE Corporation. All rights reserved. Approved for public release. Distribution unlimited PR_20-01469-12.</a:t>
            </a:r>
          </a:p>
        </p:txBody>
      </p:sp>
      <p:sp>
        <p:nvSpPr>
          <p:cNvPr id="25" name="TextBox 24">
            <a:extLst>
              <a:ext uri="{FF2B5EF4-FFF2-40B4-BE49-F238E27FC236}">
                <a16:creationId xmlns:a16="http://schemas.microsoft.com/office/drawing/2014/main" id="{58ADA534-0C74-43E6-8372-754CC462BA8D}"/>
              </a:ext>
            </a:extLst>
          </p:cNvPr>
          <p:cNvSpPr txBox="1"/>
          <p:nvPr/>
        </p:nvSpPr>
        <p:spPr>
          <a:xfrm>
            <a:off x="265814" y="1012222"/>
            <a:ext cx="2328795" cy="429078"/>
          </a:xfrm>
          <a:prstGeom prst="rect">
            <a:avLst/>
          </a:prstGeom>
          <a:noFill/>
        </p:spPr>
        <p:txBody>
          <a:bodyPr wrap="square" lIns="59167" tIns="29584" rIns="59167" bIns="29584" rtlCol="0" anchor="t">
            <a:spAutoFit/>
          </a:bodyPr>
          <a:lstStyle/>
          <a:p>
            <a:pPr defTabSz="382865"/>
            <a:r>
              <a:rPr lang="en-US" sz="1200" b="1">
                <a:solidFill>
                  <a:srgbClr val="000000"/>
                </a:solidFill>
                <a:latin typeface="Trade Gothic LT Pro Bold"/>
              </a:rPr>
              <a:t>Stakeholder name</a:t>
            </a:r>
          </a:p>
          <a:p>
            <a:pPr defTabSz="382865"/>
            <a:r>
              <a:rPr lang="en-US" sz="1200" b="1">
                <a:solidFill>
                  <a:srgbClr val="000000"/>
                </a:solidFill>
                <a:latin typeface="Trade Gothic LT Pro Bold"/>
              </a:rPr>
              <a:t> Contact info</a:t>
            </a:r>
          </a:p>
        </p:txBody>
      </p:sp>
      <p:sp>
        <p:nvSpPr>
          <p:cNvPr id="34" name="TextBox 33">
            <a:extLst>
              <a:ext uri="{FF2B5EF4-FFF2-40B4-BE49-F238E27FC236}">
                <a16:creationId xmlns:a16="http://schemas.microsoft.com/office/drawing/2014/main" id="{A229D8EA-0EC9-4089-97DC-A079057D23DC}"/>
              </a:ext>
            </a:extLst>
          </p:cNvPr>
          <p:cNvSpPr txBox="1"/>
          <p:nvPr/>
        </p:nvSpPr>
        <p:spPr>
          <a:xfrm>
            <a:off x="5024504" y="1012222"/>
            <a:ext cx="2328795" cy="429078"/>
          </a:xfrm>
          <a:prstGeom prst="rect">
            <a:avLst/>
          </a:prstGeom>
          <a:noFill/>
        </p:spPr>
        <p:txBody>
          <a:bodyPr wrap="square" lIns="59167" tIns="29584" rIns="59167" bIns="29584" rtlCol="0" anchor="t">
            <a:spAutoFit/>
          </a:bodyPr>
          <a:lstStyle/>
          <a:p>
            <a:pPr defTabSz="382865"/>
            <a:r>
              <a:rPr lang="en-US" sz="1200" i="1">
                <a:solidFill>
                  <a:srgbClr val="000000"/>
                </a:solidFill>
                <a:latin typeface="Trade Gothic LT Pro Bold"/>
              </a:rPr>
              <a:t>Stakeholder proxy</a:t>
            </a:r>
          </a:p>
          <a:p>
            <a:pPr defTabSz="382865"/>
            <a:r>
              <a:rPr lang="en-US" sz="1200" i="1">
                <a:solidFill>
                  <a:srgbClr val="000000"/>
                </a:solidFill>
                <a:latin typeface="Trade Gothic LT Pro Bold"/>
              </a:rPr>
              <a:t> Contact info</a:t>
            </a:r>
          </a:p>
        </p:txBody>
      </p:sp>
      <p:sp>
        <p:nvSpPr>
          <p:cNvPr id="40" name="Rectangle 39">
            <a:extLst>
              <a:ext uri="{FF2B5EF4-FFF2-40B4-BE49-F238E27FC236}">
                <a16:creationId xmlns:a16="http://schemas.microsoft.com/office/drawing/2014/main" id="{F79DF7CF-FEB0-4BD6-955A-EB7536C6B740}"/>
              </a:ext>
            </a:extLst>
          </p:cNvPr>
          <p:cNvSpPr/>
          <p:nvPr/>
        </p:nvSpPr>
        <p:spPr>
          <a:xfrm>
            <a:off x="265749" y="6494563"/>
            <a:ext cx="9526772" cy="841600"/>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1" name="Straight Connector 50">
            <a:extLst>
              <a:ext uri="{FF2B5EF4-FFF2-40B4-BE49-F238E27FC236}">
                <a16:creationId xmlns:a16="http://schemas.microsoft.com/office/drawing/2014/main" id="{546F8A83-8231-4E4F-A4EF-605E9E789A35}"/>
              </a:ext>
            </a:extLst>
          </p:cNvPr>
          <p:cNvCxnSpPr>
            <a:cxnSpLocks/>
          </p:cNvCxnSpPr>
          <p:nvPr/>
        </p:nvCxnSpPr>
        <p:spPr>
          <a:xfrm>
            <a:off x="3282930" y="1387422"/>
            <a:ext cx="0" cy="396367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8C1463BE-75D0-45FA-87AA-43A3844D96A4}"/>
              </a:ext>
            </a:extLst>
          </p:cNvPr>
          <p:cNvSpPr/>
          <p:nvPr/>
        </p:nvSpPr>
        <p:spPr>
          <a:xfrm>
            <a:off x="265683" y="1410525"/>
            <a:ext cx="9526772" cy="5076309"/>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2" name="Straight Connector 31">
            <a:extLst>
              <a:ext uri="{FF2B5EF4-FFF2-40B4-BE49-F238E27FC236}">
                <a16:creationId xmlns:a16="http://schemas.microsoft.com/office/drawing/2014/main" id="{0390343F-9494-4236-895E-A1A54193866E}"/>
              </a:ext>
            </a:extLst>
          </p:cNvPr>
          <p:cNvCxnSpPr>
            <a:cxnSpLocks/>
          </p:cNvCxnSpPr>
          <p:nvPr/>
        </p:nvCxnSpPr>
        <p:spPr>
          <a:xfrm>
            <a:off x="6542467" y="1396566"/>
            <a:ext cx="0" cy="5090268"/>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0532D18-224C-4EB6-8FDA-7D224F7A3344}"/>
              </a:ext>
            </a:extLst>
          </p:cNvPr>
          <p:cNvCxnSpPr>
            <a:cxnSpLocks/>
          </p:cNvCxnSpPr>
          <p:nvPr/>
        </p:nvCxnSpPr>
        <p:spPr>
          <a:xfrm>
            <a:off x="265683" y="3271821"/>
            <a:ext cx="9526772" cy="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4EDD7B-231C-4588-8768-20721F5E63BB}"/>
              </a:ext>
            </a:extLst>
          </p:cNvPr>
          <p:cNvCxnSpPr>
            <a:cxnSpLocks/>
          </p:cNvCxnSpPr>
          <p:nvPr/>
        </p:nvCxnSpPr>
        <p:spPr>
          <a:xfrm>
            <a:off x="261118" y="5346949"/>
            <a:ext cx="9526772" cy="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0359A3B-1EA1-43FF-876F-B7964033AD54}"/>
              </a:ext>
            </a:extLst>
          </p:cNvPr>
          <p:cNvSpPr txBox="1"/>
          <p:nvPr/>
        </p:nvSpPr>
        <p:spPr>
          <a:xfrm>
            <a:off x="269589" y="1413758"/>
            <a:ext cx="3013341" cy="1171346"/>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Describe your current relationship with this stakeholder</a:t>
            </a:r>
          </a:p>
          <a:p>
            <a:pPr defTabSz="295854">
              <a:defRPr/>
            </a:pPr>
            <a:endParaRPr lang="en-US" sz="1003"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endParaRPr>
          </a:p>
          <a:p>
            <a:pPr defTabSz="295854">
              <a:defRPr/>
            </a:pPr>
            <a:endParaRPr lang="en-US" sz="1003"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endParaRPr>
          </a:p>
          <a:p>
            <a:pPr defTabSz="295854">
              <a:defRPr/>
            </a:pPr>
            <a:endParaRPr lang="en-US" sz="1003"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endParaRPr>
          </a:p>
          <a:p>
            <a:endParaRPr lang="en-US" sz="1003"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endParaRPr>
          </a:p>
          <a:p>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What have past engagements been like? </a:t>
            </a:r>
          </a:p>
        </p:txBody>
      </p:sp>
      <p:sp>
        <p:nvSpPr>
          <p:cNvPr id="43" name="TextBox 42">
            <a:extLst>
              <a:ext uri="{FF2B5EF4-FFF2-40B4-BE49-F238E27FC236}">
                <a16:creationId xmlns:a16="http://schemas.microsoft.com/office/drawing/2014/main" id="{2117143C-5720-4B9F-B8C6-DE5E65BA6FA6}"/>
              </a:ext>
            </a:extLst>
          </p:cNvPr>
          <p:cNvSpPr txBox="1"/>
          <p:nvPr/>
        </p:nvSpPr>
        <p:spPr>
          <a:xfrm>
            <a:off x="6602228" y="2312526"/>
            <a:ext cx="3167433" cy="371127"/>
          </a:xfrm>
          <a:prstGeom prst="rect">
            <a:avLst/>
          </a:prstGeom>
          <a:noFill/>
          <a:ln>
            <a:noFill/>
          </a:ln>
        </p:spPr>
        <p:txBody>
          <a:bodyPr wrap="square" rtlCol="0">
            <a:spAutoFit/>
          </a:bodyPr>
          <a:lstStyle/>
          <a:p>
            <a:pPr defTabSz="295854">
              <a:defRPr/>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How will we know we’ve achieved the desired outcome from engaging with this stakeholder? </a:t>
            </a:r>
          </a:p>
        </p:txBody>
      </p:sp>
      <p:sp>
        <p:nvSpPr>
          <p:cNvPr id="48" name="TextBox 47">
            <a:extLst>
              <a:ext uri="{FF2B5EF4-FFF2-40B4-BE49-F238E27FC236}">
                <a16:creationId xmlns:a16="http://schemas.microsoft.com/office/drawing/2014/main" id="{8DD5A0D6-1376-480C-A814-232244144CB5}"/>
              </a:ext>
            </a:extLst>
          </p:cNvPr>
          <p:cNvSpPr txBox="1"/>
          <p:nvPr/>
        </p:nvSpPr>
        <p:spPr>
          <a:xfrm>
            <a:off x="3282930" y="1416159"/>
            <a:ext cx="3313880" cy="553998"/>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What relevant historical harm may surround this stakeholder and/or their community? </a:t>
            </a:r>
          </a:p>
          <a:p>
            <a:pPr defTabSz="295854">
              <a:defRPr/>
            </a:pPr>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If we don’t know, how might we find out?</a:t>
            </a:r>
          </a:p>
        </p:txBody>
      </p:sp>
      <p:sp>
        <p:nvSpPr>
          <p:cNvPr id="49" name="TextBox 48">
            <a:extLst>
              <a:ext uri="{FF2B5EF4-FFF2-40B4-BE49-F238E27FC236}">
                <a16:creationId xmlns:a16="http://schemas.microsoft.com/office/drawing/2014/main" id="{4A1BA35A-7040-464C-B0A5-6681264B2FD1}"/>
              </a:ext>
            </a:extLst>
          </p:cNvPr>
          <p:cNvSpPr txBox="1"/>
          <p:nvPr/>
        </p:nvSpPr>
        <p:spPr>
          <a:xfrm>
            <a:off x="3352685" y="2382224"/>
            <a:ext cx="2746265" cy="231730"/>
          </a:xfrm>
          <a:prstGeom prst="rect">
            <a:avLst/>
          </a:prstGeom>
          <a:noFill/>
        </p:spPr>
        <p:txBody>
          <a:bodyPr wrap="none" rtlCol="0">
            <a:spAutoFit/>
          </a:bodyPr>
          <a:lstStyle/>
          <a:p>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How can we be mindful of this in our engagement?</a:t>
            </a:r>
          </a:p>
        </p:txBody>
      </p:sp>
      <p:sp>
        <p:nvSpPr>
          <p:cNvPr id="50" name="TextBox 49">
            <a:extLst>
              <a:ext uri="{FF2B5EF4-FFF2-40B4-BE49-F238E27FC236}">
                <a16:creationId xmlns:a16="http://schemas.microsoft.com/office/drawing/2014/main" id="{C5F23184-EB77-43FD-854E-0605D701DB32}"/>
              </a:ext>
            </a:extLst>
          </p:cNvPr>
          <p:cNvSpPr txBox="1"/>
          <p:nvPr/>
        </p:nvSpPr>
        <p:spPr>
          <a:xfrm>
            <a:off x="6610916" y="1415555"/>
            <a:ext cx="3167433" cy="253916"/>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How might this engagement be wildly successful? </a:t>
            </a:r>
          </a:p>
        </p:txBody>
      </p:sp>
      <p:sp>
        <p:nvSpPr>
          <p:cNvPr id="52" name="TextBox 51">
            <a:extLst>
              <a:ext uri="{FF2B5EF4-FFF2-40B4-BE49-F238E27FC236}">
                <a16:creationId xmlns:a16="http://schemas.microsoft.com/office/drawing/2014/main" id="{AC2EA593-F6FA-4DAB-817C-C993DA79A659}"/>
              </a:ext>
            </a:extLst>
          </p:cNvPr>
          <p:cNvSpPr txBox="1"/>
          <p:nvPr/>
        </p:nvSpPr>
        <p:spPr>
          <a:xfrm>
            <a:off x="3268835" y="3277811"/>
            <a:ext cx="3256981" cy="854080"/>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What power dynamics (in their organization, with other stakeholders, </a:t>
            </a:r>
            <a:r>
              <a:rPr lang="en-US" sz="1050" b="1" err="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etc</a:t>
            </a: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 do we need to navigate to effectively interact or reach the stakeholder? </a:t>
            </a:r>
          </a:p>
          <a:p>
            <a:pPr defTabSz="295854">
              <a:defRPr/>
            </a:pPr>
            <a:r>
              <a:rPr lang="en-US" sz="900" i="1">
                <a:latin typeface="Trade Gothic LT Pro" panose="020B0503040303020004" pitchFamily="34" charset="77"/>
                <a:ea typeface="Helvetica Neue" panose="02000503000000020004" pitchFamily="2" charset="0"/>
                <a:cs typeface="Helvetica Neue" panose="02000503000000020004" pitchFamily="2" charset="0"/>
              </a:rPr>
              <a:t>Who influences the stakeholder? Who does this stakeholder influence?</a:t>
            </a:r>
          </a:p>
        </p:txBody>
      </p:sp>
      <p:sp>
        <p:nvSpPr>
          <p:cNvPr id="53" name="TextBox 52">
            <a:extLst>
              <a:ext uri="{FF2B5EF4-FFF2-40B4-BE49-F238E27FC236}">
                <a16:creationId xmlns:a16="http://schemas.microsoft.com/office/drawing/2014/main" id="{E8540624-FF5C-403A-BA2B-60247B14B60C}"/>
              </a:ext>
            </a:extLst>
          </p:cNvPr>
          <p:cNvSpPr txBox="1"/>
          <p:nvPr/>
        </p:nvSpPr>
        <p:spPr>
          <a:xfrm>
            <a:off x="6544466" y="3286376"/>
            <a:ext cx="3236560" cy="392415"/>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How might this engagement go badly? </a:t>
            </a:r>
          </a:p>
          <a:p>
            <a:pPr defTabSz="295854">
              <a:defRPr/>
            </a:pPr>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Will this engagement create more harm? </a:t>
            </a:r>
          </a:p>
        </p:txBody>
      </p:sp>
      <p:sp>
        <p:nvSpPr>
          <p:cNvPr id="58" name="TextBox 57">
            <a:extLst>
              <a:ext uri="{FF2B5EF4-FFF2-40B4-BE49-F238E27FC236}">
                <a16:creationId xmlns:a16="http://schemas.microsoft.com/office/drawing/2014/main" id="{86B9D809-3B65-4F63-8A62-B765AF4DFE08}"/>
              </a:ext>
            </a:extLst>
          </p:cNvPr>
          <p:cNvSpPr txBox="1"/>
          <p:nvPr/>
        </p:nvSpPr>
        <p:spPr>
          <a:xfrm>
            <a:off x="6593409" y="4120657"/>
            <a:ext cx="3150359" cy="1207510"/>
          </a:xfrm>
          <a:prstGeom prst="rect">
            <a:avLst/>
          </a:prstGeom>
          <a:noFill/>
        </p:spPr>
        <p:txBody>
          <a:bodyPr wrap="square" rtlCol="0">
            <a:spAutoFit/>
          </a:bodyPr>
          <a:lstStyle/>
          <a:p>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What are the prevention strategies available to us?</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Engage with proxy</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Engage later</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Someone else leads the engagement</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Research the stakeholder to better understand them, their history, their experience, etc.</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Do not engage</a:t>
            </a:r>
          </a:p>
          <a:p>
            <a:pPr marL="184909" indent="-184909">
              <a:buFont typeface="Wingdings" pitchFamily="2" charset="2"/>
              <a:buChar char="q"/>
            </a:pPr>
            <a:r>
              <a:rPr lang="en-US" sz="900">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Something else: ___________________</a:t>
            </a:r>
          </a:p>
        </p:txBody>
      </p:sp>
      <p:sp>
        <p:nvSpPr>
          <p:cNvPr id="65" name="TextBox 64">
            <a:extLst>
              <a:ext uri="{FF2B5EF4-FFF2-40B4-BE49-F238E27FC236}">
                <a16:creationId xmlns:a16="http://schemas.microsoft.com/office/drawing/2014/main" id="{5622898A-79F5-4559-AA74-AD933B901E53}"/>
              </a:ext>
            </a:extLst>
          </p:cNvPr>
          <p:cNvSpPr txBox="1"/>
          <p:nvPr/>
        </p:nvSpPr>
        <p:spPr>
          <a:xfrm>
            <a:off x="272991" y="3277781"/>
            <a:ext cx="2995713" cy="1336776"/>
          </a:xfrm>
          <a:prstGeom prst="rect">
            <a:avLst/>
          </a:prstGeom>
          <a:noFill/>
        </p:spPr>
        <p:txBody>
          <a:bodyPr wrap="square" rtlCol="0">
            <a:spAutoFit/>
          </a:bodyPr>
          <a:lstStyle/>
          <a:p>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How have we (including those before us) been part of disappointing or missed expectations? </a:t>
            </a:r>
          </a:p>
          <a:p>
            <a:endParaRPr lang="en-US" sz="835" i="1">
              <a:latin typeface="Trade Gothic LT Pro" panose="020B0503040303020004" pitchFamily="34" charset="77"/>
              <a:ea typeface="Helvetica Neue" panose="02000503000000020004" pitchFamily="2" charset="0"/>
              <a:cs typeface="Helvetica Neue" panose="02000503000000020004" pitchFamily="2" charset="0"/>
            </a:endParaRPr>
          </a:p>
          <a:p>
            <a:endParaRPr lang="en-US" sz="835" i="1">
              <a:latin typeface="Trade Gothic LT Pro" panose="020B0503040303020004" pitchFamily="34" charset="77"/>
              <a:ea typeface="Helvetica Neue" panose="02000503000000020004" pitchFamily="2" charset="0"/>
              <a:cs typeface="Helvetica Neue" panose="02000503000000020004" pitchFamily="2" charset="0"/>
            </a:endParaRPr>
          </a:p>
          <a:p>
            <a:endParaRPr lang="en-US" sz="835" i="1">
              <a:latin typeface="Trade Gothic LT Pro" panose="020B0503040303020004" pitchFamily="34" charset="77"/>
              <a:ea typeface="Helvetica Neue" panose="02000503000000020004" pitchFamily="2" charset="0"/>
              <a:cs typeface="Helvetica Neue" panose="02000503000000020004" pitchFamily="2" charset="0"/>
            </a:endParaRPr>
          </a:p>
          <a:p>
            <a:endParaRPr lang="en-US" sz="835" i="1">
              <a:latin typeface="Trade Gothic LT Pro" panose="020B0503040303020004" pitchFamily="34" charset="77"/>
              <a:ea typeface="Helvetica Neue" panose="02000503000000020004" pitchFamily="2" charset="0"/>
              <a:cs typeface="Helvetica Neue" panose="02000503000000020004" pitchFamily="2" charset="0"/>
            </a:endParaRPr>
          </a:p>
          <a:p>
            <a:endParaRPr lang="en-US" sz="835" i="1">
              <a:latin typeface="Trade Gothic LT Pro" panose="020B0503040303020004" pitchFamily="34" charset="77"/>
              <a:ea typeface="Helvetica Neue" panose="02000503000000020004" pitchFamily="2" charset="0"/>
              <a:cs typeface="Helvetica Neue" panose="02000503000000020004" pitchFamily="2" charset="0"/>
            </a:endParaRPr>
          </a:p>
          <a:p>
            <a:pPr defTabSz="295854">
              <a:defRPr/>
            </a:pPr>
            <a:r>
              <a:rPr lang="en-US" sz="900" i="1">
                <a:latin typeface="Trade Gothic LT Pro" panose="020B0503040303020004" pitchFamily="34" charset="77"/>
                <a:ea typeface="Helvetica Neue" panose="02000503000000020004" pitchFamily="2" charset="0"/>
                <a:cs typeface="Helvetica Neue" panose="02000503000000020004" pitchFamily="2" charset="0"/>
              </a:rPr>
              <a:t>What have we promised to this stakeholder that has not been delivered (currently or historically)?</a:t>
            </a:r>
          </a:p>
        </p:txBody>
      </p:sp>
      <p:sp>
        <p:nvSpPr>
          <p:cNvPr id="66" name="TextBox 65">
            <a:extLst>
              <a:ext uri="{FF2B5EF4-FFF2-40B4-BE49-F238E27FC236}">
                <a16:creationId xmlns:a16="http://schemas.microsoft.com/office/drawing/2014/main" id="{D828FC64-FE0C-4472-A973-1E639292C56C}"/>
              </a:ext>
            </a:extLst>
          </p:cNvPr>
          <p:cNvSpPr txBox="1"/>
          <p:nvPr/>
        </p:nvSpPr>
        <p:spPr>
          <a:xfrm>
            <a:off x="4540195" y="5360236"/>
            <a:ext cx="1988845" cy="369332"/>
          </a:xfrm>
          <a:prstGeom prst="rect">
            <a:avLst/>
          </a:prstGeom>
          <a:noFill/>
          <a:ln>
            <a:noFill/>
          </a:ln>
        </p:spPr>
        <p:txBody>
          <a:bodyPr wrap="square" rtlCol="0">
            <a:spAutoFit/>
          </a:bodyPr>
          <a:lstStyle/>
          <a:p>
            <a:pPr defTabSz="295854">
              <a:defRPr/>
            </a:pPr>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Do we need someone to connect us? If yes, who?</a:t>
            </a:r>
          </a:p>
        </p:txBody>
      </p:sp>
      <p:sp>
        <p:nvSpPr>
          <p:cNvPr id="67" name="TextBox 66">
            <a:extLst>
              <a:ext uri="{FF2B5EF4-FFF2-40B4-BE49-F238E27FC236}">
                <a16:creationId xmlns:a16="http://schemas.microsoft.com/office/drawing/2014/main" id="{BE03E45B-260A-49B6-B39E-4E0CA46174D2}"/>
              </a:ext>
            </a:extLst>
          </p:cNvPr>
          <p:cNvSpPr txBox="1"/>
          <p:nvPr/>
        </p:nvSpPr>
        <p:spPr>
          <a:xfrm>
            <a:off x="269588" y="5346980"/>
            <a:ext cx="3523184" cy="392415"/>
          </a:xfrm>
          <a:prstGeom prst="rect">
            <a:avLst/>
          </a:prstGeom>
          <a:noFill/>
          <a:ln>
            <a:noFill/>
          </a:ln>
        </p:spPr>
        <p:txBody>
          <a:bodyPr wrap="square" rtlCol="0">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What’s the best way to reach the stakeholder or proxy? </a:t>
            </a:r>
          </a:p>
          <a:p>
            <a:pPr defTabSz="295854">
              <a:defRPr/>
            </a:pPr>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Text, phone, in-person, email, social media, something else</a:t>
            </a:r>
          </a:p>
        </p:txBody>
      </p:sp>
      <p:sp>
        <p:nvSpPr>
          <p:cNvPr id="68" name="Rectangle 67">
            <a:extLst>
              <a:ext uri="{FF2B5EF4-FFF2-40B4-BE49-F238E27FC236}">
                <a16:creationId xmlns:a16="http://schemas.microsoft.com/office/drawing/2014/main" id="{96F014D8-D5D9-45B1-A382-1722F578A9E9}"/>
              </a:ext>
            </a:extLst>
          </p:cNvPr>
          <p:cNvSpPr/>
          <p:nvPr/>
        </p:nvSpPr>
        <p:spPr>
          <a:xfrm>
            <a:off x="6628667" y="5346980"/>
            <a:ext cx="3150361" cy="392415"/>
          </a:xfrm>
          <a:prstGeom prst="rect">
            <a:avLst/>
          </a:prstGeom>
        </p:spPr>
        <p:txBody>
          <a:bodyPr wrap="square">
            <a:spAutoFit/>
          </a:bodyPr>
          <a:lstStyle/>
          <a:p>
            <a:pP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When do we interact? </a:t>
            </a:r>
            <a:r>
              <a:rPr lang="en-US" sz="900" i="1">
                <a:solidFill>
                  <a:prstClr val="black"/>
                </a:solidFill>
                <a:latin typeface="Trade Gothic LT Pro" panose="020B0503040303020004" pitchFamily="34" charset="77"/>
                <a:ea typeface="Helvetica Neue" panose="02000503000000020004" pitchFamily="2" charset="0"/>
                <a:cs typeface="Helvetica Neue" panose="02000503000000020004" pitchFamily="2" charset="0"/>
              </a:rPr>
              <a:t>Key dates/ events? How often? Does this need to change? </a:t>
            </a:r>
          </a:p>
        </p:txBody>
      </p:sp>
      <p:sp>
        <p:nvSpPr>
          <p:cNvPr id="69" name="TextBox 68">
            <a:extLst>
              <a:ext uri="{FF2B5EF4-FFF2-40B4-BE49-F238E27FC236}">
                <a16:creationId xmlns:a16="http://schemas.microsoft.com/office/drawing/2014/main" id="{55D95515-E141-4782-A128-040A85C52256}"/>
              </a:ext>
            </a:extLst>
          </p:cNvPr>
          <p:cNvSpPr txBox="1"/>
          <p:nvPr/>
        </p:nvSpPr>
        <p:spPr>
          <a:xfrm>
            <a:off x="619736" y="6490486"/>
            <a:ext cx="3302636" cy="253916"/>
          </a:xfrm>
          <a:prstGeom prst="rect">
            <a:avLst/>
          </a:prstGeom>
          <a:noFill/>
          <a:ln>
            <a:noFill/>
          </a:ln>
        </p:spPr>
        <p:txBody>
          <a:bodyPr wrap="square" rtlCol="0">
            <a:spAutoFit/>
          </a:bodyPr>
          <a:lstStyle/>
          <a:p>
            <a:pPr algn="ctr" defTabSz="295854">
              <a:defRPr/>
            </a:pPr>
            <a:r>
              <a:rPr lang="en-US" sz="1050" b="1">
                <a:solidFill>
                  <a:prstClr val="black"/>
                </a:solidFill>
                <a:latin typeface="Trade Gothic LT Pro Bold" panose="020B0503040303020004" pitchFamily="34" charset="77"/>
                <a:ea typeface="Helvetica Neue" panose="02000503000000020004" pitchFamily="2" charset="0"/>
                <a:cs typeface="Helvetica Neue" panose="02000503000000020004" pitchFamily="2" charset="0"/>
              </a:rPr>
              <a:t>Next Steps </a:t>
            </a:r>
            <a:r>
              <a:rPr lang="en-US" sz="900" i="1">
                <a:latin typeface="Trade Gothic LT Pro" panose="020B0503040303020004" pitchFamily="34" charset="77"/>
                <a:ea typeface="Helvetica Neue" panose="02000503000000020004" pitchFamily="2" charset="0"/>
                <a:cs typeface="Helvetica Neue" panose="02000503000000020004" pitchFamily="2" charset="0"/>
              </a:rPr>
              <a:t>(These can be internal or external actions)</a:t>
            </a:r>
          </a:p>
        </p:txBody>
      </p:sp>
      <p:sp>
        <p:nvSpPr>
          <p:cNvPr id="70" name="TextBox 69">
            <a:extLst>
              <a:ext uri="{FF2B5EF4-FFF2-40B4-BE49-F238E27FC236}">
                <a16:creationId xmlns:a16="http://schemas.microsoft.com/office/drawing/2014/main" id="{AF006FCA-5D71-45E3-9D55-DF3777CDA84B}"/>
              </a:ext>
            </a:extLst>
          </p:cNvPr>
          <p:cNvSpPr txBox="1"/>
          <p:nvPr/>
        </p:nvSpPr>
        <p:spPr>
          <a:xfrm>
            <a:off x="665456" y="6854346"/>
            <a:ext cx="5840724" cy="353943"/>
          </a:xfrm>
          <a:prstGeom prst="rect">
            <a:avLst/>
          </a:prstGeom>
          <a:noFill/>
        </p:spPr>
        <p:txBody>
          <a:bodyPr wrap="square" rtlCol="0">
            <a:spAutoFit/>
          </a:bodyPr>
          <a:lstStyle/>
          <a:p>
            <a:r>
              <a:rPr lang="en-US" sz="900">
                <a:latin typeface="Trade Gothic LT Pro" panose="020B0503040303020004" pitchFamily="34" charset="77"/>
                <a:ea typeface="Helvetica Neue" panose="02000503000000020004" pitchFamily="2" charset="0"/>
                <a:cs typeface="Helvetica Neue" panose="02000503000000020004" pitchFamily="2" charset="0"/>
              </a:rPr>
              <a:t>_____________ will ___________________________________ via ______________ on/by ___________</a:t>
            </a:r>
          </a:p>
          <a:p>
            <a:r>
              <a:rPr lang="en-US" sz="800">
                <a:latin typeface="Trade Gothic LT Pro" panose="020B0503040303020004" pitchFamily="34" charset="77"/>
                <a:ea typeface="Helvetica Neue" panose="02000503000000020004" pitchFamily="2" charset="0"/>
                <a:cs typeface="Helvetica Neue" panose="02000503000000020004" pitchFamily="2" charset="0"/>
              </a:rPr>
              <a:t>     </a:t>
            </a:r>
            <a:r>
              <a:rPr lang="en-US" sz="800" i="1">
                <a:latin typeface="Trade Gothic LT Pro" panose="020B0503040303020004" pitchFamily="34" charset="77"/>
                <a:ea typeface="Helvetica Neue" panose="02000503000000020004" pitchFamily="2" charset="0"/>
                <a:cs typeface="Helvetica Neue" panose="02000503000000020004" pitchFamily="2" charset="0"/>
              </a:rPr>
              <a:t> (Person)		               (action)	                            (method/medium)                 (date)</a:t>
            </a:r>
          </a:p>
        </p:txBody>
      </p:sp>
      <p:cxnSp>
        <p:nvCxnSpPr>
          <p:cNvPr id="71" name="Straight Connector 70">
            <a:extLst>
              <a:ext uri="{FF2B5EF4-FFF2-40B4-BE49-F238E27FC236}">
                <a16:creationId xmlns:a16="http://schemas.microsoft.com/office/drawing/2014/main" id="{B7422E56-CB05-40B8-AD3B-50A716566B54}"/>
              </a:ext>
            </a:extLst>
          </p:cNvPr>
          <p:cNvCxnSpPr>
            <a:cxnSpLocks/>
          </p:cNvCxnSpPr>
          <p:nvPr/>
        </p:nvCxnSpPr>
        <p:spPr>
          <a:xfrm>
            <a:off x="6542467" y="6494563"/>
            <a:ext cx="0" cy="841597"/>
          </a:xfrm>
          <a:prstGeom prst="line">
            <a:avLst/>
          </a:prstGeom>
          <a:ln w="3175">
            <a:solidFill>
              <a:srgbClr val="7E8284"/>
            </a:solidFill>
            <a:prstDash val="dash"/>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CE8CDA4-828E-4F8B-B39B-9E3ED06A8C19}"/>
              </a:ext>
            </a:extLst>
          </p:cNvPr>
          <p:cNvSpPr txBox="1"/>
          <p:nvPr/>
        </p:nvSpPr>
        <p:spPr>
          <a:xfrm>
            <a:off x="6529040" y="6501916"/>
            <a:ext cx="3240621" cy="784830"/>
          </a:xfrm>
          <a:prstGeom prst="rect">
            <a:avLst/>
          </a:prstGeom>
          <a:noFill/>
        </p:spPr>
        <p:txBody>
          <a:bodyPr wrap="square" rtlCol="0">
            <a:spAutoFit/>
          </a:bodyPr>
          <a:lstStyle/>
          <a:p>
            <a:pPr algn="ctr"/>
            <a:r>
              <a:rPr lang="en-US" sz="900">
                <a:latin typeface="Trade Gothic LT Pro" panose="020B0503040303020004" pitchFamily="34" charset="77"/>
                <a:ea typeface="Helvetica Neue" panose="02000503000000020004" pitchFamily="2" charset="0"/>
                <a:cs typeface="Helvetica Neue" panose="02000503000000020004" pitchFamily="2" charset="0"/>
              </a:rPr>
              <a:t>In our next engagement, the </a:t>
            </a:r>
            <a:r>
              <a:rPr lang="en-US" sz="900" b="1">
                <a:latin typeface="Trade Gothic LT Pro Bold" panose="020B0503040303020004" pitchFamily="34" charset="77"/>
                <a:ea typeface="Helvetica Neue" panose="02000503000000020004" pitchFamily="2" charset="0"/>
                <a:cs typeface="Helvetica Neue" panose="02000503000000020004" pitchFamily="2" charset="0"/>
              </a:rPr>
              <a:t>key message </a:t>
            </a:r>
            <a:r>
              <a:rPr lang="en-US" sz="900">
                <a:latin typeface="Trade Gothic LT Pro" panose="020B0503040303020004" pitchFamily="34" charset="77"/>
                <a:ea typeface="Helvetica Neue" panose="02000503000000020004" pitchFamily="2" charset="0"/>
                <a:cs typeface="Helvetica Neue" panose="02000503000000020004" pitchFamily="2" charset="0"/>
              </a:rPr>
              <a:t>is:</a:t>
            </a:r>
          </a:p>
          <a:p>
            <a:pPr algn="ctr"/>
            <a:endParaRPr lang="en-US" sz="900">
              <a:latin typeface="Trade Gothic LT Pro" panose="020B0503040303020004" pitchFamily="34" charset="77"/>
              <a:ea typeface="Helvetica Neue" panose="02000503000000020004" pitchFamily="2" charset="0"/>
              <a:cs typeface="Helvetica Neue" panose="02000503000000020004" pitchFamily="2" charset="0"/>
            </a:endParaRPr>
          </a:p>
          <a:p>
            <a:pPr algn="ctr"/>
            <a:endParaRPr lang="en-US" sz="900">
              <a:latin typeface="Trade Gothic LT Pro" panose="020B0503040303020004" pitchFamily="34" charset="77"/>
              <a:ea typeface="Helvetica Neue" panose="02000503000000020004" pitchFamily="2" charset="0"/>
              <a:cs typeface="Helvetica Neue" panose="02000503000000020004" pitchFamily="2" charset="0"/>
            </a:endParaRPr>
          </a:p>
          <a:p>
            <a:pPr algn="ctr"/>
            <a:r>
              <a:rPr lang="en-US" sz="900">
                <a:latin typeface="Trade Gothic LT Pro" panose="020B0503040303020004" pitchFamily="34" charset="77"/>
                <a:ea typeface="Helvetica Neue" panose="02000503000000020004" pitchFamily="2" charset="0"/>
                <a:cs typeface="Helvetica Neue" panose="02000503000000020004" pitchFamily="2" charset="0"/>
              </a:rPr>
              <a:t>And the </a:t>
            </a:r>
            <a:r>
              <a:rPr lang="en-US" sz="900" b="1">
                <a:latin typeface="Trade Gothic LT Pro Bold" panose="020B0503040303020004" pitchFamily="34" charset="77"/>
                <a:ea typeface="Helvetica Neue" panose="02000503000000020004" pitchFamily="2" charset="0"/>
                <a:cs typeface="Helvetica Neue" panose="02000503000000020004" pitchFamily="2" charset="0"/>
              </a:rPr>
              <a:t>desired outcome </a:t>
            </a:r>
            <a:r>
              <a:rPr lang="en-US" sz="900">
                <a:latin typeface="Trade Gothic LT Pro" panose="020B0503040303020004" pitchFamily="34" charset="77"/>
                <a:ea typeface="Helvetica Neue" panose="02000503000000020004" pitchFamily="2" charset="0"/>
                <a:cs typeface="Helvetica Neue" panose="02000503000000020004" pitchFamily="2" charset="0"/>
              </a:rPr>
              <a:t>is:</a:t>
            </a:r>
          </a:p>
          <a:p>
            <a:pPr algn="ctr"/>
            <a:endParaRPr lang="en-US" sz="900">
              <a:latin typeface="Trade Gothic LT Pro" panose="020B0503040303020004" pitchFamily="34" charset="77"/>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F7618D85-B7F5-4153-A116-D2E39E53B55F}"/>
              </a:ext>
            </a:extLst>
          </p:cNvPr>
          <p:cNvSpPr txBox="1"/>
          <p:nvPr/>
        </p:nvSpPr>
        <p:spPr>
          <a:xfrm>
            <a:off x="1641842" y="7433621"/>
            <a:ext cx="2156361" cy="230832"/>
          </a:xfrm>
          <a:prstGeom prst="rect">
            <a:avLst/>
          </a:prstGeom>
          <a:noFill/>
        </p:spPr>
        <p:txBody>
          <a:bodyPr wrap="none" rtlCol="0">
            <a:spAutoFit/>
          </a:bodyPr>
          <a:lstStyle/>
          <a:p>
            <a:pPr algn="ctr"/>
            <a:r>
              <a:rPr lang="en-US" sz="900" err="1">
                <a:latin typeface="Trade Gothic LT Pro" panose="020B0503040303020004" pitchFamily="34" charset="77"/>
                <a:cs typeface="Arial" panose="020B0604020202020204" pitchFamily="34" charset="0"/>
              </a:rPr>
              <a:t>Quickstart</a:t>
            </a:r>
            <a:r>
              <a:rPr lang="en-US" sz="900">
                <a:latin typeface="Trade Gothic LT Pro" panose="020B0503040303020004" pitchFamily="34" charset="77"/>
                <a:cs typeface="Arial" panose="020B0604020202020204" pitchFamily="34" charset="0"/>
              </a:rPr>
              <a:t> Stakeholder Engagement V1</a:t>
            </a:r>
          </a:p>
        </p:txBody>
      </p:sp>
    </p:spTree>
    <p:extLst>
      <p:ext uri="{BB962C8B-B14F-4D97-AF65-F5344CB8AC3E}">
        <p14:creationId xmlns:p14="http://schemas.microsoft.com/office/powerpoint/2010/main" val="484699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07212F-1776-5144-9583-72996E899833}"/>
              </a:ext>
            </a:extLst>
          </p:cNvPr>
          <p:cNvSpPr txBox="1"/>
          <p:nvPr/>
        </p:nvSpPr>
        <p:spPr>
          <a:xfrm>
            <a:off x="308611" y="302270"/>
            <a:ext cx="5791970" cy="463204"/>
          </a:xfrm>
          <a:prstGeom prst="rect">
            <a:avLst/>
          </a:prstGeom>
          <a:noFill/>
        </p:spPr>
        <p:txBody>
          <a:bodyPr wrap="none" rtlCol="0">
            <a:spAutoFit/>
          </a:bodyPr>
          <a:lstStyle/>
          <a:p>
            <a:pPr defTabSz="382865"/>
            <a:r>
              <a:rPr lang="en-US" sz="2410" b="1">
                <a:solidFill>
                  <a:srgbClr val="00B0F0"/>
                </a:solidFill>
                <a:latin typeface="Trade Gothic LT Pro Bold" panose="020B0503040303020004" pitchFamily="34" charset="77"/>
              </a:rPr>
              <a:t>TOOL TIPS: </a:t>
            </a:r>
            <a:r>
              <a:rPr lang="en-US" b="1">
                <a:solidFill>
                  <a:srgbClr val="0B2338"/>
                </a:solidFill>
                <a:latin typeface="Trade Gothic LT Pro Bold" panose="020B0503040303020004" pitchFamily="34" charset="77"/>
              </a:rPr>
              <a:t>QuickStart Stakeholder Engagement Canvas</a:t>
            </a:r>
          </a:p>
        </p:txBody>
      </p:sp>
      <p:sp>
        <p:nvSpPr>
          <p:cNvPr id="8" name="TextBox 7">
            <a:extLst>
              <a:ext uri="{FF2B5EF4-FFF2-40B4-BE49-F238E27FC236}">
                <a16:creationId xmlns:a16="http://schemas.microsoft.com/office/drawing/2014/main" id="{B12DEED5-2E20-7E4C-96AF-C4C87AB97DB1}"/>
              </a:ext>
            </a:extLst>
          </p:cNvPr>
          <p:cNvSpPr txBox="1"/>
          <p:nvPr/>
        </p:nvSpPr>
        <p:spPr>
          <a:xfrm>
            <a:off x="308611" y="917178"/>
            <a:ext cx="4559774" cy="6519734"/>
          </a:xfrm>
          <a:prstGeom prst="rect">
            <a:avLst/>
          </a:prstGeom>
          <a:noFill/>
        </p:spPr>
        <p:txBody>
          <a:bodyPr wrap="square" rtlCol="0">
            <a:spAutoFit/>
          </a:bodyPr>
          <a:lstStyle/>
          <a:p>
            <a:pPr defTabSz="795256" fontAlgn="base"/>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A quick way to begin developing a plan for effectively engaging a stakeholder.</a:t>
            </a:r>
          </a:p>
          <a:p>
            <a:pPr defTabSz="795256" fontAlgn="base"/>
            <a:endPar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endParaRPr>
          </a:p>
          <a:p>
            <a:pPr defTabSz="795256" fontAlgn="base"/>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Session Length:</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60+ minutes </a:t>
            </a:r>
          </a:p>
          <a:p>
            <a:pPr defTabSz="795256" fontAlgn="base"/>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Group Size:</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Individual or up to 8 people </a:t>
            </a:r>
          </a:p>
          <a:p>
            <a:pPr defTabSz="795256" fontAlgn="base"/>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Prep Time:</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5 minutes</a:t>
            </a:r>
          </a:p>
          <a:p>
            <a:pPr defTabSz="795256" fontAlgn="base"/>
            <a:endPar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endParaRPr>
          </a:p>
          <a:p>
            <a:pPr defTabSz="795256" fontAlgn="base">
              <a:spcAft>
                <a:spcPts val="388"/>
              </a:spcAft>
            </a:pPr>
            <a:r>
              <a:rPr lang="en-US" sz="900" b="1" cap="all">
                <a:solidFill>
                  <a:srgbClr val="008DDE"/>
                </a:solidFill>
                <a:latin typeface="Trade Gothic LT Pro Bold" panose="020B0503040303020004" pitchFamily="34" charset="0"/>
                <a:ea typeface="Helvetica Neue" panose="02000503000000020004" pitchFamily="2" charset="0"/>
                <a:cs typeface="Helvetica Neue" panose="02000503000000020004" pitchFamily="2" charset="0"/>
              </a:rPr>
              <a:t>WHEN</a:t>
            </a:r>
          </a:p>
          <a:p>
            <a:pPr defTabSz="795256" fontAlgn="base">
              <a:spcAft>
                <a:spcPts val="388"/>
              </a:spcAft>
            </a:pP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Assessing and developing a plan for effectively engaging with stakeholders is best early in the process, but it’s an important step whenever you need to interact or collaborate with the people involved, interested, or impacted by your project. Recognizing stakeholders needs, wants, and influence will help you better navigate your effort towards success. </a:t>
            </a:r>
          </a:p>
          <a:p>
            <a:pPr defTabSz="795256" fontAlgn="base">
              <a:spcAft>
                <a:spcPts val="388"/>
              </a:spcAft>
            </a:pP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Use this in combination with the ITK Stakeholder Identification Canvas to begin developing your stakeholder engagement strategy for each stakeholder. Revisiting your engagement strategy throughout the phases of a project will ensure that the right set of people, groups, and organizations are involved at the right time. </a:t>
            </a:r>
          </a:p>
          <a:p>
            <a:pPr defTabSz="795256" fontAlgn="base">
              <a:spcAft>
                <a:spcPts val="388"/>
              </a:spcAft>
            </a:pPr>
            <a:endParaRPr lang="en-US" sz="900">
              <a:solidFill>
                <a:srgbClr val="555555"/>
              </a:solidFill>
              <a:highlight>
                <a:srgbClr val="FFFF00"/>
              </a:highlight>
              <a:latin typeface="Trade Gothic LT Pro" panose="020B0503040303020004" pitchFamily="34" charset="0"/>
              <a:ea typeface="Helvetica Neue" panose="02000503000000020004" pitchFamily="2" charset="0"/>
              <a:cs typeface="Helvetica Neue" panose="02000503000000020004" pitchFamily="2" charset="0"/>
            </a:endParaRPr>
          </a:p>
          <a:p>
            <a:pPr defTabSz="795256" fontAlgn="base">
              <a:spcAft>
                <a:spcPts val="388"/>
              </a:spcAft>
            </a:pPr>
            <a:r>
              <a:rPr lang="en-US" sz="900" b="1" cap="all">
                <a:solidFill>
                  <a:srgbClr val="008DDE"/>
                </a:solidFill>
                <a:latin typeface="Trade Gothic LT Pro Bold" panose="020B0503040303020004" pitchFamily="34" charset="0"/>
                <a:ea typeface="Helvetica Neue" panose="02000503000000020004" pitchFamily="2" charset="0"/>
                <a:cs typeface="Helvetica Neue" panose="02000503000000020004" pitchFamily="2" charset="0"/>
              </a:rPr>
              <a:t>WHY</a:t>
            </a:r>
            <a:endParaRPr lang="en-US" sz="900" b="1" cap="all">
              <a:solidFill>
                <a:srgbClr val="162494"/>
              </a:solidFill>
              <a:latin typeface="Trade Gothic LT Pro Bold" panose="020B0503040303020004" pitchFamily="34" charset="0"/>
              <a:ea typeface="Helvetica Neue" panose="02000503000000020004" pitchFamily="2" charset="0"/>
              <a:cs typeface="Helvetica Neue" panose="02000503000000020004" pitchFamily="2" charset="0"/>
            </a:endParaRPr>
          </a:p>
          <a:p>
            <a:pPr defTabSz="795256" fontAlgn="base">
              <a:spcAft>
                <a:spcPts val="388"/>
              </a:spcAft>
            </a:pP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This tool will help you evaluate why and how to begin engaging with each stakeholder. In addition, this tool helps your team identify actionable Next Steps to move forward.</a:t>
            </a:r>
          </a:p>
          <a:p>
            <a:pPr defTabSz="795256" fontAlgn="base">
              <a:spcAft>
                <a:spcPts val="388"/>
              </a:spcAft>
            </a:pPr>
            <a:endPar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endParaRPr>
          </a:p>
          <a:p>
            <a:pPr defTabSz="795256" fontAlgn="base">
              <a:spcAft>
                <a:spcPts val="388"/>
              </a:spcAft>
            </a:pPr>
            <a:r>
              <a:rPr lang="en-US" sz="900" b="1" cap="all">
                <a:solidFill>
                  <a:srgbClr val="008DDE"/>
                </a:solidFill>
                <a:latin typeface="Trade Gothic LT Pro Bold" panose="020B0503040303020004" pitchFamily="34" charset="0"/>
                <a:ea typeface="Helvetica Neue" panose="02000503000000020004" pitchFamily="2" charset="0"/>
                <a:cs typeface="Helvetica Neue" panose="02000503000000020004" pitchFamily="2" charset="0"/>
              </a:rPr>
              <a:t>HOW</a:t>
            </a:r>
            <a:endParaRPr lang="en-US" sz="900" b="1" cap="all">
              <a:solidFill>
                <a:srgbClr val="162494"/>
              </a:solidFill>
              <a:latin typeface="Trade Gothic LT Pro Bold" panose="020B0503040303020004" pitchFamily="34" charset="0"/>
              <a:ea typeface="Helvetica Neue" panose="02000503000000020004" pitchFamily="2" charset="0"/>
              <a:cs typeface="Helvetica Neue" panose="02000503000000020004" pitchFamily="2" charset="0"/>
            </a:endParaRPr>
          </a:p>
          <a:p>
            <a:pPr defTabSz="795256" fontAlgn="base">
              <a:spcAft>
                <a:spcPts val="777"/>
              </a:spcAft>
            </a:pPr>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STEP 1</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Begin with the “Analysis” side of the canvas. Fill in the necessary contact information for the stakeholder and/or their proxy. </a:t>
            </a:r>
          </a:p>
          <a:p>
            <a:pPr defTabSz="795256" fontAlgn="base">
              <a:spcAft>
                <a:spcPts val="777"/>
              </a:spcAft>
            </a:pPr>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STEP 2</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Begin with “Assess Stakeholder’s Motivations” (left-hand side of canvas). The questions can be answered in any order.</a:t>
            </a:r>
          </a:p>
          <a:p>
            <a:pPr defTabSz="795256" fontAlgn="base">
              <a:spcAft>
                <a:spcPts val="777"/>
              </a:spcAft>
            </a:pPr>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STEP 3</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Next, answer the questions in “Assess Your Motivations” (right-hand side of canvas). These questions can also be answered in any order. </a:t>
            </a:r>
          </a:p>
          <a:p>
            <a:pPr defTabSz="795256" fontAlgn="base">
              <a:spcAft>
                <a:spcPts val="777"/>
              </a:spcAft>
            </a:pPr>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STEP 4</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Now move to the “Assess” box, which is at the bottom of this canvas. Reflect upon and summarize what you have learned or discovered about the stakeholder that is important for successfully engaging with them.</a:t>
            </a:r>
          </a:p>
          <a:p>
            <a:pPr defTabSz="795256" fontAlgn="base">
              <a:spcAft>
                <a:spcPts val="777"/>
              </a:spcAft>
            </a:pPr>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STEP 5</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Flip to the other side of the canvas: “Engagement.” Re-enter the stakeholder and proxy contact information. </a:t>
            </a:r>
          </a:p>
          <a:p>
            <a:pPr defTabSz="795256" fontAlgn="base">
              <a:spcAft>
                <a:spcPts val="777"/>
              </a:spcAft>
            </a:pPr>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STEP 6</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Move on to the main section of the canvas, which has 8 question areas. Answer the questions in any order.</a:t>
            </a:r>
          </a:p>
          <a:p>
            <a:pPr defTabSz="795256" fontAlgn="base">
              <a:spcAft>
                <a:spcPts val="777"/>
              </a:spcAft>
            </a:pPr>
            <a:r>
              <a:rPr lang="en-US" sz="900" b="1">
                <a:solidFill>
                  <a:srgbClr val="555555"/>
                </a:solidFill>
                <a:latin typeface="Trade Gothic LT Pro Bold" panose="020B0503040303020004" pitchFamily="34" charset="0"/>
                <a:ea typeface="Helvetica Neue" panose="02000503000000020004" pitchFamily="2" charset="0"/>
                <a:cs typeface="Helvetica Neue" panose="02000503000000020004" pitchFamily="2" charset="0"/>
              </a:rPr>
              <a:t>STEP 7</a:t>
            </a:r>
            <a:r>
              <a:rPr lang="en-US" sz="9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Lastly, go to the “Decide” box at the bottom of this canvas. Decide who will be responsible for taking the next action, what that action is, through which method or medium, and by which time or frequency. Also discuss the key message and desired outcome in the next engagement with the stakeholder.</a:t>
            </a:r>
          </a:p>
        </p:txBody>
      </p:sp>
      <p:sp>
        <p:nvSpPr>
          <p:cNvPr id="9" name="TextBox 8">
            <a:extLst>
              <a:ext uri="{FF2B5EF4-FFF2-40B4-BE49-F238E27FC236}">
                <a16:creationId xmlns:a16="http://schemas.microsoft.com/office/drawing/2014/main" id="{9609E5D9-0699-0341-8F73-7C8218C4612A}"/>
              </a:ext>
            </a:extLst>
          </p:cNvPr>
          <p:cNvSpPr txBox="1"/>
          <p:nvPr/>
        </p:nvSpPr>
        <p:spPr>
          <a:xfrm>
            <a:off x="5083286" y="917177"/>
            <a:ext cx="4559774" cy="6506395"/>
          </a:xfrm>
          <a:prstGeom prst="rect">
            <a:avLst/>
          </a:prstGeom>
          <a:solidFill>
            <a:schemeClr val="tx2">
              <a:lumMod val="10000"/>
              <a:lumOff val="90000"/>
            </a:schemeClr>
          </a:solidFill>
        </p:spPr>
        <p:txBody>
          <a:bodyPr wrap="square" rtlCol="0">
            <a:noAutofit/>
          </a:bodyPr>
          <a:lstStyle/>
          <a:p>
            <a:pPr defTabSz="295854">
              <a:spcAft>
                <a:spcPts val="388"/>
              </a:spcAft>
              <a:defRPr/>
            </a:pPr>
            <a:r>
              <a:rPr lang="en-US" sz="1000" b="1" u="sng">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Definitions</a:t>
            </a:r>
            <a:endPar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endParaRPr>
          </a:p>
          <a:p>
            <a:pPr defTabSz="295854">
              <a:spcAft>
                <a:spcPts val="388"/>
              </a:spcAft>
              <a:defRPr/>
            </a:pPr>
            <a:r>
              <a:rPr lang="en-US" sz="1000" i="1">
                <a:solidFill>
                  <a:srgbClr val="008DDE"/>
                </a:solidFill>
                <a:latin typeface="Trade Gothic LT Pro" panose="020B0503040303020004" pitchFamily="34" charset="0"/>
                <a:ea typeface="Helvetica Neue" panose="02000503000000020004" pitchFamily="2" charset="0"/>
                <a:cs typeface="Helvetica Neue" panose="02000503000000020004" pitchFamily="2" charset="0"/>
              </a:rPr>
              <a:t>Stakeholders</a:t>
            </a:r>
            <a:r>
              <a:rPr lang="en-US" sz="1000" i="1">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 </a:t>
            </a: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are individuals, organizations, or groups who are involved with, can influence, or will be impacted by the effort. </a:t>
            </a:r>
            <a:r>
              <a:rPr lang="en-US" sz="1000" i="1">
                <a:solidFill>
                  <a:srgbClr val="008DDE"/>
                </a:solidFill>
                <a:latin typeface="Trade Gothic LT Pro" panose="020B0503040303020004" pitchFamily="34" charset="0"/>
                <a:ea typeface="Helvetica Neue" panose="02000503000000020004" pitchFamily="2" charset="0"/>
                <a:cs typeface="Helvetica Neue" panose="02000503000000020004" pitchFamily="2" charset="0"/>
              </a:rPr>
              <a:t>Lived experience </a:t>
            </a: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means having personal knowledge or first-hand experience of a problem. </a:t>
            </a:r>
            <a:r>
              <a:rPr lang="en-US" sz="1000" i="1">
                <a:solidFill>
                  <a:srgbClr val="008DDE"/>
                </a:solidFill>
                <a:latin typeface="Trade Gothic LT Pro" panose="020B0503040303020004" pitchFamily="34" charset="0"/>
                <a:ea typeface="Helvetica Neue" panose="02000503000000020004" pitchFamily="2" charset="0"/>
                <a:cs typeface="Helvetica Neue" panose="02000503000000020004" pitchFamily="2" charset="0"/>
              </a:rPr>
              <a:t>Historical harm </a:t>
            </a: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are past injustices passed to current generations who continue to experience subsequent harm. </a:t>
            </a:r>
            <a:r>
              <a:rPr lang="en-US" sz="1000" i="1">
                <a:solidFill>
                  <a:srgbClr val="008DDE"/>
                </a:solidFill>
                <a:latin typeface="Trade Gothic LT Pro" panose="020B0503040303020004" pitchFamily="34" charset="0"/>
                <a:ea typeface="Helvetica Neue" panose="02000503000000020004" pitchFamily="2" charset="0"/>
                <a:cs typeface="Helvetica Neue" panose="02000503000000020004" pitchFamily="2" charset="0"/>
              </a:rPr>
              <a:t>Community Partners </a:t>
            </a: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is sometimes the preferred term for those stakeholders with lived experience.</a:t>
            </a:r>
          </a:p>
          <a:p>
            <a:pPr defTabSz="295854">
              <a:spcAft>
                <a:spcPts val="388"/>
              </a:spcAft>
              <a:defRPr/>
            </a:pPr>
            <a:r>
              <a:rPr lang="en-US" sz="1000">
                <a:solidFill>
                  <a:srgbClr val="000000"/>
                </a:solidFill>
                <a:latin typeface="Trade Gothic LT Pro" panose="020B0503040303020004" pitchFamily="34" charset="0"/>
                <a:ea typeface="Helvetica Neue" panose="02000503000000020004" pitchFamily="2" charset="0"/>
                <a:cs typeface="Helvetica Neue" panose="02000503000000020004" pitchFamily="2" charset="0"/>
              </a:rPr>
              <a:t>In some situations, the stakeholder cannot be directly engaged with and the team must connect via an intermediary person or organization who represents the stakeholder’s community. The </a:t>
            </a:r>
            <a:r>
              <a:rPr lang="en-US" sz="1000" i="1">
                <a:solidFill>
                  <a:srgbClr val="008DDE"/>
                </a:solidFill>
                <a:latin typeface="Trade Gothic LT Pro" panose="020B0503040303020004" pitchFamily="34" charset="0"/>
                <a:ea typeface="Helvetica Neue" panose="02000503000000020004" pitchFamily="2" charset="0"/>
                <a:cs typeface="Helvetica Neue" panose="02000503000000020004" pitchFamily="2" charset="0"/>
              </a:rPr>
              <a:t>proxy</a:t>
            </a:r>
            <a:r>
              <a:rPr lang="en-US" sz="1000">
                <a:solidFill>
                  <a:srgbClr val="000000"/>
                </a:solidFill>
                <a:latin typeface="Trade Gothic LT Pro" panose="020B0503040303020004" pitchFamily="34" charset="0"/>
                <a:ea typeface="Helvetica Neue" panose="02000503000000020004" pitchFamily="2" charset="0"/>
                <a:cs typeface="Helvetica Neue" panose="02000503000000020004" pitchFamily="2" charset="0"/>
              </a:rPr>
              <a:t> is this intermediary.</a:t>
            </a:r>
            <a:endParaRPr lang="en-US" sz="1000" b="1" u="sng">
              <a:solidFill>
                <a:srgbClr val="000000"/>
              </a:solidFill>
              <a:latin typeface="Trade Gothic LT Pro Bold" panose="020B0503040303020004" pitchFamily="34" charset="0"/>
              <a:ea typeface="Helvetica Neue" panose="02000503000000020004" pitchFamily="2" charset="0"/>
              <a:cs typeface="Helvetica Neue" panose="02000503000000020004" pitchFamily="2" charset="0"/>
            </a:endParaRPr>
          </a:p>
          <a:p>
            <a:pPr defTabSz="295854">
              <a:spcAft>
                <a:spcPts val="388"/>
              </a:spcAft>
              <a:defRPr/>
            </a:pPr>
            <a:endPar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endParaRPr>
          </a:p>
          <a:p>
            <a:pPr defTabSz="295854">
              <a:spcAft>
                <a:spcPts val="388"/>
              </a:spcAft>
              <a:defRPr/>
            </a:pPr>
            <a:r>
              <a:rPr lang="en-US" sz="1000" b="1" u="sng">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Question Bank </a:t>
            </a:r>
            <a:r>
              <a:rPr lang="en-US" sz="1000" i="1">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(to help guide the discussion)</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What does the stakeholder’s influence, position power or authority look like?</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How could the stakeholder contribute to our effort?</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How might the stakeholder help us think differently?</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Is the stakeholder responsible, accountable, consulted, or informed?</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What pre-established relationship may exist with another stakeholder?</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Which other stakeholders do they know? Could influence? Could block?</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What synergies may exist with another stakeholder?</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What conflicts may exist with another stakeholder?</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What key connections does this stakeholder create for our effort?</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What trauma-informed methods are important for successful engagement with this stakeholder?</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What’s the mutual benefit of the effort?</a:t>
            </a:r>
          </a:p>
          <a:p>
            <a:pPr marL="221891" lvl="1" indent="-221891" defTabSz="795256">
              <a:spcAft>
                <a:spcPts val="388"/>
              </a:spcAft>
              <a:buFont typeface="+mj-lt"/>
              <a:buAutoNum type="arabicPeriod"/>
            </a:pPr>
            <a:r>
              <a:rPr lang="en-US" sz="1000">
                <a:solidFill>
                  <a:prstClr val="black"/>
                </a:solidFill>
                <a:latin typeface="Trade Gothic LT Pro" panose="020B0503040303020004" pitchFamily="34" charset="0"/>
                <a:ea typeface="Helvetica Neue" panose="02000503000000020004" pitchFamily="2" charset="0"/>
                <a:cs typeface="Helvetica Neue" panose="02000503000000020004" pitchFamily="2" charset="0"/>
              </a:rPr>
              <a:t>What assumptions and biases do other stakeholders have about this stakeholder?</a:t>
            </a:r>
          </a:p>
          <a:p>
            <a:pPr defTabSz="382865" fontAlgn="base">
              <a:spcAft>
                <a:spcPts val="325"/>
              </a:spcAft>
            </a:pPr>
            <a:endParaRPr lang="en-US" sz="1000" b="1" cap="all">
              <a:solidFill>
                <a:srgbClr val="000000"/>
              </a:solidFill>
              <a:latin typeface="Trade Gothic LT Pro Bold" panose="020B0503040303020004" pitchFamily="34" charset="0"/>
              <a:ea typeface="Helvetica Neue" panose="02000503000000020004" pitchFamily="2" charset="0"/>
              <a:cs typeface="Helvetica Neue" panose="02000503000000020004" pitchFamily="2" charset="0"/>
            </a:endParaRPr>
          </a:p>
          <a:p>
            <a:pPr defTabSz="795256" fontAlgn="base">
              <a:spcAft>
                <a:spcPts val="388"/>
              </a:spcAft>
            </a:pPr>
            <a:r>
              <a:rPr lang="en-US" sz="1000" b="1" cap="all">
                <a:solidFill>
                  <a:srgbClr val="008DDE"/>
                </a:solidFill>
                <a:latin typeface="Trade Gothic LT Pro Bold" panose="020B0503040303020004" pitchFamily="34" charset="0"/>
                <a:ea typeface="Helvetica Neue" panose="02000503000000020004" pitchFamily="2" charset="0"/>
                <a:cs typeface="Helvetica Neue" panose="02000503000000020004" pitchFamily="2" charset="0"/>
              </a:rPr>
              <a:t>PRO Tips</a:t>
            </a:r>
          </a:p>
          <a:p>
            <a:pPr marL="110945" indent="-110945" defTabSz="795256" fontAlgn="base">
              <a:spcAft>
                <a:spcPts val="388"/>
              </a:spcAft>
              <a:buFont typeface="Arial" panose="020B0604020202020204" pitchFamily="34" charset="0"/>
              <a:buChar char="•"/>
            </a:pPr>
            <a:r>
              <a:rPr lang="en-US" sz="10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Use this tool for each identified stakeholder, rather than 1 tool for all stakeholders</a:t>
            </a:r>
          </a:p>
          <a:p>
            <a:pPr marL="110945" indent="-110945" defTabSz="795256" fontAlgn="base">
              <a:spcAft>
                <a:spcPts val="388"/>
              </a:spcAft>
              <a:buFont typeface="Arial" panose="020B0604020202020204" pitchFamily="34" charset="0"/>
              <a:buChar char="•"/>
            </a:pPr>
            <a:r>
              <a:rPr lang="en-US" sz="10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It’s common for teams to iterate between the ITK Stakeholder Identification Canvas and the ITK </a:t>
            </a:r>
            <a:r>
              <a:rPr lang="en-US" sz="1000" err="1">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Quickstart</a:t>
            </a:r>
            <a:r>
              <a:rPr lang="en-US" sz="10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 Stakeholder Engagement Canvas </a:t>
            </a:r>
          </a:p>
          <a:p>
            <a:pPr marL="110945" indent="-110945" defTabSz="795256" fontAlgn="base">
              <a:spcAft>
                <a:spcPts val="388"/>
              </a:spcAft>
              <a:buFont typeface="Arial" panose="020B0604020202020204" pitchFamily="34" charset="0"/>
              <a:buChar char="•"/>
            </a:pPr>
            <a:r>
              <a:rPr lang="en-US" sz="1000">
                <a:solidFill>
                  <a:srgbClr val="555555"/>
                </a:solidFill>
                <a:latin typeface="Trade Gothic LT Pro" panose="020B0503040303020004" pitchFamily="34" charset="0"/>
                <a:ea typeface="Helvetica Neue" panose="02000503000000020004" pitchFamily="2" charset="0"/>
                <a:cs typeface="Helvetica Neue" panose="02000503000000020004" pitchFamily="2" charset="0"/>
              </a:rPr>
              <a:t>After the initial engagement with a stakeholder, continue to use this tool to re-evaluate the best way to continue engaging with the stakeholder. </a:t>
            </a:r>
          </a:p>
          <a:p>
            <a:pPr marL="185814" indent="-185814" defTabSz="382865">
              <a:lnSpc>
                <a:spcPct val="120000"/>
              </a:lnSpc>
              <a:buFont typeface="+mj-lt"/>
              <a:buAutoNum type="arabicPeriod"/>
            </a:pPr>
            <a:endParaRPr lang="en-US" sz="1000">
              <a:solidFill>
                <a:srgbClr val="000000"/>
              </a:solidFill>
              <a:latin typeface="Trade Gothic LT Pro" panose="020B0503040303020004" pitchFamily="34" charset="0"/>
              <a:ea typeface="Helvetica Neue" panose="02000503000000020004" pitchFamily="2" charset="0"/>
              <a:cs typeface="Helvetica Neue" panose="02000503000000020004" pitchFamily="2" charset="0"/>
            </a:endParaRPr>
          </a:p>
          <a:p>
            <a:pPr defTabSz="382865"/>
            <a:endParaRPr lang="en-US" sz="1000">
              <a:solidFill>
                <a:srgbClr val="000000"/>
              </a:solidFill>
              <a:latin typeface="Trade Gothic LT Pro" panose="020B0503040303020004" pitchFamily="34"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5F71F067-6350-4E1B-9336-16C87A2293E8}"/>
              </a:ext>
            </a:extLst>
          </p:cNvPr>
          <p:cNvSpPr txBox="1"/>
          <p:nvPr/>
        </p:nvSpPr>
        <p:spPr>
          <a:xfrm>
            <a:off x="106162" y="7423572"/>
            <a:ext cx="1569660" cy="230832"/>
          </a:xfrm>
          <a:prstGeom prst="rect">
            <a:avLst/>
          </a:prstGeom>
          <a:noFill/>
        </p:spPr>
        <p:txBody>
          <a:bodyPr wrap="none" rtlCol="0">
            <a:spAutoFit/>
          </a:bodyPr>
          <a:lstStyle/>
          <a:p>
            <a:r>
              <a:rPr lang="en-US" sz="900" err="1">
                <a:latin typeface="Trade Gothic LT Pro" panose="020B0503040303020004" pitchFamily="34" charset="77"/>
                <a:cs typeface="Arial" panose="020B0604020202020204" pitchFamily="34" charset="0"/>
              </a:rPr>
              <a:t>itk.mitre.org</a:t>
            </a:r>
            <a:r>
              <a:rPr lang="en-US" sz="900">
                <a:latin typeface="Trade Gothic LT Pro" panose="020B0503040303020004" pitchFamily="34" charset="77"/>
                <a:cs typeface="Arial" panose="020B0604020202020204" pitchFamily="34" charset="0"/>
              </a:rPr>
              <a:t> | </a:t>
            </a:r>
            <a:r>
              <a:rPr lang="en-US" sz="900" err="1">
                <a:latin typeface="Trade Gothic LT Pro" panose="020B0503040303020004" pitchFamily="34" charset="77"/>
                <a:cs typeface="Arial" panose="020B0604020202020204" pitchFamily="34" charset="0"/>
              </a:rPr>
              <a:t>itk@mitre.org</a:t>
            </a:r>
            <a:endParaRPr lang="en-US" sz="900">
              <a:latin typeface="Trade Gothic LT Pro" panose="020B0503040303020004" pitchFamily="34" charset="77"/>
              <a:cs typeface="Arial" panose="020B0604020202020204" pitchFamily="34" charset="0"/>
            </a:endParaRPr>
          </a:p>
        </p:txBody>
      </p:sp>
      <p:sp>
        <p:nvSpPr>
          <p:cNvPr id="6" name="TextBox 5">
            <a:extLst>
              <a:ext uri="{FF2B5EF4-FFF2-40B4-BE49-F238E27FC236}">
                <a16:creationId xmlns:a16="http://schemas.microsoft.com/office/drawing/2014/main" id="{222F4828-D612-4657-A6A2-E68D0D220D2B}"/>
              </a:ext>
            </a:extLst>
          </p:cNvPr>
          <p:cNvSpPr txBox="1"/>
          <p:nvPr/>
        </p:nvSpPr>
        <p:spPr>
          <a:xfrm>
            <a:off x="3720705" y="7433621"/>
            <a:ext cx="5833648" cy="230832"/>
          </a:xfrm>
          <a:prstGeom prst="rect">
            <a:avLst/>
          </a:prstGeom>
          <a:noFill/>
        </p:spPr>
        <p:txBody>
          <a:bodyPr wrap="none" rtlCol="0">
            <a:spAutoFit/>
          </a:bodyPr>
          <a:lstStyle/>
          <a:p>
            <a:pPr lvl="0">
              <a:defRPr/>
            </a:pPr>
            <a:r>
              <a:rPr lang="en-US" sz="900">
                <a:latin typeface="Trade Gothic LT Pro" panose="020B0503040303020004" pitchFamily="34" charset="77"/>
                <a:cs typeface="Arial" panose="020B0604020202020204" pitchFamily="34" charset="0"/>
              </a:rPr>
              <a:t>© 2021 The MITRE Corporation. All rights reserved. Approved for public release. Distribution unlimited PR_20-01469-12.</a:t>
            </a:r>
          </a:p>
        </p:txBody>
      </p:sp>
      <p:sp>
        <p:nvSpPr>
          <p:cNvPr id="7" name="TextBox 6">
            <a:extLst>
              <a:ext uri="{FF2B5EF4-FFF2-40B4-BE49-F238E27FC236}">
                <a16:creationId xmlns:a16="http://schemas.microsoft.com/office/drawing/2014/main" id="{2D8D428E-674F-40C4-9CF2-31C3C13493B8}"/>
              </a:ext>
            </a:extLst>
          </p:cNvPr>
          <p:cNvSpPr txBox="1"/>
          <p:nvPr/>
        </p:nvSpPr>
        <p:spPr>
          <a:xfrm>
            <a:off x="1653272" y="7433621"/>
            <a:ext cx="2156361" cy="230832"/>
          </a:xfrm>
          <a:prstGeom prst="rect">
            <a:avLst/>
          </a:prstGeom>
          <a:noFill/>
        </p:spPr>
        <p:txBody>
          <a:bodyPr wrap="none" rtlCol="0">
            <a:spAutoFit/>
          </a:bodyPr>
          <a:lstStyle/>
          <a:p>
            <a:pPr algn="ctr"/>
            <a:r>
              <a:rPr lang="en-US" sz="900" err="1">
                <a:latin typeface="Trade Gothic LT Pro" panose="020B0503040303020004" pitchFamily="34" charset="77"/>
                <a:cs typeface="Arial" panose="020B0604020202020204" pitchFamily="34" charset="0"/>
              </a:rPr>
              <a:t>Quickstart</a:t>
            </a:r>
            <a:r>
              <a:rPr lang="en-US" sz="900">
                <a:latin typeface="Trade Gothic LT Pro" panose="020B0503040303020004" pitchFamily="34" charset="77"/>
                <a:cs typeface="Arial" panose="020B0604020202020204" pitchFamily="34" charset="0"/>
              </a:rPr>
              <a:t> Stakeholder Engagement V1</a:t>
            </a:r>
          </a:p>
        </p:txBody>
      </p:sp>
    </p:spTree>
    <p:extLst>
      <p:ext uri="{BB962C8B-B14F-4D97-AF65-F5344CB8AC3E}">
        <p14:creationId xmlns:p14="http://schemas.microsoft.com/office/powerpoint/2010/main" val="3692133272"/>
      </p:ext>
    </p:extLst>
  </p:cSld>
  <p:clrMapOvr>
    <a:masterClrMapping/>
  </p:clrMapOvr>
</p:sld>
</file>

<file path=ppt/theme/theme1.xml><?xml version="1.0" encoding="utf-8"?>
<a:theme xmlns:a="http://schemas.openxmlformats.org/drawingml/2006/main" name="1_Office Theme">
  <a:themeElements>
    <a:clrScheme name="Custom 2">
      <a:dk1>
        <a:srgbClr val="000000"/>
      </a:dk1>
      <a:lt1>
        <a:srgbClr val="FFFFFF"/>
      </a:lt1>
      <a:dk2>
        <a:srgbClr val="0B2338"/>
      </a:dk2>
      <a:lt2>
        <a:srgbClr val="E7E6E6"/>
      </a:lt2>
      <a:accent1>
        <a:srgbClr val="E51D3E"/>
      </a:accent1>
      <a:accent2>
        <a:srgbClr val="ED7D31"/>
      </a:accent2>
      <a:accent3>
        <a:srgbClr val="78C044"/>
      </a:accent3>
      <a:accent4>
        <a:srgbClr val="0DA8D9"/>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ustom 2">
      <a:dk1>
        <a:srgbClr val="000000"/>
      </a:dk1>
      <a:lt1>
        <a:srgbClr val="FFFFFF"/>
      </a:lt1>
      <a:dk2>
        <a:srgbClr val="0B2338"/>
      </a:dk2>
      <a:lt2>
        <a:srgbClr val="E7E6E6"/>
      </a:lt2>
      <a:accent1>
        <a:srgbClr val="E51D3E"/>
      </a:accent1>
      <a:accent2>
        <a:srgbClr val="ED7D31"/>
      </a:accent2>
      <a:accent3>
        <a:srgbClr val="78C044"/>
      </a:accent3>
      <a:accent4>
        <a:srgbClr val="0DA8D9"/>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94E99C172A24489941E5861361F779" ma:contentTypeVersion="8" ma:contentTypeDescription="Create a new document." ma:contentTypeScope="" ma:versionID="771431e25d0fe5f94154fb889c3e9476">
  <xsd:schema xmlns:xsd="http://www.w3.org/2001/XMLSchema" xmlns:xs="http://www.w3.org/2001/XMLSchema" xmlns:p="http://schemas.microsoft.com/office/2006/metadata/properties" xmlns:ns2="754fbc98-762c-4a90-9774-edf41ff53b67" targetNamespace="http://schemas.microsoft.com/office/2006/metadata/properties" ma:root="true" ma:fieldsID="aec298c6dc5a8bb722e4e4f30310d181" ns2:_="">
    <xsd:import namespace="754fbc98-762c-4a90-9774-edf41ff53b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fbc98-762c-4a90-9774-edf41ff53b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5FA0E9-3580-4AA0-B030-A60895C36377}">
  <ds:schemaRefs>
    <ds:schemaRef ds:uri="754fbc98-762c-4a90-9774-edf41ff53b6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516BBB1-1D72-424A-B5A0-2681626E6728}">
  <ds:schemaRefs>
    <ds:schemaRef ds:uri="http://schemas.microsoft.com/sharepoint/v3/contenttype/forms"/>
  </ds:schemaRefs>
</ds:datastoreItem>
</file>

<file path=customXml/itemProps3.xml><?xml version="1.0" encoding="utf-8"?>
<ds:datastoreItem xmlns:ds="http://schemas.openxmlformats.org/officeDocument/2006/customXml" ds:itemID="{97E9386B-B9D4-4DD2-A9A2-BB4405422051}">
  <ds:schemaRefs>
    <ds:schemaRef ds:uri="754fbc98-762c-4a90-9774-edf41ff53b6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1411</Words>
  <Application>Microsoft Office PowerPoint</Application>
  <PresentationFormat>Custom</PresentationFormat>
  <Paragraphs>142</Paragraphs>
  <Slides>3</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vt:i4>
      </vt:variant>
    </vt:vector>
  </HeadingPairs>
  <TitlesOfParts>
    <vt:vector size="10" baseType="lpstr">
      <vt:lpstr>Arial</vt:lpstr>
      <vt:lpstr>Calibri</vt:lpstr>
      <vt:lpstr>Trade Gothic LT Pro</vt:lpstr>
      <vt:lpstr>Trade Gothic LT Pro Bold</vt:lpstr>
      <vt:lpstr>Wingdings</vt:lpstr>
      <vt:lpstr>1_Office Theme</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ITK Worksheet Updates</dc:title>
  <dc:creator>Moonisha Rahman</dc:creator>
  <cp:lastModifiedBy>Karen L Carten</cp:lastModifiedBy>
  <cp:revision>2</cp:revision>
  <dcterms:created xsi:type="dcterms:W3CDTF">2021-02-16T17:30:35Z</dcterms:created>
  <dcterms:modified xsi:type="dcterms:W3CDTF">2021-06-29T15:22:32Z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0x0101009894E99C172A24489941E5861361F779</vt:lpwstr>
  </property>
</Properties>
</file>