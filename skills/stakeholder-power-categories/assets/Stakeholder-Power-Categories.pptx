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76" r:id="rId5"/>
  </p:sldMasterIdLst>
  <p:notesMasterIdLst>
    <p:notesMasterId r:id="rId8"/>
  </p:notesMasterIdLst>
  <p:handoutMasterIdLst>
    <p:handoutMasterId r:id="rId9"/>
  </p:handoutMasterIdLst>
  <p:sldIdLst>
    <p:sldId id="758" r:id="rId6"/>
    <p:sldId id="297" r:id="rId7"/>
  </p:sldIdLst>
  <p:sldSz cx="10058400" cy="777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onisha Rahman" initials="MR" lastIdx="10" clrIdx="0">
    <p:extLst>
      <p:ext uri="{19B8F6BF-5375-455C-9EA6-DF929625EA0E}">
        <p15:presenceInfo xmlns:p15="http://schemas.microsoft.com/office/powerpoint/2012/main" userId="S::RAHMANM@MITRE.ORG::6cf91401-9094-4e8f-a695-42ee7077f7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CAED"/>
    <a:srgbClr val="0B2338"/>
    <a:srgbClr val="455471"/>
    <a:srgbClr val="9E91CF"/>
    <a:srgbClr val="B17ED8"/>
    <a:srgbClr val="87DEFF"/>
    <a:srgbClr val="005B93"/>
    <a:srgbClr val="CAF0FC"/>
    <a:srgbClr val="262626"/>
    <a:srgbClr val="1541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9F9B1E-4C99-4D14-8A18-39CA6638C117}" v="2" dt="2021-06-25T14:38:13.0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12" autoAdjust="0"/>
    <p:restoredTop sz="93878" autoAdjust="0"/>
  </p:normalViewPr>
  <p:slideViewPr>
    <p:cSldViewPr snapToGrid="0">
      <p:cViewPr varScale="1">
        <p:scale>
          <a:sx n="54" d="100"/>
          <a:sy n="54" d="100"/>
        </p:scale>
        <p:origin x="1500" y="24"/>
      </p:cViewPr>
      <p:guideLst>
        <p:guide orient="horz" pos="2448"/>
        <p:guide pos="3168"/>
      </p:guideLst>
    </p:cSldViewPr>
  </p:slideViewPr>
  <p:notesTextViewPr>
    <p:cViewPr>
      <p:scale>
        <a:sx n="1" d="1"/>
        <a:sy n="1" d="1"/>
      </p:scale>
      <p:origin x="0" y="0"/>
    </p:cViewPr>
  </p:notesTextViewPr>
  <p:notesViewPr>
    <p:cSldViewPr snapToGrid="0">
      <p:cViewPr varScale="1">
        <p:scale>
          <a:sx n="51" d="100"/>
          <a:sy n="51" d="100"/>
        </p:scale>
        <p:origin x="2692"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Rotner" userId="81ac6b45-cf23-4f3d-ade6-7e6a24744175" providerId="ADAL" clId="{379F9B1E-4C99-4D14-8A18-39CA6638C117}"/>
    <pc:docChg chg="undo custSel modSld">
      <pc:chgData name="Jonathan Rotner" userId="81ac6b45-cf23-4f3d-ade6-7e6a24744175" providerId="ADAL" clId="{379F9B1E-4C99-4D14-8A18-39CA6638C117}" dt="2021-06-25T14:45:41.089" v="45"/>
      <pc:docMkLst>
        <pc:docMk/>
      </pc:docMkLst>
      <pc:sldChg chg="modSp mod">
        <pc:chgData name="Jonathan Rotner" userId="81ac6b45-cf23-4f3d-ade6-7e6a24744175" providerId="ADAL" clId="{379F9B1E-4C99-4D14-8A18-39CA6638C117}" dt="2021-06-25T14:45:41.089" v="45"/>
        <pc:sldMkLst>
          <pc:docMk/>
          <pc:sldMk cId="1089831931" sldId="297"/>
        </pc:sldMkLst>
        <pc:spChg chg="mod">
          <ac:chgData name="Jonathan Rotner" userId="81ac6b45-cf23-4f3d-ade6-7e6a24744175" providerId="ADAL" clId="{379F9B1E-4C99-4D14-8A18-39CA6638C117}" dt="2021-06-25T14:37:24.593" v="44" actId="20577"/>
          <ac:spMkLst>
            <pc:docMk/>
            <pc:sldMk cId="1089831931" sldId="297"/>
            <ac:spMk id="8" creationId="{B12DEED5-2E20-7E4C-96AF-C4C87AB97DB1}"/>
          </ac:spMkLst>
        </pc:spChg>
        <pc:spChg chg="mod">
          <ac:chgData name="Jonathan Rotner" userId="81ac6b45-cf23-4f3d-ade6-7e6a24744175" providerId="ADAL" clId="{379F9B1E-4C99-4D14-8A18-39CA6638C117}" dt="2021-06-25T14:45:41.089" v="45"/>
          <ac:spMkLst>
            <pc:docMk/>
            <pc:sldMk cId="1089831931" sldId="297"/>
            <ac:spMk id="9" creationId="{9609E5D9-0699-0341-8F73-7C8218C4612A}"/>
          </ac:spMkLst>
        </pc:spChg>
      </pc:sldChg>
      <pc:sldChg chg="modSp mod modNotes">
        <pc:chgData name="Jonathan Rotner" userId="81ac6b45-cf23-4f3d-ade6-7e6a24744175" providerId="ADAL" clId="{379F9B1E-4C99-4D14-8A18-39CA6638C117}" dt="2021-06-25T14:36:56.603" v="43" actId="1038"/>
        <pc:sldMkLst>
          <pc:docMk/>
          <pc:sldMk cId="1827761760" sldId="758"/>
        </pc:sldMkLst>
        <pc:spChg chg="mod">
          <ac:chgData name="Jonathan Rotner" userId="81ac6b45-cf23-4f3d-ade6-7e6a24744175" providerId="ADAL" clId="{379F9B1E-4C99-4D14-8A18-39CA6638C117}" dt="2021-06-25T14:35:24.394" v="29" actId="14100"/>
          <ac:spMkLst>
            <pc:docMk/>
            <pc:sldMk cId="1827761760" sldId="758"/>
            <ac:spMk id="32" creationId="{348F4544-1DA6-4501-9200-4F7CA13CF8EA}"/>
          </ac:spMkLst>
        </pc:spChg>
        <pc:spChg chg="mod">
          <ac:chgData name="Jonathan Rotner" userId="81ac6b45-cf23-4f3d-ade6-7e6a24744175" providerId="ADAL" clId="{379F9B1E-4C99-4D14-8A18-39CA6638C117}" dt="2021-06-25T14:36:03.348" v="32" actId="14100"/>
          <ac:spMkLst>
            <pc:docMk/>
            <pc:sldMk cId="1827761760" sldId="758"/>
            <ac:spMk id="38" creationId="{0A7A7FD3-EEED-4EB6-8E05-16F119352FCB}"/>
          </ac:spMkLst>
        </pc:spChg>
        <pc:spChg chg="mod">
          <ac:chgData name="Jonathan Rotner" userId="81ac6b45-cf23-4f3d-ade6-7e6a24744175" providerId="ADAL" clId="{379F9B1E-4C99-4D14-8A18-39CA6638C117}" dt="2021-06-25T14:36:56.603" v="43" actId="1038"/>
          <ac:spMkLst>
            <pc:docMk/>
            <pc:sldMk cId="1827761760" sldId="758"/>
            <ac:spMk id="41" creationId="{C0A393E4-5D7F-4237-9E87-C643CF6E3D5F}"/>
          </ac:spMkLst>
        </pc:spChg>
        <pc:spChg chg="mod">
          <ac:chgData name="Jonathan Rotner" userId="81ac6b45-cf23-4f3d-ade6-7e6a24744175" providerId="ADAL" clId="{379F9B1E-4C99-4D14-8A18-39CA6638C117}" dt="2021-06-25T14:34:35.309" v="27" actId="207"/>
          <ac:spMkLst>
            <pc:docMk/>
            <pc:sldMk cId="1827761760" sldId="758"/>
            <ac:spMk id="46" creationId="{579A49C8-DA24-4343-A76A-AB1CC723E300}"/>
          </ac:spMkLst>
        </pc:spChg>
        <pc:cxnChg chg="mod ord">
          <ac:chgData name="Jonathan Rotner" userId="81ac6b45-cf23-4f3d-ade6-7e6a24744175" providerId="ADAL" clId="{379F9B1E-4C99-4D14-8A18-39CA6638C117}" dt="2021-06-25T14:36:19.895" v="35" actId="1038"/>
          <ac:cxnSpMkLst>
            <pc:docMk/>
            <pc:sldMk cId="1827761760" sldId="758"/>
            <ac:cxnSpMk id="35" creationId="{5CD613DA-63F5-44D3-9EB5-85F03E0C48E4}"/>
          </ac:cxnSpMkLst>
        </pc:cxnChg>
        <pc:cxnChg chg="ord">
          <ac:chgData name="Jonathan Rotner" userId="81ac6b45-cf23-4f3d-ade6-7e6a24744175" providerId="ADAL" clId="{379F9B1E-4C99-4D14-8A18-39CA6638C117}" dt="2021-06-25T14:36:42.761" v="37" actId="167"/>
          <ac:cxnSpMkLst>
            <pc:docMk/>
            <pc:sldMk cId="1827761760" sldId="758"/>
            <ac:cxnSpMk id="49" creationId="{5F72F164-98A0-477C-ABBD-E56A547DE24F}"/>
          </ac:cxnSpMkLst>
        </pc:cxnChg>
        <pc:cxnChg chg="ord">
          <ac:chgData name="Jonathan Rotner" userId="81ac6b45-cf23-4f3d-ade6-7e6a24744175" providerId="ADAL" clId="{379F9B1E-4C99-4D14-8A18-39CA6638C117}" dt="2021-06-25T14:36:24.643" v="36" actId="167"/>
          <ac:cxnSpMkLst>
            <pc:docMk/>
            <pc:sldMk cId="1827761760" sldId="758"/>
            <ac:cxnSpMk id="51" creationId="{85140FE9-430C-4415-98F6-75B834191BE9}"/>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C3CCF0-20A0-4277-B884-FCDC13D421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D9C8C52-E96C-4D62-9306-4F2B3D25D3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CFA0B8-05D5-4D03-BED0-5F9DB4E2AD1C}" type="datetimeFigureOut">
              <a:rPr lang="en-US" smtClean="0"/>
              <a:t>6/25/2021</a:t>
            </a:fld>
            <a:endParaRPr lang="en-US"/>
          </a:p>
        </p:txBody>
      </p:sp>
      <p:sp>
        <p:nvSpPr>
          <p:cNvPr id="4" name="Footer Placeholder 3">
            <a:extLst>
              <a:ext uri="{FF2B5EF4-FFF2-40B4-BE49-F238E27FC236}">
                <a16:creationId xmlns:a16="http://schemas.microsoft.com/office/drawing/2014/main" id="{F7160679-50D1-49D8-B7AD-A9CF1516F28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0F18EA8-AA11-4184-9321-7F5274B1945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B1F5E2-A98F-40FE-8D42-344BEA526396}" type="slidenum">
              <a:rPr lang="en-US" smtClean="0"/>
              <a:t>‹#›</a:t>
            </a:fld>
            <a:endParaRPr lang="en-US"/>
          </a:p>
        </p:txBody>
      </p:sp>
    </p:spTree>
    <p:extLst>
      <p:ext uri="{BB962C8B-B14F-4D97-AF65-F5344CB8AC3E}">
        <p14:creationId xmlns:p14="http://schemas.microsoft.com/office/powerpoint/2010/main" val="19524712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A9B366-79F4-4B62-AF82-2B8B21D70C18}" type="datetimeFigureOut">
              <a:rPr lang="en-US" smtClean="0"/>
              <a:t>6/25/2021</a:t>
            </a:fld>
            <a:endParaRPr lang="en-US"/>
          </a:p>
        </p:txBody>
      </p:sp>
      <p:sp>
        <p:nvSpPr>
          <p:cNvPr id="4" name="Slide Image Placehold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21AF85-23DB-4EF3-AEBB-2F7BA47FDD8E}" type="slidenum">
              <a:rPr lang="en-US" smtClean="0"/>
              <a:t>‹#›</a:t>
            </a:fld>
            <a:endParaRPr lang="en-US"/>
          </a:p>
        </p:txBody>
      </p:sp>
    </p:spTree>
    <p:extLst>
      <p:ext uri="{BB962C8B-B14F-4D97-AF65-F5344CB8AC3E}">
        <p14:creationId xmlns:p14="http://schemas.microsoft.com/office/powerpoint/2010/main" val="1446424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403B93F6-67F7-481B-9286-099642AC27B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30689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076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66324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6CAA1B-F833-B74D-8E4B-3A6E9372A07F}"/>
              </a:ext>
            </a:extLst>
          </p:cNvPr>
          <p:cNvPicPr>
            <a:picLocks noChangeAspect="1"/>
          </p:cNvPicPr>
          <p:nvPr userDrawn="1"/>
        </p:nvPicPr>
        <p:blipFill>
          <a:blip r:embed="rId3"/>
          <a:stretch>
            <a:fillRect/>
          </a:stretch>
        </p:blipFill>
        <p:spPr>
          <a:xfrm>
            <a:off x="8041064" y="269608"/>
            <a:ext cx="1826836" cy="159086"/>
          </a:xfrm>
          <a:prstGeom prst="rect">
            <a:avLst/>
          </a:prstGeom>
        </p:spPr>
      </p:pic>
    </p:spTree>
    <p:extLst>
      <p:ext uri="{BB962C8B-B14F-4D97-AF65-F5344CB8AC3E}">
        <p14:creationId xmlns:p14="http://schemas.microsoft.com/office/powerpoint/2010/main" val="2351520007"/>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1005840" rtl="0" eaLnBrk="1" latinLnBrk="0" hangingPunct="1">
        <a:lnSpc>
          <a:spcPct val="90000"/>
        </a:lnSpc>
        <a:spcBef>
          <a:spcPct val="0"/>
        </a:spcBef>
        <a:buNone/>
        <a:defRPr sz="4840" kern="1200">
          <a:solidFill>
            <a:schemeClr val="tx1"/>
          </a:solidFill>
          <a:latin typeface="Arial" panose="020B0604020202020204" pitchFamily="34" charset="0"/>
          <a:ea typeface="+mj-ea"/>
          <a:cs typeface="Arial" panose="020B0604020202020204" pitchFamily="34" charset="0"/>
        </a:defRPr>
      </a:lvl1pPr>
    </p:titleStyle>
    <p:body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Arial" panose="020B0604020202020204" pitchFamily="34" charset="0"/>
          <a:ea typeface="+mn-ea"/>
          <a:cs typeface="Arial" panose="020B0604020202020204" pitchFamily="34" charset="0"/>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Arial" panose="020B0604020202020204" pitchFamily="34" charset="0"/>
          <a:ea typeface="+mn-ea"/>
          <a:cs typeface="Arial" panose="020B0604020202020204" pitchFamily="34" charset="0"/>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Arial" panose="020B0604020202020204" pitchFamily="34" charset="0"/>
          <a:ea typeface="+mn-ea"/>
          <a:cs typeface="Arial" panose="020B0604020202020204" pitchFamily="34" charset="0"/>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Arial" panose="020B0604020202020204" pitchFamily="34" charset="0"/>
          <a:ea typeface="+mn-ea"/>
          <a:cs typeface="Arial" panose="020B0604020202020204" pitchFamily="34" charset="0"/>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6CAA1B-F833-B74D-8E4B-3A6E9372A07F}"/>
              </a:ext>
            </a:extLst>
          </p:cNvPr>
          <p:cNvPicPr>
            <a:picLocks noChangeAspect="1"/>
          </p:cNvPicPr>
          <p:nvPr userDrawn="1"/>
        </p:nvPicPr>
        <p:blipFill>
          <a:blip r:embed="rId3"/>
          <a:stretch>
            <a:fillRect/>
          </a:stretch>
        </p:blipFill>
        <p:spPr>
          <a:xfrm>
            <a:off x="8041064" y="269608"/>
            <a:ext cx="1826836" cy="159086"/>
          </a:xfrm>
          <a:prstGeom prst="rect">
            <a:avLst/>
          </a:prstGeom>
        </p:spPr>
      </p:pic>
      <p:sp>
        <p:nvSpPr>
          <p:cNvPr id="8" name="TextBox 7">
            <a:extLst>
              <a:ext uri="{FF2B5EF4-FFF2-40B4-BE49-F238E27FC236}">
                <a16:creationId xmlns:a16="http://schemas.microsoft.com/office/drawing/2014/main" id="{7C536446-C962-8745-8F1A-5C1B8FF56AD6}"/>
              </a:ext>
            </a:extLst>
          </p:cNvPr>
          <p:cNvSpPr txBox="1"/>
          <p:nvPr userDrawn="1"/>
        </p:nvSpPr>
        <p:spPr>
          <a:xfrm>
            <a:off x="106162" y="7423572"/>
            <a:ext cx="1569660" cy="230832"/>
          </a:xfrm>
          <a:prstGeom prst="rect">
            <a:avLst/>
          </a:prstGeom>
          <a:noFill/>
        </p:spPr>
        <p:txBody>
          <a:bodyPr wrap="none" rtlCol="0">
            <a:spAutoFit/>
          </a:bodyPr>
          <a:lstStyle/>
          <a:p>
            <a:r>
              <a:rPr lang="en-US" sz="900" dirty="0" err="1">
                <a:latin typeface="Trade Gothic LT Pro" panose="020B0503040303020004" pitchFamily="34" charset="77"/>
                <a:cs typeface="Arial" panose="020B0604020202020204" pitchFamily="34" charset="0"/>
              </a:rPr>
              <a:t>itk.mitre.org</a:t>
            </a:r>
            <a:r>
              <a:rPr lang="en-US" sz="900" dirty="0">
                <a:latin typeface="Trade Gothic LT Pro" panose="020B0503040303020004" pitchFamily="34" charset="77"/>
                <a:cs typeface="Arial" panose="020B0604020202020204" pitchFamily="34" charset="0"/>
              </a:rPr>
              <a:t> | </a:t>
            </a:r>
            <a:r>
              <a:rPr lang="en-US" sz="900" dirty="0" err="1">
                <a:latin typeface="Trade Gothic LT Pro" panose="020B0503040303020004" pitchFamily="34" charset="77"/>
                <a:cs typeface="Arial" panose="020B0604020202020204" pitchFamily="34" charset="0"/>
              </a:rPr>
              <a:t>itk@mitre.org</a:t>
            </a:r>
            <a:endParaRPr lang="en-US" sz="900" dirty="0">
              <a:latin typeface="Trade Gothic LT Pro" panose="020B0503040303020004" pitchFamily="34" charset="77"/>
              <a:cs typeface="Arial" panose="020B0604020202020204" pitchFamily="34" charset="0"/>
            </a:endParaRPr>
          </a:p>
        </p:txBody>
      </p:sp>
      <p:sp>
        <p:nvSpPr>
          <p:cNvPr id="9" name="TextBox 8">
            <a:extLst>
              <a:ext uri="{FF2B5EF4-FFF2-40B4-BE49-F238E27FC236}">
                <a16:creationId xmlns:a16="http://schemas.microsoft.com/office/drawing/2014/main" id="{8C39EAAF-DA8C-8549-94C4-F11F8B2D3C90}"/>
              </a:ext>
            </a:extLst>
          </p:cNvPr>
          <p:cNvSpPr txBox="1"/>
          <p:nvPr userDrawn="1"/>
        </p:nvSpPr>
        <p:spPr>
          <a:xfrm>
            <a:off x="3720705" y="7433621"/>
            <a:ext cx="6394699"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latin typeface="Trade Gothic LT Pro" panose="020B0503040303020004" pitchFamily="34" charset="77"/>
                <a:cs typeface="Arial" panose="020B0604020202020204" pitchFamily="34" charset="0"/>
              </a:rPr>
              <a:t>© 2021 The MITRE Corporation. All rights reserved. Approved for public release. Distribution unlimited PR_20-01469-12.</a:t>
            </a:r>
          </a:p>
        </p:txBody>
      </p:sp>
      <p:sp>
        <p:nvSpPr>
          <p:cNvPr id="10" name="TextBox 9">
            <a:extLst>
              <a:ext uri="{FF2B5EF4-FFF2-40B4-BE49-F238E27FC236}">
                <a16:creationId xmlns:a16="http://schemas.microsoft.com/office/drawing/2014/main" id="{68B56AE4-6908-424A-A466-7CC4B2E5EF28}"/>
              </a:ext>
            </a:extLst>
          </p:cNvPr>
          <p:cNvSpPr txBox="1"/>
          <p:nvPr userDrawn="1"/>
        </p:nvSpPr>
        <p:spPr>
          <a:xfrm>
            <a:off x="1810370" y="7433621"/>
            <a:ext cx="1842172" cy="230832"/>
          </a:xfrm>
          <a:prstGeom prst="rect">
            <a:avLst/>
          </a:prstGeom>
          <a:noFill/>
        </p:spPr>
        <p:txBody>
          <a:bodyPr wrap="none" rtlCol="0">
            <a:spAutoFit/>
          </a:bodyPr>
          <a:lstStyle/>
          <a:p>
            <a:pPr algn="ctr"/>
            <a:r>
              <a:rPr lang="en-US" sz="900" dirty="0">
                <a:latin typeface="Trade Gothic LT Pro" panose="020B0503040303020004" pitchFamily="34" charset="77"/>
                <a:cs typeface="Arial" panose="020B0604020202020204" pitchFamily="34" charset="0"/>
              </a:rPr>
              <a:t>Stakeholder Power Categories V1</a:t>
            </a:r>
          </a:p>
        </p:txBody>
      </p:sp>
    </p:spTree>
    <p:extLst>
      <p:ext uri="{BB962C8B-B14F-4D97-AF65-F5344CB8AC3E}">
        <p14:creationId xmlns:p14="http://schemas.microsoft.com/office/powerpoint/2010/main" val="2353817645"/>
      </p:ext>
    </p:extLst>
  </p:cSld>
  <p:clrMap bg1="lt1" tx1="dk1" bg2="lt2" tx2="dk2" accent1="accent1" accent2="accent2" accent3="accent3" accent4="accent4" accent5="accent5" accent6="accent6" hlink="hlink" folHlink="folHlink"/>
  <p:sldLayoutIdLst>
    <p:sldLayoutId id="2147483677" r:id="rId1"/>
  </p:sldLayoutIdLst>
  <p:txStyles>
    <p:titleStyle>
      <a:lvl1pPr algn="l" defTabSz="1005840" rtl="0" eaLnBrk="1" latinLnBrk="0" hangingPunct="1">
        <a:lnSpc>
          <a:spcPct val="90000"/>
        </a:lnSpc>
        <a:spcBef>
          <a:spcPct val="0"/>
        </a:spcBef>
        <a:buNone/>
        <a:defRPr sz="4840" kern="1200">
          <a:solidFill>
            <a:schemeClr val="tx1"/>
          </a:solidFill>
          <a:latin typeface="Arial" panose="020B0604020202020204" pitchFamily="34" charset="0"/>
          <a:ea typeface="+mj-ea"/>
          <a:cs typeface="Arial" panose="020B0604020202020204" pitchFamily="34" charset="0"/>
        </a:defRPr>
      </a:lvl1pPr>
    </p:titleStyle>
    <p:body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Arial" panose="020B0604020202020204" pitchFamily="34" charset="0"/>
          <a:ea typeface="+mn-ea"/>
          <a:cs typeface="Arial" panose="020B0604020202020204" pitchFamily="34" charset="0"/>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Arial" panose="020B0604020202020204" pitchFamily="34" charset="0"/>
          <a:ea typeface="+mn-ea"/>
          <a:cs typeface="Arial" panose="020B0604020202020204" pitchFamily="34" charset="0"/>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Arial" panose="020B0604020202020204" pitchFamily="34" charset="0"/>
          <a:ea typeface="+mn-ea"/>
          <a:cs typeface="Arial" panose="020B0604020202020204" pitchFamily="34" charset="0"/>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Arial" panose="020B0604020202020204" pitchFamily="34" charset="0"/>
          <a:ea typeface="+mn-ea"/>
          <a:cs typeface="Arial" panose="020B0604020202020204" pitchFamily="34" charset="0"/>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naseo.org/data/sites/1/documents/publications/13-0376_0549_000208-KOEWLER%20FINAL%20cover.pdf" TargetMode="External"/><Relationship Id="rId7" Type="http://schemas.openxmlformats.org/officeDocument/2006/relationships/hyperlink" Target="https://d3n8a8pro7vhmx.cloudfront.net/facilitatingpower/pages/53/attachments/original/1596746165/CE2O_SPECTRUM_2020.pdf?1596746165" TargetMode="External"/><Relationship Id="rId2" Type="http://schemas.openxmlformats.org/officeDocument/2006/relationships/hyperlink" Target="https://www.portland.gov/sites/default/files/2020-02/equity-toolkit-decision-support-tool.pdf" TargetMode="External"/><Relationship Id="rId1" Type="http://schemas.openxmlformats.org/officeDocument/2006/relationships/slideLayout" Target="../slideLayouts/slideLayout2.xml"/><Relationship Id="rId6" Type="http://schemas.openxmlformats.org/officeDocument/2006/relationships/hyperlink" Target="http://systemschangeeducation.com/educational-innovations/valuing-lived-experience/" TargetMode="External"/><Relationship Id="rId5" Type="http://schemas.openxmlformats.org/officeDocument/2006/relationships/hyperlink" Target="https://www.gobeyonddiversity.com/single-post/2016-1-29-here-are-some-definitions-about-power-privilege-and-oppression" TargetMode="External"/><Relationship Id="rId4" Type="http://schemas.openxmlformats.org/officeDocument/2006/relationships/hyperlink" Target="http://www.nationalforum.com/Electronic%20Journal%20Volumes/Fuqua,%20Jr.,%20Harold%20E.%20Leadership%20and%20the%20Effectives%20Use%20of%20Power.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a:extLst>
              <a:ext uri="{FF2B5EF4-FFF2-40B4-BE49-F238E27FC236}">
                <a16:creationId xmlns:a16="http://schemas.microsoft.com/office/drawing/2014/main" id="{751B8BD3-62DD-4E90-925B-FB7B48685BAA}"/>
              </a:ext>
            </a:extLst>
          </p:cNvPr>
          <p:cNvCxnSpPr>
            <a:cxnSpLocks/>
          </p:cNvCxnSpPr>
          <p:nvPr/>
        </p:nvCxnSpPr>
        <p:spPr>
          <a:xfrm>
            <a:off x="6676255" y="1177776"/>
            <a:ext cx="0" cy="5284140"/>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01B7D552-C22F-4DEC-8AFB-8677708E8ED4}"/>
              </a:ext>
            </a:extLst>
          </p:cNvPr>
          <p:cNvSpPr/>
          <p:nvPr/>
        </p:nvSpPr>
        <p:spPr>
          <a:xfrm>
            <a:off x="265813" y="943642"/>
            <a:ext cx="6421069" cy="338327"/>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Trade Gothic LT Pro Bold" panose="020B0803040303020004" pitchFamily="34" charset="0"/>
              </a:rPr>
              <a:t>Assess</a:t>
            </a:r>
          </a:p>
        </p:txBody>
      </p:sp>
      <p:sp>
        <p:nvSpPr>
          <p:cNvPr id="32" name="Rectangle 31">
            <a:extLst>
              <a:ext uri="{FF2B5EF4-FFF2-40B4-BE49-F238E27FC236}">
                <a16:creationId xmlns:a16="http://schemas.microsoft.com/office/drawing/2014/main" id="{348F4544-1DA6-4501-9200-4F7CA13CF8EA}"/>
              </a:ext>
            </a:extLst>
          </p:cNvPr>
          <p:cNvSpPr/>
          <p:nvPr/>
        </p:nvSpPr>
        <p:spPr>
          <a:xfrm>
            <a:off x="6686888" y="935175"/>
            <a:ext cx="3105698" cy="347505"/>
          </a:xfrm>
          <a:prstGeom prst="rect">
            <a:avLst/>
          </a:prstGeom>
          <a:solidFill>
            <a:srgbClr val="005B9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Trade Gothic LT Pro Bold" panose="020B0803040303020004" pitchFamily="34" charset="0"/>
              </a:rPr>
              <a:t>Notice and reflect</a:t>
            </a:r>
          </a:p>
        </p:txBody>
      </p:sp>
      <p:sp>
        <p:nvSpPr>
          <p:cNvPr id="38" name="Rectangle 37">
            <a:extLst>
              <a:ext uri="{FF2B5EF4-FFF2-40B4-BE49-F238E27FC236}">
                <a16:creationId xmlns:a16="http://schemas.microsoft.com/office/drawing/2014/main" id="{0A7A7FD3-EEED-4EB6-8E05-16F119352FCB}"/>
              </a:ext>
            </a:extLst>
          </p:cNvPr>
          <p:cNvSpPr/>
          <p:nvPr/>
        </p:nvSpPr>
        <p:spPr>
          <a:xfrm>
            <a:off x="265749" y="6457950"/>
            <a:ext cx="332408" cy="849350"/>
          </a:xfrm>
          <a:prstGeom prst="rect">
            <a:avLst/>
          </a:prstGeom>
          <a:solidFill>
            <a:srgbClr val="87DEFF"/>
          </a:solidFill>
          <a:ln w="63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b="1" dirty="0">
                <a:solidFill>
                  <a:schemeClr val="tx2"/>
                </a:solidFill>
                <a:latin typeface="Trade Gothic LT Pro Bold" panose="020B0803040303020004" pitchFamily="34" charset="0"/>
              </a:rPr>
              <a:t>Assess</a:t>
            </a:r>
          </a:p>
        </p:txBody>
      </p:sp>
      <p:sp>
        <p:nvSpPr>
          <p:cNvPr id="2" name="TextBox 1">
            <a:extLst>
              <a:ext uri="{FF2B5EF4-FFF2-40B4-BE49-F238E27FC236}">
                <a16:creationId xmlns:a16="http://schemas.microsoft.com/office/drawing/2014/main" id="{A5C30DF5-EA82-804F-B290-E191C0017C5E}"/>
              </a:ext>
            </a:extLst>
          </p:cNvPr>
          <p:cNvSpPr txBox="1"/>
          <p:nvPr/>
        </p:nvSpPr>
        <p:spPr>
          <a:xfrm>
            <a:off x="169875" y="465581"/>
            <a:ext cx="932676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b="1" dirty="0">
                <a:solidFill>
                  <a:srgbClr val="00B0F0"/>
                </a:solidFill>
                <a:latin typeface="Trade Gothic LT Pro Bold" panose="020B0503040303020004" pitchFamily="34" charset="77"/>
              </a:rPr>
              <a:t>STAKEHOLDER POWER CATEGORIES</a:t>
            </a:r>
          </a:p>
        </p:txBody>
      </p:sp>
      <p:sp>
        <p:nvSpPr>
          <p:cNvPr id="100" name="Rectangle 99">
            <a:extLst>
              <a:ext uri="{FF2B5EF4-FFF2-40B4-BE49-F238E27FC236}">
                <a16:creationId xmlns:a16="http://schemas.microsoft.com/office/drawing/2014/main" id="{B1012B21-1F42-44EE-A051-6B9894E01C31}"/>
              </a:ext>
            </a:extLst>
          </p:cNvPr>
          <p:cNvSpPr/>
          <p:nvPr/>
        </p:nvSpPr>
        <p:spPr>
          <a:xfrm>
            <a:off x="265814" y="938911"/>
            <a:ext cx="9526772" cy="6382310"/>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Box 17">
            <a:extLst>
              <a:ext uri="{FF2B5EF4-FFF2-40B4-BE49-F238E27FC236}">
                <a16:creationId xmlns:a16="http://schemas.microsoft.com/office/drawing/2014/main" id="{43EE6D8D-FA72-4BA7-8058-FB50FE1C4881}"/>
              </a:ext>
            </a:extLst>
          </p:cNvPr>
          <p:cNvSpPr txBox="1"/>
          <p:nvPr/>
        </p:nvSpPr>
        <p:spPr>
          <a:xfrm>
            <a:off x="106162" y="7423572"/>
            <a:ext cx="1569660" cy="230832"/>
          </a:xfrm>
          <a:prstGeom prst="rect">
            <a:avLst/>
          </a:prstGeom>
          <a:noFill/>
        </p:spPr>
        <p:txBody>
          <a:bodyPr wrap="none" rtlCol="0">
            <a:spAutoFit/>
          </a:bodyPr>
          <a:lstStyle/>
          <a:p>
            <a:r>
              <a:rPr lang="en-US" sz="900" dirty="0" err="1">
                <a:latin typeface="Trade Gothic LT Pro" panose="020B0503040303020004" pitchFamily="34" charset="77"/>
                <a:cs typeface="Arial" panose="020B0604020202020204" pitchFamily="34" charset="0"/>
              </a:rPr>
              <a:t>itk.mitre.org</a:t>
            </a:r>
            <a:r>
              <a:rPr lang="en-US" sz="900" dirty="0">
                <a:latin typeface="Trade Gothic LT Pro" panose="020B0503040303020004" pitchFamily="34" charset="77"/>
                <a:cs typeface="Arial" panose="020B0604020202020204" pitchFamily="34" charset="0"/>
              </a:rPr>
              <a:t> | </a:t>
            </a:r>
            <a:r>
              <a:rPr lang="en-US" sz="900" dirty="0" err="1">
                <a:latin typeface="Trade Gothic LT Pro" panose="020B0503040303020004" pitchFamily="34" charset="77"/>
                <a:cs typeface="Arial" panose="020B0604020202020204" pitchFamily="34" charset="0"/>
              </a:rPr>
              <a:t>itk@mitre.org</a:t>
            </a:r>
            <a:endParaRPr lang="en-US" sz="900" dirty="0">
              <a:latin typeface="Trade Gothic LT Pro" panose="020B0503040303020004" pitchFamily="34" charset="77"/>
              <a:cs typeface="Arial" panose="020B0604020202020204" pitchFamily="34" charset="0"/>
            </a:endParaRPr>
          </a:p>
        </p:txBody>
      </p:sp>
      <p:sp>
        <p:nvSpPr>
          <p:cNvPr id="19" name="TextBox 18">
            <a:extLst>
              <a:ext uri="{FF2B5EF4-FFF2-40B4-BE49-F238E27FC236}">
                <a16:creationId xmlns:a16="http://schemas.microsoft.com/office/drawing/2014/main" id="{2BE8F124-1477-441A-ADF5-1CA278A6990F}"/>
              </a:ext>
            </a:extLst>
          </p:cNvPr>
          <p:cNvSpPr txBox="1"/>
          <p:nvPr/>
        </p:nvSpPr>
        <p:spPr>
          <a:xfrm>
            <a:off x="3720705" y="7433621"/>
            <a:ext cx="5833648" cy="230832"/>
          </a:xfrm>
          <a:prstGeom prst="rect">
            <a:avLst/>
          </a:prstGeom>
          <a:noFill/>
        </p:spPr>
        <p:txBody>
          <a:bodyPr wrap="none" rtlCol="0">
            <a:spAutoFit/>
          </a:bodyPr>
          <a:lstStyle/>
          <a:p>
            <a:pPr lvl="0">
              <a:defRPr/>
            </a:pPr>
            <a:r>
              <a:rPr lang="en-US" sz="900" dirty="0">
                <a:latin typeface="Trade Gothic LT Pro" panose="020B0503040303020004" pitchFamily="34" charset="77"/>
                <a:cs typeface="Arial" panose="020B0604020202020204" pitchFamily="34" charset="0"/>
              </a:rPr>
              <a:t>© 2021 The MITRE Corporation. All rights reserved. Approved for public release. Distribution unlimited PR_20-01469-12.</a:t>
            </a:r>
          </a:p>
        </p:txBody>
      </p:sp>
      <p:sp>
        <p:nvSpPr>
          <p:cNvPr id="36" name="TextBox 35">
            <a:extLst>
              <a:ext uri="{FF2B5EF4-FFF2-40B4-BE49-F238E27FC236}">
                <a16:creationId xmlns:a16="http://schemas.microsoft.com/office/drawing/2014/main" id="{8B7DD28D-BE45-4667-A3F3-9AC1160F5F0D}"/>
              </a:ext>
            </a:extLst>
          </p:cNvPr>
          <p:cNvSpPr txBox="1"/>
          <p:nvPr/>
        </p:nvSpPr>
        <p:spPr>
          <a:xfrm>
            <a:off x="598082" y="1300547"/>
            <a:ext cx="1297249" cy="275189"/>
          </a:xfrm>
          <a:prstGeom prst="rect">
            <a:avLst/>
          </a:prstGeom>
          <a:noFill/>
        </p:spPr>
        <p:txBody>
          <a:bodyPr wrap="square" lIns="59167" tIns="29584" rIns="59167" bIns="29584" rtlCol="0" anchor="t">
            <a:spAutoFit/>
          </a:bodyPr>
          <a:lstStyle/>
          <a:p>
            <a:pPr algn="ctr" defTabSz="382865"/>
            <a:r>
              <a:rPr lang="en-US" sz="1400" b="1" dirty="0">
                <a:solidFill>
                  <a:srgbClr val="000000"/>
                </a:solidFill>
                <a:latin typeface="Trade Gothic LT Pro Bold"/>
              </a:rPr>
              <a:t>Stakeholder list</a:t>
            </a:r>
          </a:p>
        </p:txBody>
      </p:sp>
      <p:sp>
        <p:nvSpPr>
          <p:cNvPr id="39" name="Rectangle 38">
            <a:extLst>
              <a:ext uri="{FF2B5EF4-FFF2-40B4-BE49-F238E27FC236}">
                <a16:creationId xmlns:a16="http://schemas.microsoft.com/office/drawing/2014/main" id="{BF8EC5D5-9475-46D2-B433-F4493C2968C1}"/>
              </a:ext>
            </a:extLst>
          </p:cNvPr>
          <p:cNvSpPr/>
          <p:nvPr/>
        </p:nvSpPr>
        <p:spPr>
          <a:xfrm>
            <a:off x="265814" y="6464377"/>
            <a:ext cx="9526772" cy="847636"/>
          </a:xfrm>
          <a:prstGeom prst="rect">
            <a:avLst/>
          </a:prstGeom>
          <a:noFill/>
          <a:ln w="19050">
            <a:solidFill>
              <a:srgbClr val="0B23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9" name="Group 8">
            <a:extLst>
              <a:ext uri="{FF2B5EF4-FFF2-40B4-BE49-F238E27FC236}">
                <a16:creationId xmlns:a16="http://schemas.microsoft.com/office/drawing/2014/main" id="{A89CCE39-BDCB-40DE-826C-81488E86BFE9}"/>
              </a:ext>
            </a:extLst>
          </p:cNvPr>
          <p:cNvGrpSpPr/>
          <p:nvPr/>
        </p:nvGrpSpPr>
        <p:grpSpPr>
          <a:xfrm>
            <a:off x="2126234" y="1665879"/>
            <a:ext cx="4353664" cy="4507573"/>
            <a:chOff x="1916018" y="1200002"/>
            <a:chExt cx="4805723" cy="4902598"/>
          </a:xfrm>
        </p:grpSpPr>
        <p:cxnSp>
          <p:nvCxnSpPr>
            <p:cNvPr id="49" name="Straight Connector 48">
              <a:extLst>
                <a:ext uri="{FF2B5EF4-FFF2-40B4-BE49-F238E27FC236}">
                  <a16:creationId xmlns:a16="http://schemas.microsoft.com/office/drawing/2014/main" id="{5F72F164-98A0-477C-ABBD-E56A547DE24F}"/>
                </a:ext>
              </a:extLst>
            </p:cNvPr>
            <p:cNvCxnSpPr>
              <a:cxnSpLocks/>
            </p:cNvCxnSpPr>
            <p:nvPr/>
          </p:nvCxnSpPr>
          <p:spPr>
            <a:xfrm>
              <a:off x="2253186" y="3386848"/>
              <a:ext cx="4468555" cy="3140"/>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5140FE9-430C-4415-98F6-75B834191BE9}"/>
                </a:ext>
              </a:extLst>
            </p:cNvPr>
            <p:cNvCxnSpPr>
              <a:cxnSpLocks/>
            </p:cNvCxnSpPr>
            <p:nvPr/>
          </p:nvCxnSpPr>
          <p:spPr>
            <a:xfrm>
              <a:off x="4427410" y="1214169"/>
              <a:ext cx="0" cy="4493066"/>
            </a:xfrm>
            <a:prstGeom prst="line">
              <a:avLst/>
            </a:prstGeom>
            <a:ln w="12700">
              <a:solidFill>
                <a:srgbClr val="7E8284"/>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7E12363-A6D2-40DB-B3D3-34BF7D57C1E7}"/>
                </a:ext>
              </a:extLst>
            </p:cNvPr>
            <p:cNvGrpSpPr/>
            <p:nvPr/>
          </p:nvGrpSpPr>
          <p:grpSpPr>
            <a:xfrm>
              <a:off x="2253647" y="1200002"/>
              <a:ext cx="4426297" cy="4523544"/>
              <a:chOff x="948554" y="931945"/>
              <a:chExt cx="3896668" cy="4216179"/>
            </a:xfrm>
          </p:grpSpPr>
          <p:cxnSp>
            <p:nvCxnSpPr>
              <p:cNvPr id="34" name="Straight Arrow Connector 33">
                <a:extLst>
                  <a:ext uri="{FF2B5EF4-FFF2-40B4-BE49-F238E27FC236}">
                    <a16:creationId xmlns:a16="http://schemas.microsoft.com/office/drawing/2014/main" id="{B5C70674-9B43-459B-9BF3-D99D052EDD9C}"/>
                  </a:ext>
                </a:extLst>
              </p:cNvPr>
              <p:cNvCxnSpPr>
                <a:cxnSpLocks/>
              </p:cNvCxnSpPr>
              <p:nvPr/>
            </p:nvCxnSpPr>
            <p:spPr>
              <a:xfrm flipV="1">
                <a:off x="966510" y="931945"/>
                <a:ext cx="0" cy="4202867"/>
              </a:xfrm>
              <a:prstGeom prst="straightConnector1">
                <a:avLst/>
              </a:prstGeom>
              <a:ln w="3810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5CD613DA-63F5-44D3-9EB5-85F03E0C48E4}"/>
                  </a:ext>
                </a:extLst>
              </p:cNvPr>
              <p:cNvCxnSpPr>
                <a:cxnSpLocks/>
              </p:cNvCxnSpPr>
              <p:nvPr/>
            </p:nvCxnSpPr>
            <p:spPr>
              <a:xfrm>
                <a:off x="948554" y="5132921"/>
                <a:ext cx="3896668" cy="15203"/>
              </a:xfrm>
              <a:prstGeom prst="straightConnector1">
                <a:avLst/>
              </a:prstGeom>
              <a:ln w="3810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 name="Rectangle 40">
              <a:extLst>
                <a:ext uri="{FF2B5EF4-FFF2-40B4-BE49-F238E27FC236}">
                  <a16:creationId xmlns:a16="http://schemas.microsoft.com/office/drawing/2014/main" id="{C0A393E4-5D7F-4237-9E87-C643CF6E3D5F}"/>
                </a:ext>
              </a:extLst>
            </p:cNvPr>
            <p:cNvSpPr/>
            <p:nvPr/>
          </p:nvSpPr>
          <p:spPr>
            <a:xfrm>
              <a:off x="1930154" y="1574283"/>
              <a:ext cx="266862" cy="3337560"/>
            </a:xfrm>
            <a:prstGeom prst="rect">
              <a:avLst/>
            </a:prstGeom>
            <a:solidFill>
              <a:srgbClr val="A2CAED"/>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a:solidFill>
                    <a:schemeClr val="tx1"/>
                  </a:solidFill>
                  <a:latin typeface="Trade Gothic LT Pro" panose="020B0503040303020004"/>
                </a:rPr>
                <a:t>Impacted by the effort</a:t>
              </a:r>
              <a:endParaRPr lang="en-US" dirty="0">
                <a:solidFill>
                  <a:schemeClr val="tx1"/>
                </a:solidFill>
                <a:latin typeface="Trade Gothic LT Pro" panose="020B0503040303020004"/>
              </a:endParaRPr>
            </a:p>
          </p:txBody>
        </p:sp>
        <p:sp>
          <p:nvSpPr>
            <p:cNvPr id="44" name="TextBox 43">
              <a:extLst>
                <a:ext uri="{FF2B5EF4-FFF2-40B4-BE49-F238E27FC236}">
                  <a16:creationId xmlns:a16="http://schemas.microsoft.com/office/drawing/2014/main" id="{F76CC0C8-80EE-4AC0-979F-28F1407F3D71}"/>
                </a:ext>
              </a:extLst>
            </p:cNvPr>
            <p:cNvSpPr txBox="1"/>
            <p:nvPr/>
          </p:nvSpPr>
          <p:spPr>
            <a:xfrm>
              <a:off x="2743671" y="5780471"/>
              <a:ext cx="3334235" cy="322129"/>
            </a:xfrm>
            <a:prstGeom prst="rect">
              <a:avLst/>
            </a:prstGeom>
            <a:solidFill>
              <a:schemeClr val="tx2">
                <a:lumMod val="25000"/>
                <a:lumOff val="75000"/>
              </a:schemeClr>
            </a:solidFill>
          </p:spPr>
          <p:txBody>
            <a:bodyPr wrap="square" rtlCol="0" anchor="ctr">
              <a:spAutoFit/>
            </a:bodyPr>
            <a:lstStyle/>
            <a:p>
              <a:pPr algn="ctr"/>
              <a:r>
                <a:rPr lang="en-US" sz="1400" dirty="0">
                  <a:latin typeface="Trade Gothic LT Pro" panose="020B0503040303020004"/>
                </a:rPr>
                <a:t>Power over the effort</a:t>
              </a:r>
            </a:p>
          </p:txBody>
        </p:sp>
        <p:sp>
          <p:nvSpPr>
            <p:cNvPr id="45" name="TextBox 44">
              <a:extLst>
                <a:ext uri="{FF2B5EF4-FFF2-40B4-BE49-F238E27FC236}">
                  <a16:creationId xmlns:a16="http://schemas.microsoft.com/office/drawing/2014/main" id="{785C430F-0CB0-44E5-8529-E75D9C8408A6}"/>
                </a:ext>
              </a:extLst>
            </p:cNvPr>
            <p:cNvSpPr txBox="1"/>
            <p:nvPr/>
          </p:nvSpPr>
          <p:spPr>
            <a:xfrm rot="16200000">
              <a:off x="1766626" y="1723674"/>
              <a:ext cx="570572" cy="271787"/>
            </a:xfrm>
            <a:prstGeom prst="rect">
              <a:avLst/>
            </a:prstGeom>
            <a:noFill/>
          </p:spPr>
          <p:txBody>
            <a:bodyPr wrap="square" rtlCol="0">
              <a:spAutoFit/>
            </a:bodyPr>
            <a:lstStyle/>
            <a:p>
              <a:pPr algn="ctr"/>
              <a:r>
                <a:rPr lang="en-US" sz="1000" dirty="0">
                  <a:solidFill>
                    <a:schemeClr val="tx2">
                      <a:lumMod val="90000"/>
                      <a:lumOff val="10000"/>
                    </a:schemeClr>
                  </a:solidFill>
                  <a:latin typeface="Trade Gothic LT Pro" panose="020B0503040303020004"/>
                </a:rPr>
                <a:t>HIGH</a:t>
              </a:r>
            </a:p>
          </p:txBody>
        </p:sp>
        <p:sp>
          <p:nvSpPr>
            <p:cNvPr id="46" name="TextBox 45">
              <a:extLst>
                <a:ext uri="{FF2B5EF4-FFF2-40B4-BE49-F238E27FC236}">
                  <a16:creationId xmlns:a16="http://schemas.microsoft.com/office/drawing/2014/main" id="{579A49C8-DA24-4343-A76A-AB1CC723E300}"/>
                </a:ext>
              </a:extLst>
            </p:cNvPr>
            <p:cNvSpPr txBox="1"/>
            <p:nvPr/>
          </p:nvSpPr>
          <p:spPr>
            <a:xfrm rot="16200000">
              <a:off x="1708947" y="4479218"/>
              <a:ext cx="717041" cy="272523"/>
            </a:xfrm>
            <a:prstGeom prst="rect">
              <a:avLst/>
            </a:prstGeom>
            <a:noFill/>
          </p:spPr>
          <p:txBody>
            <a:bodyPr wrap="square" rtlCol="0">
              <a:spAutoFit/>
            </a:bodyPr>
            <a:lstStyle/>
            <a:p>
              <a:pPr algn="ctr"/>
              <a:r>
                <a:rPr lang="en-US" sz="1000" dirty="0">
                  <a:solidFill>
                    <a:schemeClr val="tx2">
                      <a:lumMod val="90000"/>
                      <a:lumOff val="10000"/>
                    </a:schemeClr>
                  </a:solidFill>
                  <a:latin typeface="Trade Gothic LT Pro" panose="020B0503040303020004"/>
                </a:rPr>
                <a:t>LOW</a:t>
              </a:r>
            </a:p>
          </p:txBody>
        </p:sp>
        <p:sp>
          <p:nvSpPr>
            <p:cNvPr id="47" name="TextBox 46">
              <a:extLst>
                <a:ext uri="{FF2B5EF4-FFF2-40B4-BE49-F238E27FC236}">
                  <a16:creationId xmlns:a16="http://schemas.microsoft.com/office/drawing/2014/main" id="{E1B8B4FD-0A19-4614-8389-5235477ADE7D}"/>
                </a:ext>
              </a:extLst>
            </p:cNvPr>
            <p:cNvSpPr txBox="1"/>
            <p:nvPr/>
          </p:nvSpPr>
          <p:spPr>
            <a:xfrm>
              <a:off x="2743671" y="5815782"/>
              <a:ext cx="523241" cy="257703"/>
            </a:xfrm>
            <a:prstGeom prst="rect">
              <a:avLst/>
            </a:prstGeom>
            <a:noFill/>
          </p:spPr>
          <p:txBody>
            <a:bodyPr wrap="square" rtlCol="0">
              <a:spAutoFit/>
            </a:bodyPr>
            <a:lstStyle/>
            <a:p>
              <a:pPr algn="ctr"/>
              <a:r>
                <a:rPr lang="en-US" sz="1000" dirty="0">
                  <a:solidFill>
                    <a:schemeClr val="tx2">
                      <a:lumMod val="90000"/>
                      <a:lumOff val="10000"/>
                    </a:schemeClr>
                  </a:solidFill>
                  <a:latin typeface="Trade Gothic LT Pro" panose="020B0503040303020004"/>
                </a:rPr>
                <a:t>LOW</a:t>
              </a:r>
            </a:p>
          </p:txBody>
        </p:sp>
        <p:sp>
          <p:nvSpPr>
            <p:cNvPr id="48" name="TextBox 47">
              <a:extLst>
                <a:ext uri="{FF2B5EF4-FFF2-40B4-BE49-F238E27FC236}">
                  <a16:creationId xmlns:a16="http://schemas.microsoft.com/office/drawing/2014/main" id="{372AFECC-C1BF-46B1-B101-CBEC38F6B8E4}"/>
                </a:ext>
              </a:extLst>
            </p:cNvPr>
            <p:cNvSpPr txBox="1"/>
            <p:nvPr/>
          </p:nvSpPr>
          <p:spPr>
            <a:xfrm>
              <a:off x="5344046" y="5815782"/>
              <a:ext cx="742986" cy="257703"/>
            </a:xfrm>
            <a:prstGeom prst="rect">
              <a:avLst/>
            </a:prstGeom>
            <a:noFill/>
          </p:spPr>
          <p:txBody>
            <a:bodyPr wrap="square" rtlCol="0">
              <a:spAutoFit/>
            </a:bodyPr>
            <a:lstStyle/>
            <a:p>
              <a:pPr algn="ctr"/>
              <a:r>
                <a:rPr lang="en-US" sz="1000" dirty="0">
                  <a:solidFill>
                    <a:schemeClr val="tx2">
                      <a:lumMod val="90000"/>
                      <a:lumOff val="10000"/>
                    </a:schemeClr>
                  </a:solidFill>
                  <a:latin typeface="Trade Gothic LT Pro" panose="020B0503040303020004"/>
                </a:rPr>
                <a:t>HIGH</a:t>
              </a:r>
            </a:p>
          </p:txBody>
        </p:sp>
      </p:grpSp>
      <p:cxnSp>
        <p:nvCxnSpPr>
          <p:cNvPr id="56" name="Straight Connector 55">
            <a:extLst>
              <a:ext uri="{FF2B5EF4-FFF2-40B4-BE49-F238E27FC236}">
                <a16:creationId xmlns:a16="http://schemas.microsoft.com/office/drawing/2014/main" id="{31B86180-B60C-4C1F-BB18-3B0E99638A16}"/>
              </a:ext>
            </a:extLst>
          </p:cNvPr>
          <p:cNvCxnSpPr>
            <a:cxnSpLocks/>
          </p:cNvCxnSpPr>
          <p:nvPr/>
        </p:nvCxnSpPr>
        <p:spPr>
          <a:xfrm>
            <a:off x="6686888" y="2514363"/>
            <a:ext cx="3116197" cy="0"/>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216C0F9-2FD5-4F63-ACB3-E24208B8FE0B}"/>
              </a:ext>
            </a:extLst>
          </p:cNvPr>
          <p:cNvCxnSpPr>
            <a:cxnSpLocks/>
          </p:cNvCxnSpPr>
          <p:nvPr/>
        </p:nvCxnSpPr>
        <p:spPr>
          <a:xfrm>
            <a:off x="6686888" y="3647659"/>
            <a:ext cx="3105698" cy="0"/>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3F1AB3A-AD76-42F9-A7DC-681C9DE3A4BB}"/>
              </a:ext>
            </a:extLst>
          </p:cNvPr>
          <p:cNvCxnSpPr>
            <a:cxnSpLocks/>
          </p:cNvCxnSpPr>
          <p:nvPr/>
        </p:nvCxnSpPr>
        <p:spPr>
          <a:xfrm>
            <a:off x="6686888" y="5263470"/>
            <a:ext cx="3116197" cy="0"/>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1A308329-AFC9-4D58-B826-3C50C9B111B4}"/>
              </a:ext>
            </a:extLst>
          </p:cNvPr>
          <p:cNvSpPr txBox="1"/>
          <p:nvPr/>
        </p:nvSpPr>
        <p:spPr>
          <a:xfrm>
            <a:off x="6686888" y="2528492"/>
            <a:ext cx="3105695" cy="577081"/>
          </a:xfrm>
          <a:prstGeom prst="rect">
            <a:avLst/>
          </a:prstGeom>
          <a:noFill/>
        </p:spPr>
        <p:txBody>
          <a:bodyPr wrap="square">
            <a:spAutoFit/>
          </a:bodyPr>
          <a:lstStyle/>
          <a:p>
            <a:pPr lvl="0" defTabSz="1005840">
              <a:defRPr/>
            </a:pPr>
            <a:r>
              <a:rPr lang="en-US" sz="1050" b="1" dirty="0">
                <a:solidFill>
                  <a:srgbClr val="000000"/>
                </a:solidFill>
                <a:latin typeface="Trade Gothic LT Pro Bold" panose="020B0503040303020004"/>
              </a:rPr>
              <a:t>How might we increase participation, ownership, and self-governance of those who are highly impacted (Q1 and Q2) by the effort?</a:t>
            </a:r>
          </a:p>
        </p:txBody>
      </p:sp>
      <p:sp>
        <p:nvSpPr>
          <p:cNvPr id="60" name="TextBox 59">
            <a:extLst>
              <a:ext uri="{FF2B5EF4-FFF2-40B4-BE49-F238E27FC236}">
                <a16:creationId xmlns:a16="http://schemas.microsoft.com/office/drawing/2014/main" id="{8DDDED86-F60D-4E5C-B4B2-1F91B8F0D8EF}"/>
              </a:ext>
            </a:extLst>
          </p:cNvPr>
          <p:cNvSpPr txBox="1"/>
          <p:nvPr/>
        </p:nvSpPr>
        <p:spPr>
          <a:xfrm>
            <a:off x="6686887" y="1300547"/>
            <a:ext cx="3105696" cy="85408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388"/>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Trade Gothic LT Pro Bold" panose="020B0503040303020004"/>
                <a:ea typeface="+mn-ea"/>
                <a:cs typeface="+mn-cs"/>
              </a:rPr>
              <a:t>What does status quo power look like in this effort?</a:t>
            </a:r>
          </a:p>
          <a:p>
            <a:pPr marL="0" marR="0" lvl="0" indent="0" algn="l" defTabSz="457200" rtl="0" eaLnBrk="1" fontAlgn="auto" latinLnBrk="0" hangingPunct="1">
              <a:lnSpc>
                <a:spcPct val="100000"/>
              </a:lnSpc>
              <a:spcBef>
                <a:spcPts val="0"/>
              </a:spcBef>
              <a:spcAft>
                <a:spcPts val="388"/>
              </a:spcAft>
              <a:buClrTx/>
              <a:buSzTx/>
              <a:buFontTx/>
              <a:buNone/>
              <a:tabLst/>
              <a:defRPr/>
            </a:pPr>
            <a:endParaRPr lang="en-US" sz="1000" b="1" dirty="0">
              <a:solidFill>
                <a:srgbClr val="000000"/>
              </a:solidFill>
              <a:latin typeface="Trade Gothic LT Pro Bold" panose="020B0503040303020004"/>
            </a:endParaRPr>
          </a:p>
          <a:p>
            <a:pPr marL="0" marR="0" lvl="0" indent="0" algn="l" defTabSz="457200" rtl="0" eaLnBrk="1" fontAlgn="auto" latinLnBrk="0" hangingPunct="1">
              <a:lnSpc>
                <a:spcPct val="100000"/>
              </a:lnSpc>
              <a:spcBef>
                <a:spcPts val="0"/>
              </a:spcBef>
              <a:spcAft>
                <a:spcPts val="388"/>
              </a:spcAft>
              <a:buClrTx/>
              <a:buSzTx/>
              <a:buFontTx/>
              <a:buNone/>
              <a:tabLst/>
              <a:defRPr/>
            </a:pPr>
            <a:endParaRPr kumimoji="0" lang="en-US" sz="1000" b="1" i="0" u="none" strike="noStrike" kern="1200" cap="none" spc="0" normalizeH="0" baseline="0" noProof="0" dirty="0">
              <a:ln>
                <a:noFill/>
              </a:ln>
              <a:solidFill>
                <a:srgbClr val="000000"/>
              </a:solidFill>
              <a:effectLst/>
              <a:uLnTx/>
              <a:uFillTx/>
              <a:latin typeface="Trade Gothic LT Pro Bold" panose="020B0503040303020004"/>
              <a:ea typeface="+mn-ea"/>
              <a:cs typeface="+mn-cs"/>
            </a:endParaRPr>
          </a:p>
          <a:p>
            <a:pPr marL="0" marR="0" lvl="0" indent="0" algn="l" defTabSz="457200" rtl="0" eaLnBrk="1" fontAlgn="auto" latinLnBrk="0" hangingPunct="1">
              <a:lnSpc>
                <a:spcPct val="100000"/>
              </a:lnSpc>
              <a:spcBef>
                <a:spcPts val="0"/>
              </a:spcBef>
              <a:spcAft>
                <a:spcPts val="388"/>
              </a:spcAft>
              <a:buClrTx/>
              <a:buSzTx/>
              <a:buFontTx/>
              <a:buNone/>
              <a:tabLst/>
              <a:defRPr/>
            </a:pPr>
            <a:r>
              <a:rPr lang="en-US" sz="900" dirty="0">
                <a:solidFill>
                  <a:srgbClr val="000000"/>
                </a:solidFill>
                <a:latin typeface="Trade Gothic LT Pro" panose="020B0503040303020004"/>
              </a:rPr>
              <a:t>How might it be changed or disrupted?</a:t>
            </a:r>
          </a:p>
        </p:txBody>
      </p:sp>
      <p:sp>
        <p:nvSpPr>
          <p:cNvPr id="61" name="TextBox 60">
            <a:extLst>
              <a:ext uri="{FF2B5EF4-FFF2-40B4-BE49-F238E27FC236}">
                <a16:creationId xmlns:a16="http://schemas.microsoft.com/office/drawing/2014/main" id="{BF2F97F9-72E4-43A5-8AE2-595F2645B636}"/>
              </a:ext>
            </a:extLst>
          </p:cNvPr>
          <p:cNvSpPr txBox="1"/>
          <p:nvPr/>
        </p:nvSpPr>
        <p:spPr>
          <a:xfrm>
            <a:off x="6686889" y="3676161"/>
            <a:ext cx="3084392" cy="158248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388"/>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Trade Gothic LT Pro Bold" panose="020B0503040303020004"/>
                <a:ea typeface="+mn-ea"/>
                <a:cs typeface="+mn-cs"/>
              </a:rPr>
              <a:t>How might we reduce barriers to participation?</a:t>
            </a:r>
          </a:p>
          <a:p>
            <a:pPr marL="171450" indent="-171450">
              <a:spcAft>
                <a:spcPts val="388"/>
              </a:spcAft>
              <a:buFont typeface="Arial" panose="020B0604020202020204" pitchFamily="34" charset="0"/>
              <a:buChar char="•"/>
              <a:defRPr/>
            </a:pPr>
            <a:r>
              <a:rPr lang="en-US" sz="900" dirty="0">
                <a:solidFill>
                  <a:srgbClr val="000000"/>
                </a:solidFill>
                <a:latin typeface="Trade Gothic LT Pro" panose="020B0503040303020004"/>
              </a:rPr>
              <a:t>Alternatives for those without internet access</a:t>
            </a:r>
          </a:p>
          <a:p>
            <a:pPr marL="171450" lvl="0" indent="-171450">
              <a:spcAft>
                <a:spcPts val="388"/>
              </a:spcAft>
              <a:buFont typeface="Arial" panose="020B0604020202020204" pitchFamily="34" charset="0"/>
              <a:buChar char="•"/>
              <a:defRPr/>
            </a:pPr>
            <a:r>
              <a:rPr lang="en-US" sz="900" dirty="0">
                <a:solidFill>
                  <a:srgbClr val="000000"/>
                </a:solidFill>
                <a:latin typeface="Trade Gothic LT Pro" panose="020B0503040303020004"/>
              </a:rPr>
              <a:t>Changing meeting times &amp; locations</a:t>
            </a:r>
          </a:p>
          <a:p>
            <a:pPr marL="171450" lvl="0" indent="-171450">
              <a:spcAft>
                <a:spcPts val="388"/>
              </a:spcAft>
              <a:buFont typeface="Arial" panose="020B0604020202020204" pitchFamily="34" charset="0"/>
              <a:buChar char="•"/>
              <a:defRPr/>
            </a:pPr>
            <a:r>
              <a:rPr lang="en-US" sz="900" dirty="0">
                <a:solidFill>
                  <a:srgbClr val="000000"/>
                </a:solidFill>
                <a:latin typeface="Trade Gothic LT Pro" panose="020B0503040303020004"/>
              </a:rPr>
              <a:t>Meals</a:t>
            </a:r>
          </a:p>
          <a:p>
            <a:pPr marL="171450" indent="-171450">
              <a:spcAft>
                <a:spcPts val="388"/>
              </a:spcAft>
              <a:buFont typeface="Arial" panose="020B0604020202020204" pitchFamily="34" charset="0"/>
              <a:buChar char="•"/>
              <a:defRPr/>
            </a:pPr>
            <a:r>
              <a:rPr lang="en-US" sz="900" dirty="0">
                <a:solidFill>
                  <a:srgbClr val="000000"/>
                </a:solidFill>
                <a:latin typeface="Trade Gothic LT Pro" panose="020B0503040303020004"/>
              </a:rPr>
              <a:t>Monetary compensation</a:t>
            </a:r>
          </a:p>
          <a:p>
            <a:pPr marL="171450" indent="-171450">
              <a:spcAft>
                <a:spcPts val="388"/>
              </a:spcAft>
              <a:buFont typeface="Arial" panose="020B0604020202020204" pitchFamily="34" charset="0"/>
              <a:buChar char="•"/>
              <a:defRPr/>
            </a:pPr>
            <a:r>
              <a:rPr lang="en-US" sz="900" dirty="0">
                <a:solidFill>
                  <a:srgbClr val="000000"/>
                </a:solidFill>
                <a:latin typeface="Trade Gothic LT Pro" panose="020B0503040303020004"/>
              </a:rPr>
              <a:t>On-site childcare</a:t>
            </a:r>
          </a:p>
          <a:p>
            <a:pPr marL="171450" lvl="0" indent="-171450">
              <a:spcAft>
                <a:spcPts val="388"/>
              </a:spcAft>
              <a:buFont typeface="Arial" panose="020B0604020202020204" pitchFamily="34" charset="0"/>
              <a:buChar char="•"/>
              <a:defRPr/>
            </a:pPr>
            <a:r>
              <a:rPr lang="en-US" sz="900" dirty="0">
                <a:solidFill>
                  <a:srgbClr val="000000"/>
                </a:solidFill>
                <a:latin typeface="Trade Gothic LT Pro" panose="020B0503040303020004"/>
              </a:rPr>
              <a:t>Transportation</a:t>
            </a:r>
          </a:p>
          <a:p>
            <a:pPr marL="171450" lvl="0" indent="-171450">
              <a:spcAft>
                <a:spcPts val="388"/>
              </a:spcAft>
              <a:buFont typeface="Arial" panose="020B0604020202020204" pitchFamily="34" charset="0"/>
              <a:buChar char="•"/>
              <a:defRPr/>
            </a:pPr>
            <a:r>
              <a:rPr lang="en-US" sz="900" dirty="0">
                <a:solidFill>
                  <a:srgbClr val="000000"/>
                </a:solidFill>
                <a:latin typeface="Trade Gothic LT Pro" panose="020B0503040303020004"/>
              </a:rPr>
              <a:t>Something else: ________________________</a:t>
            </a:r>
            <a:endParaRPr lang="en-US" sz="900" i="1" dirty="0">
              <a:solidFill>
                <a:schemeClr val="bg1">
                  <a:lumMod val="50000"/>
                </a:schemeClr>
              </a:solidFill>
              <a:latin typeface="Trade Gothic LT Pro" panose="020B0503040303020004"/>
            </a:endParaRPr>
          </a:p>
        </p:txBody>
      </p:sp>
      <p:cxnSp>
        <p:nvCxnSpPr>
          <p:cNvPr id="62" name="Straight Connector 61">
            <a:extLst>
              <a:ext uri="{FF2B5EF4-FFF2-40B4-BE49-F238E27FC236}">
                <a16:creationId xmlns:a16="http://schemas.microsoft.com/office/drawing/2014/main" id="{B0FA9757-B1E3-4D4C-83E3-8D2FF6BF6F08}"/>
              </a:ext>
            </a:extLst>
          </p:cNvPr>
          <p:cNvCxnSpPr>
            <a:cxnSpLocks/>
            <a:stCxn id="39" idx="0"/>
            <a:endCxn id="39" idx="2"/>
          </p:cNvCxnSpPr>
          <p:nvPr/>
        </p:nvCxnSpPr>
        <p:spPr>
          <a:xfrm>
            <a:off x="5029200" y="6464377"/>
            <a:ext cx="0" cy="847636"/>
          </a:xfrm>
          <a:prstGeom prst="line">
            <a:avLst/>
          </a:prstGeom>
          <a:ln w="9525">
            <a:solidFill>
              <a:srgbClr val="7E8284"/>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4AC89DBE-06BD-4D77-A2BE-10B450B96160}"/>
              </a:ext>
            </a:extLst>
          </p:cNvPr>
          <p:cNvSpPr txBox="1"/>
          <p:nvPr/>
        </p:nvSpPr>
        <p:spPr>
          <a:xfrm>
            <a:off x="6686889" y="5271244"/>
            <a:ext cx="3116195" cy="79508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388"/>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Trade Gothic LT Pro Bold" panose="020B0503040303020004"/>
                <a:ea typeface="+mn-ea"/>
                <a:cs typeface="+mn-cs"/>
              </a:rPr>
              <a:t>Is our team representative of those who are highly impacted (Q1 and Q2) by the effort?</a:t>
            </a:r>
          </a:p>
          <a:p>
            <a:pPr marL="0" marR="0" lvl="0" indent="0" algn="l" defTabSz="457200" rtl="0" eaLnBrk="1" fontAlgn="auto" latinLnBrk="0" hangingPunct="1">
              <a:lnSpc>
                <a:spcPct val="100000"/>
              </a:lnSpc>
              <a:spcBef>
                <a:spcPts val="0"/>
              </a:spcBef>
              <a:spcAft>
                <a:spcPts val="388"/>
              </a:spcAft>
              <a:buClrTx/>
              <a:buSzTx/>
              <a:buFontTx/>
              <a:buNone/>
              <a:tabLst/>
              <a:defRPr/>
            </a:pPr>
            <a:endParaRPr lang="en-US" sz="900" b="1" dirty="0">
              <a:solidFill>
                <a:srgbClr val="000000"/>
              </a:solidFill>
              <a:latin typeface="Trade Gothic LT Pro Bold" panose="020B0503040303020004"/>
            </a:endParaRPr>
          </a:p>
          <a:p>
            <a:pPr marL="0" marR="0" lvl="0" indent="0" algn="l" defTabSz="457200" rtl="0" eaLnBrk="1" fontAlgn="auto" latinLnBrk="0" hangingPunct="1">
              <a:lnSpc>
                <a:spcPct val="100000"/>
              </a:lnSpc>
              <a:spcBef>
                <a:spcPts val="0"/>
              </a:spcBef>
              <a:spcAft>
                <a:spcPts val="388"/>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Trade Gothic LT Pro" panose="020B0503040303020004"/>
                <a:ea typeface="+mn-ea"/>
                <a:cs typeface="+mn-cs"/>
              </a:rPr>
              <a:t>If not, how might we improve?</a:t>
            </a:r>
          </a:p>
        </p:txBody>
      </p:sp>
      <p:sp>
        <p:nvSpPr>
          <p:cNvPr id="70" name="TextBox 69">
            <a:extLst>
              <a:ext uri="{FF2B5EF4-FFF2-40B4-BE49-F238E27FC236}">
                <a16:creationId xmlns:a16="http://schemas.microsoft.com/office/drawing/2014/main" id="{3E1EEB72-9CF5-4C82-81D3-31B4BD30152D}"/>
              </a:ext>
            </a:extLst>
          </p:cNvPr>
          <p:cNvSpPr txBox="1"/>
          <p:nvPr/>
        </p:nvSpPr>
        <p:spPr>
          <a:xfrm>
            <a:off x="598157" y="6499981"/>
            <a:ext cx="4420544" cy="415498"/>
          </a:xfrm>
          <a:prstGeom prst="rect">
            <a:avLst/>
          </a:prstGeom>
          <a:noFill/>
        </p:spPr>
        <p:txBody>
          <a:bodyPr wrap="square" rtlCol="0">
            <a:spAutoFit/>
          </a:bodyPr>
          <a:lstStyle/>
          <a:p>
            <a:r>
              <a:rPr lang="en-US" sz="1050" b="1" dirty="0">
                <a:latin typeface="Trade Gothic LT Pro Bold" panose="020B0503040303020004" pitchFamily="34" charset="77"/>
                <a:ea typeface="Helvetica Neue" panose="02000503000000020004" pitchFamily="2" charset="0"/>
                <a:cs typeface="Helvetica Neue" panose="02000503000000020004" pitchFamily="2" charset="0"/>
              </a:rPr>
              <a:t>What have we learned/discovered about which stakeholders are important to prioritize?</a:t>
            </a:r>
            <a:endParaRPr lang="en-US" sz="1050" dirty="0">
              <a:latin typeface="Trade Gothic LT Pro Bold" panose="020B0503040303020004" pitchFamily="34" charset="77"/>
              <a:ea typeface="Helvetica Neue" panose="02000503000000020004" pitchFamily="2" charset="0"/>
              <a:cs typeface="Helvetica Neue" panose="02000503000000020004" pitchFamily="2" charset="0"/>
            </a:endParaRPr>
          </a:p>
        </p:txBody>
      </p:sp>
      <p:sp>
        <p:nvSpPr>
          <p:cNvPr id="71" name="TextBox 70">
            <a:extLst>
              <a:ext uri="{FF2B5EF4-FFF2-40B4-BE49-F238E27FC236}">
                <a16:creationId xmlns:a16="http://schemas.microsoft.com/office/drawing/2014/main" id="{E8ADF64E-FFA4-42EA-AEF0-391FBB541842}"/>
              </a:ext>
            </a:extLst>
          </p:cNvPr>
          <p:cNvSpPr txBox="1"/>
          <p:nvPr/>
        </p:nvSpPr>
        <p:spPr>
          <a:xfrm>
            <a:off x="5039700" y="6896166"/>
            <a:ext cx="4763384" cy="400110"/>
          </a:xfrm>
          <a:prstGeom prst="rect">
            <a:avLst/>
          </a:prstGeom>
          <a:noFill/>
        </p:spPr>
        <p:txBody>
          <a:bodyPr wrap="square" rtlCol="0">
            <a:spAutoFit/>
          </a:bodyPr>
          <a:lstStyle/>
          <a:p>
            <a:r>
              <a:rPr lang="en-US" sz="1050" dirty="0">
                <a:solidFill>
                  <a:srgbClr val="000000"/>
                </a:solidFill>
                <a:latin typeface="Trade Gothic LT Pro" panose="020B0503040303020004"/>
              </a:rPr>
              <a:t>For ____________________, we need to </a:t>
            </a:r>
            <a:r>
              <a:rPr lang="en-US" sz="1200" b="1" dirty="0">
                <a:solidFill>
                  <a:prstClr val="black"/>
                </a:solidFill>
                <a:latin typeface="Trade Gothic LT Pro Bold" panose="020B0503040303020004" pitchFamily="34" charset="0"/>
                <a:ea typeface="Helvetica Neue" panose="02000503000000020004" pitchFamily="2" charset="0"/>
                <a:cs typeface="Helvetica Neue" panose="02000503000000020004" pitchFamily="2" charset="0"/>
              </a:rPr>
              <a:t>_______________________</a:t>
            </a:r>
          </a:p>
          <a:p>
            <a:pPr>
              <a:spcAft>
                <a:spcPts val="388"/>
              </a:spcAft>
              <a:defRPr/>
            </a:pPr>
            <a:r>
              <a:rPr lang="en-US" sz="800" i="1" dirty="0">
                <a:solidFill>
                  <a:srgbClr val="000000"/>
                </a:solidFill>
                <a:latin typeface="Trade Gothic LT Pro" panose="020B0503040303020004"/>
              </a:rPr>
              <a:t>           (stakeholder name/quadrant)                                           (team action)</a:t>
            </a:r>
          </a:p>
        </p:txBody>
      </p:sp>
      <p:sp>
        <p:nvSpPr>
          <p:cNvPr id="72" name="TextBox 71">
            <a:extLst>
              <a:ext uri="{FF2B5EF4-FFF2-40B4-BE49-F238E27FC236}">
                <a16:creationId xmlns:a16="http://schemas.microsoft.com/office/drawing/2014/main" id="{05FB05AF-5297-4330-B35D-90B16DC45369}"/>
              </a:ext>
            </a:extLst>
          </p:cNvPr>
          <p:cNvSpPr txBox="1"/>
          <p:nvPr/>
        </p:nvSpPr>
        <p:spPr>
          <a:xfrm>
            <a:off x="5039700" y="6499981"/>
            <a:ext cx="4205715" cy="261610"/>
          </a:xfrm>
          <a:prstGeom prst="rect">
            <a:avLst/>
          </a:prstGeom>
          <a:noFill/>
          <a:ln>
            <a:noFill/>
          </a:ln>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050" b="1" i="0" strike="noStrike" kern="1200" cap="none" spc="0" normalizeH="0" baseline="0" noProof="0" dirty="0">
                <a:ln>
                  <a:noFill/>
                </a:ln>
                <a:solidFill>
                  <a:prstClr val="black"/>
                </a:solidFill>
                <a:effectLst/>
                <a:uLnTx/>
                <a:uFillTx/>
                <a:latin typeface="Trade Gothic LT Pro Bold" panose="020B0503040303020004" pitchFamily="34" charset="77"/>
                <a:ea typeface="Helvetica Neue" panose="02000503000000020004" pitchFamily="2" charset="0"/>
                <a:cs typeface="Helvetica Neue" panose="02000503000000020004" pitchFamily="2" charset="0"/>
              </a:rPr>
              <a:t>Next Steps </a:t>
            </a:r>
            <a:r>
              <a:rPr lang="en-US" sz="900" i="1" dirty="0">
                <a:latin typeface="Trade Gothic LT Pro" panose="020B0503040303020004" pitchFamily="34" charset="77"/>
                <a:ea typeface="Helvetica Neue" panose="02000503000000020004" pitchFamily="2" charset="0"/>
                <a:cs typeface="Helvetica Neue" panose="02000503000000020004" pitchFamily="2" charset="0"/>
              </a:rPr>
              <a:t>(These can be internal or external actions)</a:t>
            </a:r>
            <a:endParaRPr lang="en-US" sz="1050" i="1" dirty="0">
              <a:latin typeface="Trade Gothic LT Pro" panose="020B0503040303020004" pitchFamily="34" charset="77"/>
              <a:ea typeface="Helvetica Neue" panose="02000503000000020004" pitchFamily="2" charset="0"/>
              <a:cs typeface="Helvetica Neue" panose="02000503000000020004" pitchFamily="2" charset="0"/>
            </a:endParaRPr>
          </a:p>
        </p:txBody>
      </p:sp>
      <p:sp>
        <p:nvSpPr>
          <p:cNvPr id="42" name="TextBox 41">
            <a:extLst>
              <a:ext uri="{FF2B5EF4-FFF2-40B4-BE49-F238E27FC236}">
                <a16:creationId xmlns:a16="http://schemas.microsoft.com/office/drawing/2014/main" id="{0B8EAB26-5DF1-48E6-9811-2B7ED852D296}"/>
              </a:ext>
            </a:extLst>
          </p:cNvPr>
          <p:cNvSpPr txBox="1"/>
          <p:nvPr/>
        </p:nvSpPr>
        <p:spPr>
          <a:xfrm>
            <a:off x="1810373" y="7433621"/>
            <a:ext cx="1842172" cy="230832"/>
          </a:xfrm>
          <a:prstGeom prst="rect">
            <a:avLst/>
          </a:prstGeom>
          <a:noFill/>
        </p:spPr>
        <p:txBody>
          <a:bodyPr wrap="none" rtlCol="0">
            <a:spAutoFit/>
          </a:bodyPr>
          <a:lstStyle/>
          <a:p>
            <a:pPr algn="ctr"/>
            <a:r>
              <a:rPr lang="en-US" sz="900" dirty="0">
                <a:latin typeface="Trade Gothic LT Pro" panose="020B0503040303020004" pitchFamily="34" charset="77"/>
                <a:cs typeface="Arial" panose="020B0604020202020204" pitchFamily="34" charset="0"/>
              </a:rPr>
              <a:t>Stakeholder Power Categories V1</a:t>
            </a:r>
          </a:p>
        </p:txBody>
      </p:sp>
      <p:sp>
        <p:nvSpPr>
          <p:cNvPr id="50" name="TextBox 49">
            <a:extLst>
              <a:ext uri="{FF2B5EF4-FFF2-40B4-BE49-F238E27FC236}">
                <a16:creationId xmlns:a16="http://schemas.microsoft.com/office/drawing/2014/main" id="{208EA06C-258A-8B47-9204-3C8BC1D9A6C4}"/>
              </a:ext>
            </a:extLst>
          </p:cNvPr>
          <p:cNvSpPr txBox="1"/>
          <p:nvPr/>
        </p:nvSpPr>
        <p:spPr>
          <a:xfrm>
            <a:off x="2421602" y="1642246"/>
            <a:ext cx="386698" cy="253916"/>
          </a:xfrm>
          <a:prstGeom prst="rect">
            <a:avLst/>
          </a:prstGeom>
          <a:noFill/>
        </p:spPr>
        <p:txBody>
          <a:bodyPr wrap="square" rtlCol="0">
            <a:spAutoFit/>
          </a:bodyPr>
          <a:lstStyle/>
          <a:p>
            <a:pPr algn="ctr"/>
            <a:r>
              <a:rPr lang="en-US" sz="1000" b="1" dirty="0">
                <a:solidFill>
                  <a:schemeClr val="tx2"/>
                </a:solidFill>
                <a:latin typeface="Trade Gothic LT Pro Bold" panose="020B0503040303020004"/>
              </a:rPr>
              <a:t>Q1</a:t>
            </a:r>
          </a:p>
        </p:txBody>
      </p:sp>
      <p:sp>
        <p:nvSpPr>
          <p:cNvPr id="63" name="TextBox 62">
            <a:extLst>
              <a:ext uri="{FF2B5EF4-FFF2-40B4-BE49-F238E27FC236}">
                <a16:creationId xmlns:a16="http://schemas.microsoft.com/office/drawing/2014/main" id="{7761EF63-0DDD-0747-AE9B-EA4E1C5DB74E}"/>
              </a:ext>
            </a:extLst>
          </p:cNvPr>
          <p:cNvSpPr txBox="1"/>
          <p:nvPr/>
        </p:nvSpPr>
        <p:spPr>
          <a:xfrm>
            <a:off x="4402529" y="1642246"/>
            <a:ext cx="386698" cy="246221"/>
          </a:xfrm>
          <a:prstGeom prst="rect">
            <a:avLst/>
          </a:prstGeom>
          <a:noFill/>
        </p:spPr>
        <p:txBody>
          <a:bodyPr wrap="square" rtlCol="0">
            <a:spAutoFit/>
          </a:bodyPr>
          <a:lstStyle/>
          <a:p>
            <a:pPr algn="ctr"/>
            <a:r>
              <a:rPr lang="en-US" sz="1000" b="1" dirty="0">
                <a:solidFill>
                  <a:schemeClr val="tx2"/>
                </a:solidFill>
                <a:latin typeface="Trade Gothic LT Pro Bold" panose="020B0503040303020004"/>
              </a:rPr>
              <a:t>Q2</a:t>
            </a:r>
          </a:p>
        </p:txBody>
      </p:sp>
      <p:sp>
        <p:nvSpPr>
          <p:cNvPr id="64" name="TextBox 63">
            <a:extLst>
              <a:ext uri="{FF2B5EF4-FFF2-40B4-BE49-F238E27FC236}">
                <a16:creationId xmlns:a16="http://schemas.microsoft.com/office/drawing/2014/main" id="{F971E62F-2B78-D442-BF16-D288F156B4A7}"/>
              </a:ext>
            </a:extLst>
          </p:cNvPr>
          <p:cNvSpPr txBox="1"/>
          <p:nvPr/>
        </p:nvSpPr>
        <p:spPr>
          <a:xfrm>
            <a:off x="2404372" y="3670333"/>
            <a:ext cx="386698" cy="246221"/>
          </a:xfrm>
          <a:prstGeom prst="rect">
            <a:avLst/>
          </a:prstGeom>
          <a:noFill/>
        </p:spPr>
        <p:txBody>
          <a:bodyPr wrap="square" rtlCol="0">
            <a:spAutoFit/>
          </a:bodyPr>
          <a:lstStyle/>
          <a:p>
            <a:pPr algn="ctr"/>
            <a:r>
              <a:rPr lang="en-US" sz="1000" b="1" dirty="0">
                <a:solidFill>
                  <a:schemeClr val="tx2"/>
                </a:solidFill>
                <a:latin typeface="Trade Gothic LT Pro Bold" panose="020B0503040303020004"/>
              </a:rPr>
              <a:t>Q3</a:t>
            </a:r>
          </a:p>
        </p:txBody>
      </p:sp>
      <p:sp>
        <p:nvSpPr>
          <p:cNvPr id="65" name="TextBox 64">
            <a:extLst>
              <a:ext uri="{FF2B5EF4-FFF2-40B4-BE49-F238E27FC236}">
                <a16:creationId xmlns:a16="http://schemas.microsoft.com/office/drawing/2014/main" id="{5CC74997-0EFD-DE4A-AF00-5843F8168783}"/>
              </a:ext>
            </a:extLst>
          </p:cNvPr>
          <p:cNvSpPr txBox="1"/>
          <p:nvPr/>
        </p:nvSpPr>
        <p:spPr>
          <a:xfrm>
            <a:off x="4399859" y="3697822"/>
            <a:ext cx="386698" cy="246221"/>
          </a:xfrm>
          <a:prstGeom prst="rect">
            <a:avLst/>
          </a:prstGeom>
          <a:noFill/>
        </p:spPr>
        <p:txBody>
          <a:bodyPr wrap="square" rtlCol="0">
            <a:spAutoFit/>
          </a:bodyPr>
          <a:lstStyle/>
          <a:p>
            <a:pPr algn="ctr"/>
            <a:r>
              <a:rPr lang="en-US" sz="1000" b="1" dirty="0">
                <a:solidFill>
                  <a:schemeClr val="tx2"/>
                </a:solidFill>
                <a:latin typeface="Trade Gothic LT Pro Bold" panose="020B0503040303020004"/>
              </a:rPr>
              <a:t>Q4</a:t>
            </a:r>
          </a:p>
        </p:txBody>
      </p:sp>
      <p:sp>
        <p:nvSpPr>
          <p:cNvPr id="66" name="TextBox 65">
            <a:extLst>
              <a:ext uri="{FF2B5EF4-FFF2-40B4-BE49-F238E27FC236}">
                <a16:creationId xmlns:a16="http://schemas.microsoft.com/office/drawing/2014/main" id="{DB7D0287-68C6-AE4B-AB88-4542E2549247}"/>
              </a:ext>
            </a:extLst>
          </p:cNvPr>
          <p:cNvSpPr txBox="1"/>
          <p:nvPr/>
        </p:nvSpPr>
        <p:spPr>
          <a:xfrm>
            <a:off x="2739153" y="1642246"/>
            <a:ext cx="1674895" cy="692497"/>
          </a:xfrm>
          <a:prstGeom prst="rect">
            <a:avLst/>
          </a:prstGeom>
          <a:noFill/>
        </p:spPr>
        <p:txBody>
          <a:bodyPr wrap="square" rtlCol="0">
            <a:spAutoFit/>
          </a:bodyPr>
          <a:lstStyle/>
          <a:p>
            <a:r>
              <a:rPr lang="en-US" sz="1050" b="1" dirty="0">
                <a:latin typeface="Trade Gothic LT Pro Bold" panose="020B0503040303020004"/>
              </a:rPr>
              <a:t>Highly impacted but hold little power. </a:t>
            </a:r>
            <a:r>
              <a:rPr lang="en-US" sz="900" dirty="0">
                <a:latin typeface="Trade Gothic LT Pro" panose="020B0503040303020004"/>
              </a:rPr>
              <a:t>Prioritize Q1 so they can shape the outcomes that will directly affect them</a:t>
            </a:r>
            <a:endParaRPr lang="en-US" sz="1050" b="1" dirty="0"/>
          </a:p>
        </p:txBody>
      </p:sp>
      <p:sp>
        <p:nvSpPr>
          <p:cNvPr id="67" name="TextBox 66">
            <a:extLst>
              <a:ext uri="{FF2B5EF4-FFF2-40B4-BE49-F238E27FC236}">
                <a16:creationId xmlns:a16="http://schemas.microsoft.com/office/drawing/2014/main" id="{88967D05-3722-7641-B8C4-57D29A4C286A}"/>
              </a:ext>
            </a:extLst>
          </p:cNvPr>
          <p:cNvSpPr txBox="1"/>
          <p:nvPr/>
        </p:nvSpPr>
        <p:spPr>
          <a:xfrm>
            <a:off x="4695328" y="1642246"/>
            <a:ext cx="1930973" cy="830997"/>
          </a:xfrm>
          <a:prstGeom prst="rect">
            <a:avLst/>
          </a:prstGeom>
          <a:noFill/>
        </p:spPr>
        <p:txBody>
          <a:bodyPr wrap="square" rtlCol="0">
            <a:spAutoFit/>
          </a:bodyPr>
          <a:lstStyle/>
          <a:p>
            <a:r>
              <a:rPr lang="en-US" sz="1050" b="1" dirty="0">
                <a:latin typeface="Trade Gothic LT Pro Bold" panose="020B0503040303020004"/>
              </a:rPr>
              <a:t>Highly impacted and hold lots of power. </a:t>
            </a:r>
            <a:r>
              <a:rPr lang="en-US" sz="900" dirty="0">
                <a:latin typeface="Trade Gothic LT Pro" panose="020B0503040303020004"/>
              </a:rPr>
              <a:t>Likely already at and accustomed to being the only ones at the table; they may need help sharing power with those in Q1</a:t>
            </a:r>
            <a:endParaRPr lang="en-US" sz="1050" b="1" dirty="0"/>
          </a:p>
        </p:txBody>
      </p:sp>
      <p:sp>
        <p:nvSpPr>
          <p:cNvPr id="68" name="TextBox 67">
            <a:extLst>
              <a:ext uri="{FF2B5EF4-FFF2-40B4-BE49-F238E27FC236}">
                <a16:creationId xmlns:a16="http://schemas.microsoft.com/office/drawing/2014/main" id="{1123FC8E-AC69-E645-B0FE-6DD1CBE0CF3B}"/>
              </a:ext>
            </a:extLst>
          </p:cNvPr>
          <p:cNvSpPr txBox="1"/>
          <p:nvPr/>
        </p:nvSpPr>
        <p:spPr>
          <a:xfrm>
            <a:off x="2662150" y="3695757"/>
            <a:ext cx="1700102" cy="854080"/>
          </a:xfrm>
          <a:prstGeom prst="rect">
            <a:avLst/>
          </a:prstGeom>
          <a:noFill/>
        </p:spPr>
        <p:txBody>
          <a:bodyPr wrap="square" rtlCol="0">
            <a:spAutoFit/>
          </a:bodyPr>
          <a:lstStyle/>
          <a:p>
            <a:r>
              <a:rPr lang="en-US" sz="1050" b="1" dirty="0">
                <a:latin typeface="Trade Gothic LT Pro Bold" panose="020B0503040303020004"/>
              </a:rPr>
              <a:t>Lightly impacted and hold little power. </a:t>
            </a:r>
            <a:r>
              <a:rPr lang="en-US" sz="900" dirty="0">
                <a:latin typeface="Trade Gothic LT Pro" panose="020B0503040303020004"/>
              </a:rPr>
              <a:t>Could be consulted for their experience </a:t>
            </a:r>
          </a:p>
          <a:p>
            <a:endParaRPr lang="en-US" sz="1050" b="1" dirty="0"/>
          </a:p>
        </p:txBody>
      </p:sp>
      <p:sp>
        <p:nvSpPr>
          <p:cNvPr id="73" name="TextBox 72">
            <a:extLst>
              <a:ext uri="{FF2B5EF4-FFF2-40B4-BE49-F238E27FC236}">
                <a16:creationId xmlns:a16="http://schemas.microsoft.com/office/drawing/2014/main" id="{52DF7815-3CAB-1F49-8785-522ECE98F7FE}"/>
              </a:ext>
            </a:extLst>
          </p:cNvPr>
          <p:cNvSpPr txBox="1"/>
          <p:nvPr/>
        </p:nvSpPr>
        <p:spPr>
          <a:xfrm>
            <a:off x="4702652" y="3684847"/>
            <a:ext cx="1928684" cy="992579"/>
          </a:xfrm>
          <a:prstGeom prst="rect">
            <a:avLst/>
          </a:prstGeom>
          <a:noFill/>
        </p:spPr>
        <p:txBody>
          <a:bodyPr wrap="square" rtlCol="0">
            <a:spAutoFit/>
          </a:bodyPr>
          <a:lstStyle/>
          <a:p>
            <a:r>
              <a:rPr lang="en-US" sz="1050" b="1" dirty="0">
                <a:latin typeface="Trade Gothic LT Pro Bold" panose="020B0503040303020004"/>
              </a:rPr>
              <a:t>Lightly impacted but hold lots of power. </a:t>
            </a:r>
            <a:r>
              <a:rPr lang="en-US" sz="900" dirty="0">
                <a:latin typeface="Trade Gothic LT Pro" panose="020B0503040303020004"/>
              </a:rPr>
              <a:t>Should be involved (might be gatekeepers, key allies, or advocates); they may need help sharing power </a:t>
            </a:r>
          </a:p>
          <a:p>
            <a:endParaRPr lang="en-US" sz="1050" b="1" dirty="0"/>
          </a:p>
        </p:txBody>
      </p:sp>
    </p:spTree>
    <p:extLst>
      <p:ext uri="{BB962C8B-B14F-4D97-AF65-F5344CB8AC3E}">
        <p14:creationId xmlns:p14="http://schemas.microsoft.com/office/powerpoint/2010/main" val="1827761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507212F-1776-5144-9583-72996E899833}"/>
              </a:ext>
            </a:extLst>
          </p:cNvPr>
          <p:cNvSpPr txBox="1"/>
          <p:nvPr/>
        </p:nvSpPr>
        <p:spPr>
          <a:xfrm>
            <a:off x="103987" y="103554"/>
            <a:ext cx="4527201"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B0F0"/>
                </a:solidFill>
                <a:effectLst/>
                <a:uLnTx/>
                <a:uFillTx/>
                <a:latin typeface="Trade Gothic LT Pro Bold" panose="020B0503040303020004" pitchFamily="34" charset="77"/>
                <a:ea typeface="+mn-ea"/>
                <a:cs typeface="+mn-cs"/>
              </a:rPr>
              <a:t>TOOL TIPS: </a:t>
            </a:r>
            <a:r>
              <a:rPr kumimoji="0" lang="en-US" sz="1800" b="1" i="0" u="none" strike="noStrike" kern="1200" cap="none" spc="0" normalizeH="0" baseline="0" noProof="0" dirty="0">
                <a:ln>
                  <a:noFill/>
                </a:ln>
                <a:solidFill>
                  <a:srgbClr val="0B2338"/>
                </a:solidFill>
                <a:effectLst/>
                <a:uLnTx/>
                <a:uFillTx/>
                <a:latin typeface="Trade Gothic LT Pro Bold" panose="020B0503040303020004" pitchFamily="34" charset="77"/>
                <a:ea typeface="+mn-ea"/>
                <a:cs typeface="+mn-cs"/>
              </a:rPr>
              <a:t>Stakeholder Power Categories</a:t>
            </a:r>
          </a:p>
        </p:txBody>
      </p:sp>
      <p:sp>
        <p:nvSpPr>
          <p:cNvPr id="8" name="TextBox 7">
            <a:extLst>
              <a:ext uri="{FF2B5EF4-FFF2-40B4-BE49-F238E27FC236}">
                <a16:creationId xmlns:a16="http://schemas.microsoft.com/office/drawing/2014/main" id="{B12DEED5-2E20-7E4C-96AF-C4C87AB97DB1}"/>
              </a:ext>
            </a:extLst>
          </p:cNvPr>
          <p:cNvSpPr txBox="1"/>
          <p:nvPr/>
        </p:nvSpPr>
        <p:spPr>
          <a:xfrm>
            <a:off x="103988" y="510901"/>
            <a:ext cx="5279270" cy="7481535"/>
          </a:xfrm>
          <a:prstGeom prst="rect">
            <a:avLst/>
          </a:prstGeom>
          <a:noFill/>
        </p:spPr>
        <p:txBody>
          <a:bodyPr wrap="square" rtlCol="0">
            <a:spAutoFit/>
          </a:bodyPr>
          <a:lstStyle/>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Use this canvas to quickly categorize and prioritize which stakeholders to engage.​</a:t>
            </a:r>
          </a:p>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a:t>
            </a:r>
            <a:endParaRPr kumimoji="0" lang="en-US" sz="1000" b="0" i="0" u="none" strike="noStrike" kern="1200" cap="none" spc="0" normalizeH="0" baseline="0" noProof="0" dirty="0">
              <a:ln>
                <a:noFill/>
              </a:ln>
              <a:solidFill>
                <a:srgbClr val="000000"/>
              </a:solidFill>
              <a:effectLst/>
              <a:uLnTx/>
              <a:uFillTx/>
              <a:latin typeface="Trade Gothic LT Pro" panose="020B0503040303020004" pitchFamily="34" charset="0"/>
              <a:ea typeface="Helvetica Neue" panose="02000503000000020004" pitchFamily="2" charset="0"/>
              <a:cs typeface="Helvetica Neue" panose="02000503000000020004" pitchFamily="2" charset="0"/>
            </a:endParaRPr>
          </a:p>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rPr>
              <a:t>Session Length: </a:t>
            </a:r>
            <a:r>
              <a:rPr lang="en-US" sz="1000" dirty="0">
                <a:solidFill>
                  <a:srgbClr val="000000"/>
                </a:solidFill>
                <a:latin typeface="Trade Gothic LT Pro" panose="020B0503040303020004" pitchFamily="34" charset="0"/>
              </a:rPr>
              <a:t>60+ min</a:t>
            </a:r>
            <a:r>
              <a:rPr kumimoji="0" lang="en-US" sz="1000" b="0" i="0" u="none" strike="noStrike" kern="1200" cap="none" spc="0" normalizeH="0" baseline="0" noProof="0" dirty="0">
                <a:ln>
                  <a:noFill/>
                </a:ln>
                <a:solidFill>
                  <a:srgbClr val="000000"/>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     </a:t>
            </a:r>
            <a:r>
              <a:rPr kumimoji="0" lang="en-US" sz="1000" b="1" i="0" u="none" strike="noStrike" kern="1200" cap="none" spc="0" normalizeH="0" baseline="0" noProof="0" dirty="0">
                <a:ln>
                  <a:noFill/>
                </a:ln>
                <a:solidFill>
                  <a:srgbClr val="00000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rPr>
              <a:t>Group Size: </a:t>
            </a:r>
            <a:r>
              <a:rPr kumimoji="0" lang="en-US" sz="1000" b="0" i="0" u="none" strike="noStrike" kern="1200" cap="none" spc="0" normalizeH="0" baseline="0" noProof="0" dirty="0">
                <a:ln>
                  <a:noFill/>
                </a:ln>
                <a:solidFill>
                  <a:srgbClr val="000000"/>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Individual or up to 8 people     </a:t>
            </a:r>
            <a:r>
              <a:rPr kumimoji="0" lang="en-US" sz="1000" b="1" i="0" u="none" strike="noStrike" kern="1200" cap="none" spc="0" normalizeH="0" baseline="0" noProof="0" dirty="0">
                <a:ln>
                  <a:noFill/>
                </a:ln>
                <a:solidFill>
                  <a:srgbClr val="00000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rPr>
              <a:t>Prep Time: </a:t>
            </a:r>
            <a:r>
              <a:rPr kumimoji="0" lang="en-US" sz="1000" b="0" i="0" u="none" strike="noStrike" kern="1200" cap="none" spc="0" normalizeH="0" baseline="0" noProof="0" dirty="0">
                <a:ln>
                  <a:noFill/>
                </a:ln>
                <a:solidFill>
                  <a:srgbClr val="000000"/>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10 min</a:t>
            </a:r>
            <a:endParaRPr kumimoji="0" lang="en-US" sz="1000" b="1" i="0" u="none" strike="noStrike" kern="1200" cap="none" spc="0" normalizeH="0" baseline="0" noProof="0" dirty="0">
              <a:ln>
                <a:noFill/>
              </a:ln>
              <a:solidFill>
                <a:srgbClr val="00000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00B0F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0F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rPr>
              <a:t>WHEN</a:t>
            </a:r>
          </a:p>
          <a:p>
            <a:pPr marL="0" marR="0" lvl="0" indent="0" algn="l" defTabSz="457200" rtl="0" eaLnBrk="1" fontAlgn="base" latinLnBrk="0" hangingPunct="1">
              <a:lnSpc>
                <a:spcPct val="100000"/>
              </a:lnSpc>
              <a:spcBef>
                <a:spcPts val="0"/>
              </a:spcBef>
              <a:spcAft>
                <a:spcPts val="388"/>
              </a:spcAft>
              <a:buClrTx/>
              <a:buSzTx/>
              <a:buFontTx/>
              <a:buNone/>
              <a:tabLst/>
              <a:defRPr/>
            </a:pPr>
            <a:r>
              <a:rPr kumimoji="0" lang="en-US" sz="85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Engaging with stakeholders falls into three general steps - figuring out who is in the space already (identification), figuring out which to engage (analysis), and figuring out how to best engage with them (engagement). This tool is best used in the analysis step, after you have identified a comprehensive and representative set of stakeholders. You can revisit this tool as the effort evolves, to ensure the right set of stakeholders are involved.</a:t>
            </a:r>
            <a:endParaRPr kumimoji="0" lang="en-US" sz="850" b="0" i="0" u="none" strike="noStrike" kern="1200" cap="none" spc="0" normalizeH="0" baseline="0" noProof="0" dirty="0">
              <a:ln>
                <a:noFill/>
              </a:ln>
              <a:solidFill>
                <a:srgbClr val="000000"/>
              </a:solidFill>
              <a:effectLst/>
              <a:uLnTx/>
              <a:uFillTx/>
              <a:latin typeface="Trade Gothic LT Pro" panose="020B0503040303020004" pitchFamily="34" charset="0"/>
              <a:ea typeface="Helvetica Neue" panose="02000503000000020004" pitchFamily="2" charset="0"/>
              <a:cs typeface="Helvetica Neue" panose="02000503000000020004" pitchFamily="2"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00B0F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0F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rPr>
              <a:t>WHY</a:t>
            </a:r>
          </a:p>
          <a:p>
            <a:pPr marL="0" marR="0" lvl="0" indent="0" algn="l" defTabSz="457200" rtl="0" eaLnBrk="1" fontAlgn="base" latinLnBrk="0" hangingPunct="1">
              <a:lnSpc>
                <a:spcPct val="100000"/>
              </a:lnSpc>
              <a:spcBef>
                <a:spcPts val="0"/>
              </a:spcBef>
              <a:spcAft>
                <a:spcPts val="777"/>
              </a:spcAft>
              <a:buClrTx/>
              <a:buSzTx/>
              <a:buFontTx/>
              <a:buNone/>
              <a:tabLst/>
              <a:defRPr/>
            </a:pPr>
            <a:r>
              <a:rPr kumimoji="0" lang="en-US" sz="85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Stakeholder engagement can be time-intensive, and this tool helps you quickly categorize and assess which ones to engage based on power and impact.</a:t>
            </a:r>
          </a:p>
          <a:p>
            <a:pPr marL="0" marR="0" lvl="0" indent="0" algn="l" defTabSz="457200" rtl="0" eaLnBrk="1" fontAlgn="base" latinLnBrk="0" hangingPunct="1">
              <a:lnSpc>
                <a:spcPct val="100000"/>
              </a:lnSpc>
              <a:spcBef>
                <a:spcPts val="0"/>
              </a:spcBef>
              <a:spcAft>
                <a:spcPts val="777"/>
              </a:spcAft>
              <a:buClrTx/>
              <a:buSzTx/>
              <a:buFontTx/>
              <a:buNone/>
              <a:tabLst/>
              <a:defRPr/>
            </a:pPr>
            <a:r>
              <a:rPr kumimoji="0" lang="en-US" sz="85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Another goal of this tool is to highlight impacted stakeholders and to ideate on how to elevate their roles on the effort. Oftentimes, collaborating with and deferring to those that are impacted will result in their </a:t>
            </a:r>
            <a:r>
              <a:rPr lang="en-US" sz="850" dirty="0">
                <a:solidFill>
                  <a:srgbClr val="000000"/>
                </a:solidFill>
                <a:latin typeface="Trade Gothic LT Pro" panose="020B0503040303020004" pitchFamily="34" charset="0"/>
              </a:rPr>
              <a:t>endorsement of the effort and better </a:t>
            </a:r>
            <a:r>
              <a:rPr kumimoji="0" lang="en-US" sz="85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outcomes for all.</a:t>
            </a:r>
            <a:endParaRPr kumimoji="0" lang="en-US" sz="850" b="1" i="0" u="none" strike="noStrike" kern="1200" cap="none" spc="0" normalizeH="0" baseline="0" noProof="0" dirty="0">
              <a:ln>
                <a:noFill/>
              </a:ln>
              <a:solidFill>
                <a:srgbClr val="00B0F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endParaRPr>
          </a:p>
          <a:p>
            <a:pPr marL="0" marR="0" lvl="0" indent="0" algn="l" defTabSz="457200" rtl="0" eaLnBrk="1" fontAlgn="base"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srgbClr val="00B0F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endParaRPr>
          </a:p>
          <a:p>
            <a:pPr marL="0" marR="0" lvl="0" indent="0" algn="l" defTabSz="457200" rtl="0" eaLnBrk="1" fontAlgn="base"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0F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rPr>
              <a:t>HOW</a:t>
            </a:r>
            <a:endParaRPr kumimoji="0" lang="en-US" sz="10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Trade Gothic LT Pro Bold" panose="020B0503040303020004"/>
                <a:ea typeface="+mn-ea"/>
                <a:cs typeface="+mn-cs"/>
              </a:rPr>
              <a:t>PREP STEP: Begin by listing all stakeholders on the left side of the canvas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FFFFFF">
                    <a:lumMod val="50000"/>
                  </a:srgbClr>
                </a:solidFill>
                <a:effectLst/>
                <a:uLnTx/>
                <a:uFillTx/>
                <a:latin typeface="Trade Gothic LT Pro" panose="020B0503040303020004"/>
                <a:ea typeface="+mn-ea"/>
                <a:cs typeface="+mn-cs"/>
              </a:rPr>
              <a:t>If you haven’t created this list yet, consider starting with the ITK Stakeholder Identification Canvas.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50" b="1" i="0" u="none" strike="noStrike" kern="1200" cap="none" spc="0" normalizeH="0" baseline="0" noProof="0" dirty="0">
              <a:ln>
                <a:noFill/>
              </a:ln>
              <a:solidFill>
                <a:srgbClr val="000000"/>
              </a:solidFill>
              <a:effectLst/>
              <a:uLnTx/>
              <a:uFillTx/>
              <a:latin typeface="Trade Gothic LT Pro Bold" panose="020B0503040303020004"/>
              <a:ea typeface="+mn-ea"/>
              <a:cs typeface="+mn-cs"/>
            </a:endParaRPr>
          </a:p>
          <a:p>
            <a:pPr marL="0" marR="0" lvl="0" indent="0" algn="l" defTabSz="457200" rtl="0" eaLnBrk="1" fontAlgn="auto" latinLnBrk="0" hangingPunct="1">
              <a:lnSpc>
                <a:spcPct val="100000"/>
              </a:lnSpc>
              <a:spcBef>
                <a:spcPts val="0"/>
              </a:spcBef>
              <a:spcAft>
                <a:spcPts val="388"/>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Trade Gothic LT Pro Bold" panose="020B0503040303020004"/>
                <a:ea typeface="+mn-ea"/>
                <a:cs typeface="+mn-cs"/>
              </a:rPr>
              <a:t>STEP 1: Categorize whether each stakeholder is impacted by the effort </a:t>
            </a:r>
            <a:r>
              <a:rPr kumimoji="0" lang="en-US" sz="850" i="0" u="none" strike="noStrike" kern="1200" cap="none" spc="0" normalizeH="0" baseline="0" noProof="0" dirty="0">
                <a:ln>
                  <a:noFill/>
                </a:ln>
                <a:solidFill>
                  <a:srgbClr val="000000"/>
                </a:solidFill>
                <a:effectLst/>
                <a:uLnTx/>
                <a:uFillTx/>
                <a:latin typeface="Trade Gothic LT Pro Bold" panose="020B0503040303020004"/>
                <a:ea typeface="+mn-ea"/>
                <a:cs typeface="+mn-cs"/>
              </a:rPr>
              <a:t>(the y-axis). </a:t>
            </a:r>
            <a:r>
              <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rPr>
              <a:t>For steps 1 &amp; 2, don’t worry about ranking or quantifying within each quadrant.</a:t>
            </a:r>
          </a:p>
          <a:p>
            <a:pPr marL="0" marR="0" lvl="0" indent="0" algn="l" defTabSz="457200" rtl="0" eaLnBrk="1" fontAlgn="auto" latinLnBrk="0" hangingPunct="1">
              <a:lnSpc>
                <a:spcPct val="100000"/>
              </a:lnSpc>
              <a:spcBef>
                <a:spcPts val="0"/>
              </a:spcBef>
              <a:spcAft>
                <a:spcPts val="388"/>
              </a:spcAft>
              <a:buClrTx/>
              <a:buSzTx/>
              <a:buFontTx/>
              <a:buNone/>
              <a:tabLst/>
              <a:defRPr/>
            </a:pPr>
            <a:r>
              <a:rPr kumimoji="0" lang="en-US" sz="850" b="0" i="1" u="none" strike="noStrike" kern="1200" cap="none" spc="0" normalizeH="0" baseline="0" noProof="0" dirty="0">
                <a:ln>
                  <a:noFill/>
                </a:ln>
                <a:solidFill>
                  <a:srgbClr val="FFFFFF">
                    <a:lumMod val="50000"/>
                  </a:srgbClr>
                </a:solidFill>
                <a:effectLst/>
                <a:uLnTx/>
                <a:uFillTx/>
                <a:latin typeface="Trade Gothic LT Pro" panose="020B0503040303020004"/>
                <a:ea typeface="+mn-ea"/>
                <a:cs typeface="+mn-cs"/>
              </a:rPr>
              <a:t>Consider impact such as financial, professional, health, communal or social opportunities, access, experience, etc. </a:t>
            </a:r>
          </a:p>
          <a:p>
            <a:pPr marL="0" marR="0" lvl="0" indent="0" algn="l" defTabSz="457200" rtl="0" eaLnBrk="1" fontAlgn="auto" latinLnBrk="0" hangingPunct="1">
              <a:lnSpc>
                <a:spcPct val="100000"/>
              </a:lnSpc>
              <a:spcBef>
                <a:spcPts val="0"/>
              </a:spcBef>
              <a:spcAft>
                <a:spcPts val="388"/>
              </a:spcAft>
              <a:buClrTx/>
              <a:buSzTx/>
              <a:buFontTx/>
              <a:buNone/>
              <a:tabLst/>
              <a:defRPr/>
            </a:pPr>
            <a:r>
              <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rPr>
              <a:t>For each stakeholder, ask: Will this stakeholder be significantly affected by the effort? Does the effort provide a significant opportunity, benefit, or gain to this stakeholder? Does the effort impose a significant burden or harm to this stakeholder?</a:t>
            </a:r>
          </a:p>
          <a:p>
            <a:pPr marL="171450" marR="0" lvl="0" indent="-171450" algn="l" defTabSz="457200" rtl="0" eaLnBrk="1" fontAlgn="auto" latinLnBrk="0" hangingPunct="1">
              <a:lnSpc>
                <a:spcPct val="100000"/>
              </a:lnSpc>
              <a:spcBef>
                <a:spcPts val="0"/>
              </a:spcBef>
              <a:spcAft>
                <a:spcPts val="388"/>
              </a:spcAft>
              <a:buClrTx/>
              <a:buSzTx/>
              <a:buFont typeface="Arial" panose="020B0604020202020204" pitchFamily="34" charset="0"/>
              <a:buChar char="•"/>
              <a:tabLst/>
              <a:defRPr/>
            </a:pPr>
            <a:r>
              <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rPr>
              <a:t>If you answered yes to </a:t>
            </a:r>
            <a:r>
              <a:rPr kumimoji="0" lang="en-US" sz="850" b="0" i="1" u="none" strike="noStrike" kern="1200" cap="none" spc="0" normalizeH="0" baseline="0" noProof="0" dirty="0">
                <a:ln>
                  <a:noFill/>
                </a:ln>
                <a:solidFill>
                  <a:srgbClr val="000000"/>
                </a:solidFill>
                <a:effectLst/>
                <a:uLnTx/>
                <a:uFillTx/>
                <a:latin typeface="Trade Gothic LT Pro" panose="020B0503040303020004"/>
                <a:ea typeface="+mn-ea"/>
                <a:cs typeface="+mn-cs"/>
              </a:rPr>
              <a:t>any </a:t>
            </a:r>
            <a:r>
              <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rPr>
              <a:t>question, put that stakeholder in quadrant 1 (Q1).</a:t>
            </a:r>
          </a:p>
          <a:p>
            <a:pPr marL="171450" marR="0" lvl="0" indent="-171450" algn="l" defTabSz="457200" rtl="0" eaLnBrk="1" fontAlgn="auto" latinLnBrk="0" hangingPunct="1">
              <a:lnSpc>
                <a:spcPct val="100000"/>
              </a:lnSpc>
              <a:spcBef>
                <a:spcPts val="0"/>
              </a:spcBef>
              <a:spcAft>
                <a:spcPts val="388"/>
              </a:spcAft>
              <a:buClrTx/>
              <a:buSzTx/>
              <a:buFont typeface="Arial" panose="020B0604020202020204" pitchFamily="34" charset="0"/>
              <a:buChar char="•"/>
              <a:tabLst/>
              <a:defRPr/>
            </a:pPr>
            <a:r>
              <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rPr>
              <a:t>If you answered no to </a:t>
            </a:r>
            <a:r>
              <a:rPr kumimoji="0" lang="en-US" sz="850" b="0" i="1" u="none" strike="noStrike" kern="1200" cap="none" spc="0" normalizeH="0" baseline="0" noProof="0" dirty="0">
                <a:ln>
                  <a:noFill/>
                </a:ln>
                <a:solidFill>
                  <a:srgbClr val="000000"/>
                </a:solidFill>
                <a:effectLst/>
                <a:uLnTx/>
                <a:uFillTx/>
                <a:latin typeface="Trade Gothic LT Pro" panose="020B0503040303020004"/>
                <a:ea typeface="+mn-ea"/>
                <a:cs typeface="+mn-cs"/>
              </a:rPr>
              <a:t>every </a:t>
            </a:r>
            <a:r>
              <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rPr>
              <a:t>question, put that stakeholder in quadrant 3 (Q3).</a:t>
            </a:r>
          </a:p>
          <a:p>
            <a:pPr marL="0" marR="0" lvl="0" indent="0" algn="l" defTabSz="457200" rtl="0" eaLnBrk="1" fontAlgn="auto" latinLnBrk="0" hangingPunct="1">
              <a:lnSpc>
                <a:spcPct val="100000"/>
              </a:lnSpc>
              <a:spcBef>
                <a:spcPts val="0"/>
              </a:spcBef>
              <a:spcAft>
                <a:spcPts val="388"/>
              </a:spcAft>
              <a:buClrTx/>
              <a:buSzTx/>
              <a:buFontTx/>
              <a:buNone/>
              <a:tabLst/>
              <a:defRPr/>
            </a:pPr>
            <a:endPar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endParaRPr>
          </a:p>
          <a:p>
            <a:pPr marL="0" marR="0" lvl="0" indent="0" algn="l" defTabSz="457200" rtl="0" eaLnBrk="1" fontAlgn="auto" latinLnBrk="0" hangingPunct="1">
              <a:lnSpc>
                <a:spcPct val="100000"/>
              </a:lnSpc>
              <a:spcBef>
                <a:spcPts val="0"/>
              </a:spcBef>
              <a:spcAft>
                <a:spcPts val="388"/>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Trade Gothic LT Pro Bold" panose="020B0503040303020004"/>
                <a:ea typeface="+mn-ea"/>
                <a:cs typeface="+mn-cs"/>
              </a:rPr>
              <a:t>STEP 2: Categorize the amount of power</a:t>
            </a:r>
            <a:r>
              <a:rPr kumimoji="0" lang="en-US" sz="850" b="1" i="0" u="none" strike="noStrike" kern="1200" cap="none" spc="0" normalizeH="0" baseline="0" noProof="0" dirty="0">
                <a:ln>
                  <a:noFill/>
                </a:ln>
                <a:solidFill>
                  <a:schemeClr val="accent3"/>
                </a:solidFill>
                <a:effectLst/>
                <a:uLnTx/>
                <a:uFillTx/>
                <a:latin typeface="Trade Gothic LT Pro Bold" panose="020B0503040303020004"/>
                <a:ea typeface="+mn-ea"/>
                <a:cs typeface="+mn-cs"/>
              </a:rPr>
              <a:t> </a:t>
            </a:r>
            <a:r>
              <a:rPr lang="en-US" sz="850" b="1" dirty="0">
                <a:solidFill>
                  <a:srgbClr val="000000"/>
                </a:solidFill>
                <a:latin typeface="Trade Gothic LT Pro Bold" panose="020B0503040303020004"/>
              </a:rPr>
              <a:t>each stakeholder has over </a:t>
            </a:r>
            <a:r>
              <a:rPr kumimoji="0" lang="en-US" sz="850" b="1" i="0" u="none" strike="noStrike" kern="1200" cap="none" spc="0" normalizeH="0" baseline="0" noProof="0" dirty="0">
                <a:ln>
                  <a:noFill/>
                </a:ln>
                <a:solidFill>
                  <a:srgbClr val="000000"/>
                </a:solidFill>
                <a:effectLst/>
                <a:uLnTx/>
                <a:uFillTx/>
                <a:latin typeface="Trade Gothic LT Pro Bold" panose="020B0503040303020004"/>
                <a:ea typeface="+mn-ea"/>
                <a:cs typeface="+mn-cs"/>
              </a:rPr>
              <a:t>the effort (the x-axis). </a:t>
            </a:r>
          </a:p>
          <a:p>
            <a:pPr marL="0" marR="0" lvl="0" indent="0" algn="l" defTabSz="457200" rtl="0" eaLnBrk="1" fontAlgn="auto" latinLnBrk="0" hangingPunct="1">
              <a:lnSpc>
                <a:spcPct val="100000"/>
              </a:lnSpc>
              <a:spcBef>
                <a:spcPts val="0"/>
              </a:spcBef>
              <a:spcAft>
                <a:spcPts val="388"/>
              </a:spcAft>
              <a:buClrTx/>
              <a:buSzTx/>
              <a:buFontTx/>
              <a:buNone/>
              <a:tabLst/>
              <a:defRPr/>
            </a:pPr>
            <a:r>
              <a:rPr kumimoji="0" lang="en-US" sz="850" b="0" i="1" u="none" strike="noStrike" kern="1200" cap="none" spc="0" normalizeH="0" baseline="0" noProof="0" dirty="0">
                <a:ln>
                  <a:noFill/>
                </a:ln>
                <a:solidFill>
                  <a:srgbClr val="FFFFFF">
                    <a:lumMod val="50000"/>
                  </a:srgbClr>
                </a:solidFill>
                <a:effectLst/>
                <a:uLnTx/>
                <a:uFillTx/>
                <a:latin typeface="Trade Gothic LT Pro" panose="020B0503040303020004"/>
                <a:ea typeface="+mn-ea"/>
                <a:cs typeface="+mn-cs"/>
              </a:rPr>
              <a:t>Consider power in different forms, including having availability, resources, information, knowledge of how to navigate a process, and the real or perceived ability to influence others or outcomes.</a:t>
            </a:r>
            <a:r>
              <a:rPr kumimoji="0" lang="en-US" sz="850" b="0" i="0" u="none" strike="noStrike" kern="1200" cap="none" spc="0" normalizeH="0" baseline="0" noProof="0" dirty="0">
                <a:ln>
                  <a:noFill/>
                </a:ln>
                <a:solidFill>
                  <a:srgbClr val="FFFFFF">
                    <a:lumMod val="50000"/>
                  </a:srgbClr>
                </a:solidFill>
                <a:effectLst/>
                <a:uLnTx/>
                <a:uFillTx/>
                <a:latin typeface="Trade Gothic LT Pro" panose="020B0503040303020004"/>
                <a:ea typeface="+mn-ea"/>
                <a:cs typeface="+mn-cs"/>
              </a:rPr>
              <a:t> </a:t>
            </a:r>
          </a:p>
          <a:p>
            <a:pPr marL="0" marR="0" lvl="0" indent="0" algn="l" defTabSz="457200" rtl="0" eaLnBrk="1" fontAlgn="auto" latinLnBrk="0" hangingPunct="1">
              <a:lnSpc>
                <a:spcPct val="100000"/>
              </a:lnSpc>
              <a:spcBef>
                <a:spcPts val="0"/>
              </a:spcBef>
              <a:spcAft>
                <a:spcPts val="388"/>
              </a:spcAft>
              <a:buClrTx/>
              <a:buSzTx/>
              <a:buFontTx/>
              <a:buNone/>
              <a:tabLst/>
              <a:defRPr/>
            </a:pPr>
            <a:r>
              <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rPr>
              <a:t>For each stakeholder, ask: Can this individual or group significantly shape, regulate, or influence the effort and/or another stakeholder?</a:t>
            </a:r>
          </a:p>
          <a:p>
            <a:pPr marL="171450" marR="0" lvl="0" indent="-171450" algn="l" defTabSz="457200" rtl="0" eaLnBrk="1" fontAlgn="auto" latinLnBrk="0" hangingPunct="1">
              <a:lnSpc>
                <a:spcPct val="100000"/>
              </a:lnSpc>
              <a:spcBef>
                <a:spcPts val="0"/>
              </a:spcBef>
              <a:spcAft>
                <a:spcPts val="388"/>
              </a:spcAft>
              <a:buClrTx/>
              <a:buSzTx/>
              <a:buFont typeface="Arial" panose="020B0604020202020204" pitchFamily="34" charset="0"/>
              <a:buChar char="•"/>
              <a:tabLst/>
              <a:defRPr/>
            </a:pPr>
            <a:r>
              <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rPr>
              <a:t>If the answer to this question is yes, move that stakeholder to the quadrant on the right: </a:t>
            </a:r>
            <a:br>
              <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rPr>
            </a:br>
            <a:r>
              <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rPr>
              <a:t>From Q1 -&gt; Q2 or Q3 -&gt; Q4        </a:t>
            </a:r>
          </a:p>
          <a:p>
            <a:pPr marL="171450" marR="0" lvl="0" indent="-171450" algn="l" defTabSz="457200" rtl="0" eaLnBrk="1" fontAlgn="auto" latinLnBrk="0" hangingPunct="1">
              <a:lnSpc>
                <a:spcPct val="100000"/>
              </a:lnSpc>
              <a:spcBef>
                <a:spcPts val="0"/>
              </a:spcBef>
              <a:spcAft>
                <a:spcPts val="388"/>
              </a:spcAft>
              <a:buClrTx/>
              <a:buSzTx/>
              <a:buFont typeface="Arial" panose="020B0604020202020204" pitchFamily="34" charset="0"/>
              <a:buChar char="•"/>
              <a:tabLst/>
              <a:defRPr/>
            </a:pPr>
            <a:endPar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endParaRPr>
          </a:p>
          <a:p>
            <a:pPr marL="0" marR="0" lvl="0" indent="0" algn="l" defTabSz="457200" rtl="0" eaLnBrk="1" fontAlgn="base" latinLnBrk="0" hangingPunct="1">
              <a:lnSpc>
                <a:spcPct val="100000"/>
              </a:lnSpc>
              <a:spcBef>
                <a:spcPts val="0"/>
              </a:spcBef>
              <a:spcAft>
                <a:spcPts val="388"/>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Trade Gothic LT Pro Bold" panose="020B0503040303020004"/>
                <a:ea typeface="+mn-ea"/>
                <a:cs typeface="+mn-cs"/>
              </a:rPr>
              <a:t>STEP 3: Reflect on the patterns that have emerged. </a:t>
            </a:r>
            <a:r>
              <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rPr>
              <a:t>Read the </a:t>
            </a:r>
            <a:r>
              <a:rPr lang="en-US" sz="850" dirty="0">
                <a:solidFill>
                  <a:srgbClr val="000000"/>
                </a:solidFill>
                <a:latin typeface="Trade Gothic LT Pro" panose="020B0503040303020004"/>
              </a:rPr>
              <a:t>quadrant descriptions to better </a:t>
            </a:r>
            <a:r>
              <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rPr>
              <a:t>contextualize the power categories. Then, move to the “Notice &amp; Reflect” section on the right side. You can answer the questions in any order.</a:t>
            </a:r>
          </a:p>
          <a:p>
            <a:pPr marL="0" marR="0" lvl="0" indent="0" algn="l" defTabSz="457200" rtl="0" eaLnBrk="1" fontAlgn="base" latinLnBrk="0" hangingPunct="1">
              <a:lnSpc>
                <a:spcPct val="100000"/>
              </a:lnSpc>
              <a:spcBef>
                <a:spcPts val="0"/>
              </a:spcBef>
              <a:spcAft>
                <a:spcPts val="388"/>
              </a:spcAft>
              <a:buClrTx/>
              <a:buSzTx/>
              <a:buFontTx/>
              <a:buNone/>
              <a:tabLst/>
              <a:defRPr/>
            </a:pPr>
            <a:endPar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endParaRPr>
          </a:p>
          <a:p>
            <a:pPr marL="0" marR="0" lvl="0" indent="0" algn="l" defTabSz="457200" rtl="0" eaLnBrk="1" fontAlgn="base" latinLnBrk="0" hangingPunct="1">
              <a:lnSpc>
                <a:spcPct val="100000"/>
              </a:lnSpc>
              <a:spcBef>
                <a:spcPts val="0"/>
              </a:spcBef>
              <a:spcAft>
                <a:spcPts val="388"/>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Trade Gothic LT Pro Bold" panose="020B0503040303020004"/>
                <a:ea typeface="+mn-ea"/>
                <a:cs typeface="+mn-cs"/>
              </a:rPr>
              <a:t>STEP 4: Summarize the key takeaways and next steps in the “Assess” section at the bottom of the canvas.</a:t>
            </a:r>
            <a:endParaRPr kumimoji="0" lang="en-US" sz="850" b="0" i="0" u="none" strike="noStrike" kern="1200" cap="none" spc="0" normalizeH="0" baseline="0" noProof="0" dirty="0">
              <a:ln>
                <a:noFill/>
              </a:ln>
              <a:solidFill>
                <a:srgbClr val="000000"/>
              </a:solidFill>
              <a:effectLst/>
              <a:uLnTx/>
              <a:uFillTx/>
              <a:latin typeface="Trade Gothic LT Pro" panose="020B0503040303020004"/>
              <a:ea typeface="+mn-ea"/>
              <a:cs typeface="+mn-cs"/>
            </a:endParaRPr>
          </a:p>
          <a:p>
            <a:pPr marL="0" marR="0" lvl="0" indent="0" algn="l" defTabSz="457200" rtl="0" eaLnBrk="1" fontAlgn="base" latinLnBrk="0" hangingPunct="1">
              <a:lnSpc>
                <a:spcPct val="100000"/>
              </a:lnSpc>
              <a:spcBef>
                <a:spcPts val="0"/>
              </a:spcBef>
              <a:spcAft>
                <a:spcPts val="388"/>
              </a:spcAft>
              <a:buClrTx/>
              <a:buSzTx/>
              <a:buFontTx/>
              <a:buNone/>
              <a:tabLst/>
              <a:defRPr/>
            </a:pPr>
            <a:endParaRPr kumimoji="0" lang="en-US" sz="85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endParaRPr>
          </a:p>
          <a:p>
            <a:pPr marL="0" marR="0" lvl="0" indent="0" algn="l" defTabSz="457200" rtl="0" eaLnBrk="1" fontAlgn="base" latinLnBrk="0" hangingPunct="1">
              <a:lnSpc>
                <a:spcPct val="100000"/>
              </a:lnSpc>
              <a:spcBef>
                <a:spcPts val="0"/>
              </a:spcBef>
              <a:spcAft>
                <a:spcPts val="388"/>
              </a:spcAft>
              <a:buClrTx/>
              <a:buSzTx/>
              <a:buFontTx/>
              <a:buNone/>
              <a:tabLst/>
              <a:defRPr/>
            </a:pPr>
            <a:endParaRPr kumimoji="0" lang="en-US" sz="850" b="0" i="0" u="none" strike="noStrike" kern="1200" cap="none" spc="0" normalizeH="0" baseline="0" noProof="0" dirty="0">
              <a:ln>
                <a:noFill/>
              </a:ln>
              <a:solidFill>
                <a:srgbClr val="000000"/>
              </a:solidFill>
              <a:effectLst/>
              <a:uLnTx/>
              <a:uFillTx/>
              <a:latin typeface="Trade Gothic LT Pro" panose="020B0503040303020004" pitchFamily="34" charset="0"/>
              <a:ea typeface="Helvetica Neue" panose="02000503000000020004" pitchFamily="2" charset="0"/>
              <a:cs typeface="Helvetica Neue" panose="02000503000000020004" pitchFamily="2" charset="0"/>
            </a:endParaRPr>
          </a:p>
        </p:txBody>
      </p:sp>
      <p:sp>
        <p:nvSpPr>
          <p:cNvPr id="9" name="TextBox 8">
            <a:extLst>
              <a:ext uri="{FF2B5EF4-FFF2-40B4-BE49-F238E27FC236}">
                <a16:creationId xmlns:a16="http://schemas.microsoft.com/office/drawing/2014/main" id="{9609E5D9-0699-0341-8F73-7C8218C4612A}"/>
              </a:ext>
            </a:extLst>
          </p:cNvPr>
          <p:cNvSpPr txBox="1"/>
          <p:nvPr/>
        </p:nvSpPr>
        <p:spPr>
          <a:xfrm>
            <a:off x="5383257" y="510900"/>
            <a:ext cx="4527201" cy="6963788"/>
          </a:xfrm>
          <a:prstGeom prst="rect">
            <a:avLst/>
          </a:prstGeom>
          <a:solidFill>
            <a:schemeClr val="tx2">
              <a:lumMod val="10000"/>
              <a:lumOff val="90000"/>
            </a:schemeClr>
          </a:solidFill>
        </p:spPr>
        <p:txBody>
          <a:bodyPr wrap="square" rtlCol="0">
            <a:noAutofit/>
          </a:bodyPr>
          <a:lstStyle/>
          <a:p>
            <a:pPr marL="0" marR="0" lvl="0" indent="0" algn="l" defTabSz="295854" rtl="0" eaLnBrk="1" fontAlgn="auto" latinLnBrk="0" hangingPunct="1">
              <a:lnSpc>
                <a:spcPct val="100000"/>
              </a:lnSpc>
              <a:spcBef>
                <a:spcPts val="0"/>
              </a:spcBef>
              <a:spcAft>
                <a:spcPts val="388"/>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rPr>
              <a:t>DEFINITIONS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Trade Gothic LT Pro" panose="020B0503040303020004"/>
                <a:ea typeface="+mn-ea"/>
                <a:cs typeface="+mn-cs"/>
              </a:rPr>
              <a:t>For this activity, </a:t>
            </a:r>
            <a:r>
              <a:rPr kumimoji="0" lang="en-US" sz="900" b="0" i="1" u="none" strike="noStrike" kern="1200" cap="none" spc="0" normalizeH="0" baseline="0" noProof="0" dirty="0">
                <a:ln>
                  <a:noFill/>
                </a:ln>
                <a:solidFill>
                  <a:srgbClr val="18A7D7"/>
                </a:solidFill>
                <a:effectLst/>
                <a:uLnTx/>
                <a:uFillTx/>
                <a:latin typeface="Trade Gothic LT Pro" panose="020B0503040303020004"/>
                <a:ea typeface="+mn-ea"/>
                <a:cs typeface="+mn-cs"/>
              </a:rPr>
              <a:t>power </a:t>
            </a:r>
            <a:r>
              <a:rPr kumimoji="0" lang="en-US" sz="900" b="0" i="0" u="none" strike="noStrike" kern="1200" cap="none" spc="0" normalizeH="0" baseline="0" noProof="0" dirty="0">
                <a:ln>
                  <a:noFill/>
                </a:ln>
                <a:solidFill>
                  <a:srgbClr val="000000"/>
                </a:solidFill>
                <a:effectLst/>
                <a:uLnTx/>
                <a:uFillTx/>
                <a:latin typeface="Trade Gothic LT Pro" panose="020B0503040303020004"/>
                <a:ea typeface="+mn-ea"/>
                <a:cs typeface="+mn-cs"/>
              </a:rPr>
              <a:t>refers to the ability to influence or control the behavior of people. Power comes in many forms: individuals have power, history has power, systems and the status quo have power, laws and norms have power, ideas and values have power, money has power, etc. This </a:t>
            </a:r>
            <a:r>
              <a:rPr kumimoji="0" lang="en-US" sz="900" b="0" i="1" u="none" strike="noStrike" kern="1200" cap="none" spc="0" normalizeH="0" baseline="0" noProof="0" dirty="0">
                <a:ln>
                  <a:noFill/>
                </a:ln>
                <a:solidFill>
                  <a:srgbClr val="18A7D7"/>
                </a:solidFill>
                <a:effectLst/>
                <a:uLnTx/>
                <a:uFillTx/>
                <a:latin typeface="Trade Gothic LT Pro" panose="020B0503040303020004"/>
                <a:ea typeface="+mn-ea"/>
                <a:cs typeface="+mn-cs"/>
              </a:rPr>
              <a:t>power categories</a:t>
            </a:r>
            <a:r>
              <a:rPr kumimoji="0" lang="en-US" sz="900" b="0" i="1" u="none" strike="noStrike" kern="1200" cap="none" spc="0" normalizeH="0" baseline="0" noProof="0" dirty="0">
                <a:ln>
                  <a:noFill/>
                </a:ln>
                <a:solidFill>
                  <a:srgbClr val="000000"/>
                </a:solidFill>
                <a:effectLst/>
                <a:uLnTx/>
                <a:uFillTx/>
                <a:latin typeface="Trade Gothic LT Pro" panose="020B0503040303020004"/>
                <a:ea typeface="+mn-ea"/>
                <a:cs typeface="+mn-cs"/>
              </a:rPr>
              <a:t> </a:t>
            </a:r>
            <a:r>
              <a:rPr kumimoji="0" lang="en-US" sz="900" b="0" i="0" u="none" strike="noStrike" kern="1200" cap="none" spc="0" normalizeH="0" baseline="0" noProof="0" dirty="0">
                <a:ln>
                  <a:noFill/>
                </a:ln>
                <a:solidFill>
                  <a:srgbClr val="000000"/>
                </a:solidFill>
                <a:effectLst/>
                <a:uLnTx/>
                <a:uFillTx/>
                <a:latin typeface="Trade Gothic LT Pro" panose="020B0503040303020004"/>
                <a:ea typeface="+mn-ea"/>
                <a:cs typeface="+mn-cs"/>
              </a:rPr>
              <a:t>tool asks you to categorize how one person or organization might benefit at the expense of another.</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en-US" sz="900" b="0" i="0" u="none" strike="noStrike" kern="1200" cap="none" spc="0" normalizeH="0" baseline="0" noProof="0" dirty="0">
                <a:ln>
                  <a:noFill/>
                </a:ln>
                <a:solidFill>
                  <a:srgbClr val="000000"/>
                </a:solidFill>
                <a:effectLst/>
                <a:uLnTx/>
                <a:uFillTx/>
                <a:latin typeface="Trade Gothic LT Pro" panose="020B0503040303020004"/>
                <a:ea typeface="+mn-ea"/>
                <a:cs typeface="+mn-cs"/>
              </a:rPr>
            </a:br>
            <a:r>
              <a:rPr kumimoji="0" lang="en-US" sz="900" b="0" i="1" u="none" strike="noStrike" kern="1200" cap="none" spc="0" normalizeH="0" baseline="0" noProof="0" dirty="0">
                <a:ln>
                  <a:noFill/>
                </a:ln>
                <a:solidFill>
                  <a:srgbClr val="18A7D7"/>
                </a:solidFill>
                <a:effectLst/>
                <a:uLnTx/>
                <a:uFillTx/>
                <a:latin typeface="Trade Gothic LT Pro" panose="020B0503040303020004"/>
                <a:ea typeface="+mn-ea"/>
                <a:cs typeface="+mn-cs"/>
              </a:rPr>
              <a:t>Stakeholders </a:t>
            </a:r>
            <a:r>
              <a:rPr kumimoji="0" lang="en-US" sz="900" b="0" i="0" u="none" strike="noStrike" kern="1200" cap="none" spc="0" normalizeH="0" baseline="0" noProof="0" dirty="0">
                <a:ln>
                  <a:noFill/>
                </a:ln>
                <a:solidFill>
                  <a:srgbClr val="000000"/>
                </a:solidFill>
                <a:effectLst/>
                <a:uLnTx/>
                <a:uFillTx/>
                <a:latin typeface="Trade Gothic LT Pro" panose="020B0503040303020004"/>
                <a:ea typeface="+mn-ea"/>
                <a:cs typeface="+mn-cs"/>
              </a:rPr>
              <a:t>are the individuals, organizations, or groups who are involved with, can influence, or will be impacted by the effort. </a:t>
            </a:r>
            <a:r>
              <a:rPr kumimoji="0" lang="en-US" sz="900" b="0" i="1" u="none" strike="noStrike" kern="1200" cap="none" spc="0" normalizeH="0" baseline="0" noProof="0" dirty="0">
                <a:ln>
                  <a:noFill/>
                </a:ln>
                <a:solidFill>
                  <a:srgbClr val="18A7D7"/>
                </a:solidFill>
                <a:effectLst/>
                <a:uLnTx/>
                <a:uFillTx/>
                <a:latin typeface="Trade Gothic LT Pro" panose="020B0503040303020004"/>
                <a:ea typeface="+mn-ea"/>
                <a:cs typeface="+mn-cs"/>
              </a:rPr>
              <a:t>Lived experience</a:t>
            </a:r>
            <a:r>
              <a:rPr kumimoji="0" lang="en-US" sz="900" b="0" i="0" u="none" strike="noStrike" kern="1200" cap="none" spc="0" normalizeH="0" baseline="0" noProof="0" dirty="0">
                <a:ln>
                  <a:noFill/>
                </a:ln>
                <a:solidFill>
                  <a:srgbClr val="000000"/>
                </a:solidFill>
                <a:effectLst/>
                <a:uLnTx/>
                <a:uFillTx/>
                <a:latin typeface="Trade Gothic LT Pro" panose="020B0503040303020004"/>
                <a:ea typeface="+mn-ea"/>
                <a:cs typeface="+mn-cs"/>
              </a:rPr>
              <a:t> means having personal knowledge or first-hand experience of the problem. </a:t>
            </a:r>
            <a:r>
              <a:rPr kumimoji="0" lang="en-US" sz="900" b="0" i="1" u="none" strike="noStrike" kern="1200" cap="none" spc="0" normalizeH="0" baseline="0" noProof="0" dirty="0">
                <a:ln>
                  <a:noFill/>
                </a:ln>
                <a:solidFill>
                  <a:srgbClr val="18A7D7"/>
                </a:solidFill>
                <a:effectLst/>
                <a:uLnTx/>
                <a:uFillTx/>
                <a:latin typeface="Trade Gothic LT Pro" panose="020B0503040303020004"/>
                <a:ea typeface="+mn-ea"/>
                <a:cs typeface="+mn-cs"/>
              </a:rPr>
              <a:t>Community partners</a:t>
            </a:r>
            <a:r>
              <a:rPr kumimoji="0" lang="en-US" sz="900" b="0" i="1" u="none" strike="noStrike" kern="1200" cap="none" spc="0" normalizeH="0" baseline="0" noProof="0" dirty="0">
                <a:ln>
                  <a:noFill/>
                </a:ln>
                <a:solidFill>
                  <a:srgbClr val="000000"/>
                </a:solidFill>
                <a:effectLst/>
                <a:uLnTx/>
                <a:uFillTx/>
                <a:latin typeface="Trade Gothic LT Pro" panose="020B0503040303020004"/>
                <a:ea typeface="+mn-ea"/>
                <a:cs typeface="+mn-cs"/>
              </a:rPr>
              <a:t> </a:t>
            </a:r>
            <a:r>
              <a:rPr kumimoji="0" lang="en-US" sz="900" b="0" i="0" u="none" strike="noStrike" kern="1200" cap="none" spc="0" normalizeH="0" baseline="0" noProof="0" dirty="0">
                <a:ln>
                  <a:noFill/>
                </a:ln>
                <a:solidFill>
                  <a:srgbClr val="000000"/>
                </a:solidFill>
                <a:effectLst/>
                <a:uLnTx/>
                <a:uFillTx/>
                <a:latin typeface="Trade Gothic LT Pro" panose="020B0503040303020004"/>
                <a:ea typeface="+mn-ea"/>
                <a:cs typeface="+mn-cs"/>
              </a:rPr>
              <a:t>is sometimes the preferred term for stakeholders with lived experiences. </a:t>
            </a:r>
          </a:p>
          <a:p>
            <a:pPr marL="0" marR="0" lvl="0" indent="0" algn="l" defTabSz="29585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endParaRPr>
          </a:p>
          <a:p>
            <a:pPr marL="0" marR="0" lvl="0" indent="0" algn="l" defTabSz="295854"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rPr>
              <a:t>QUESTION BANK </a:t>
            </a:r>
            <a:r>
              <a:rPr kumimoji="0" lang="en-US" sz="900" b="0" i="1"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(to help guide the discussion)</a:t>
            </a:r>
          </a:p>
          <a:p>
            <a:pPr marL="221891" marR="0" lvl="1" indent="-221891" algn="l" defTabSz="457200" rtl="0" eaLnBrk="1" fontAlgn="auto" latinLnBrk="0" hangingPunct="1">
              <a:lnSpc>
                <a:spcPct val="100000"/>
              </a:lnSpc>
              <a:spcBef>
                <a:spcPts val="0"/>
              </a:spcBef>
              <a:spcAft>
                <a:spcPts val="388"/>
              </a:spcAft>
              <a:buClrTx/>
              <a:buSzTx/>
              <a:buFont typeface="+mj-lt"/>
              <a:buAutoNum type="arabicPeriod"/>
              <a:tabLst/>
              <a:defRPr/>
            </a:pPr>
            <a:r>
              <a:rPr kumimoji="0" lang="en-US" sz="900" b="0" i="0"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Is everyone who is impacted included in our list of stakeholders? </a:t>
            </a:r>
          </a:p>
          <a:p>
            <a:pPr marL="221891" marR="0" lvl="1" indent="-221891" algn="l" defTabSz="457200" rtl="0" eaLnBrk="1" fontAlgn="auto" latinLnBrk="0" hangingPunct="1">
              <a:lnSpc>
                <a:spcPct val="100000"/>
              </a:lnSpc>
              <a:spcBef>
                <a:spcPts val="0"/>
              </a:spcBef>
              <a:spcAft>
                <a:spcPts val="388"/>
              </a:spcAft>
              <a:buClrTx/>
              <a:buSzTx/>
              <a:buFont typeface="+mj-lt"/>
              <a:buAutoNum type="arabicPeriod"/>
              <a:tabLst/>
              <a:defRPr/>
            </a:pPr>
            <a:r>
              <a:rPr kumimoji="0" lang="en-US" sz="900" b="0" i="0"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Whose perspective do we need in order to take informed action?</a:t>
            </a:r>
          </a:p>
          <a:p>
            <a:pPr marL="221891" marR="0" lvl="1" indent="-221891" algn="l" defTabSz="457200" rtl="0" eaLnBrk="1" fontAlgn="auto" latinLnBrk="0" hangingPunct="1">
              <a:lnSpc>
                <a:spcPct val="100000"/>
              </a:lnSpc>
              <a:spcBef>
                <a:spcPts val="0"/>
              </a:spcBef>
              <a:spcAft>
                <a:spcPts val="388"/>
              </a:spcAft>
              <a:buClrTx/>
              <a:buSzTx/>
              <a:buFont typeface="+mj-lt"/>
              <a:buAutoNum type="arabicPeriod"/>
              <a:tabLst/>
              <a:defRPr/>
            </a:pPr>
            <a:r>
              <a:rPr kumimoji="0" lang="en-US" sz="900" b="0" i="0"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How might this stakeholder help us think differently?</a:t>
            </a:r>
          </a:p>
          <a:p>
            <a:pPr marL="221891" marR="0" lvl="1" indent="-221891" algn="l" defTabSz="457200" rtl="0" eaLnBrk="1" fontAlgn="auto" latinLnBrk="0" hangingPunct="1">
              <a:lnSpc>
                <a:spcPct val="100000"/>
              </a:lnSpc>
              <a:spcBef>
                <a:spcPts val="0"/>
              </a:spcBef>
              <a:spcAft>
                <a:spcPts val="388"/>
              </a:spcAft>
              <a:buClrTx/>
              <a:buSzTx/>
              <a:buFont typeface="+mj-lt"/>
              <a:buAutoNum type="arabicPeriod"/>
              <a:tabLst/>
              <a:defRPr/>
            </a:pPr>
            <a:r>
              <a:rPr kumimoji="0" lang="en-US" sz="900" b="0" i="0"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What key connections does this stakeholder create for the effort?</a:t>
            </a:r>
          </a:p>
          <a:p>
            <a:pPr marL="221891" marR="0" lvl="1" indent="-221891" algn="l" defTabSz="457200" rtl="0" eaLnBrk="1" fontAlgn="auto" latinLnBrk="0" hangingPunct="1">
              <a:lnSpc>
                <a:spcPct val="100000"/>
              </a:lnSpc>
              <a:spcBef>
                <a:spcPts val="0"/>
              </a:spcBef>
              <a:spcAft>
                <a:spcPts val="388"/>
              </a:spcAft>
              <a:buClrTx/>
              <a:buSzTx/>
              <a:buFont typeface="+mj-lt"/>
              <a:buAutoNum type="arabicPeriod"/>
              <a:tabLst/>
              <a:defRPr/>
            </a:pPr>
            <a:r>
              <a:rPr kumimoji="0" lang="en-US" sz="900" b="0" i="0"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Can the stakeholder convene others? (a form of influence)</a:t>
            </a:r>
          </a:p>
          <a:p>
            <a:pPr marL="221891" marR="0" lvl="1" indent="-221891" algn="l" defTabSz="457200" rtl="0" eaLnBrk="1" fontAlgn="auto" latinLnBrk="0" hangingPunct="1">
              <a:lnSpc>
                <a:spcPct val="100000"/>
              </a:lnSpc>
              <a:spcBef>
                <a:spcPts val="0"/>
              </a:spcBef>
              <a:spcAft>
                <a:spcPts val="388"/>
              </a:spcAft>
              <a:buClrTx/>
              <a:buSzTx/>
              <a:buFont typeface="+mj-lt"/>
              <a:buAutoNum type="arabicPeriod"/>
              <a:tabLst/>
              <a:defRPr/>
            </a:pPr>
            <a:r>
              <a:rPr kumimoji="0" lang="en-US" sz="900" b="0" i="0"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What are the goals of each stakeholder?</a:t>
            </a:r>
          </a:p>
          <a:p>
            <a:pPr marL="221891" marR="0" lvl="1" indent="-221891" algn="l" defTabSz="457200" rtl="0" eaLnBrk="1" fontAlgn="auto" latinLnBrk="0" hangingPunct="1">
              <a:lnSpc>
                <a:spcPct val="100000"/>
              </a:lnSpc>
              <a:spcBef>
                <a:spcPts val="0"/>
              </a:spcBef>
              <a:spcAft>
                <a:spcPts val="388"/>
              </a:spcAft>
              <a:buClrTx/>
              <a:buSzTx/>
              <a:buFont typeface="+mj-lt"/>
              <a:buAutoNum type="arabicPeriod"/>
              <a:tabLst/>
              <a:defRPr/>
            </a:pPr>
            <a:r>
              <a:rPr kumimoji="0" lang="en-US" sz="900" b="0" i="0"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Who is already engaged in this space? Consider grassroots and community-based organizations.</a:t>
            </a:r>
          </a:p>
          <a:p>
            <a:pPr marL="221891" marR="0" lvl="1" indent="-221891" algn="l" defTabSz="457200" rtl="0" eaLnBrk="1" fontAlgn="auto" latinLnBrk="0" hangingPunct="1">
              <a:lnSpc>
                <a:spcPct val="100000"/>
              </a:lnSpc>
              <a:spcBef>
                <a:spcPts val="0"/>
              </a:spcBef>
              <a:spcAft>
                <a:spcPts val="388"/>
              </a:spcAft>
              <a:buClrTx/>
              <a:buSzTx/>
              <a:buFont typeface="+mj-lt"/>
              <a:buAutoNum type="arabicPeriod"/>
              <a:tabLst/>
              <a:defRPr/>
            </a:pPr>
            <a:r>
              <a:rPr kumimoji="0" lang="en-US" sz="900" b="0" i="0"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Who is already established in this space? Consider grassroots and community-based organizations.</a:t>
            </a:r>
          </a:p>
          <a:p>
            <a:pPr marL="221891" marR="0" lvl="1" indent="-221891" algn="l" defTabSz="457200" rtl="0" eaLnBrk="1" fontAlgn="auto" latinLnBrk="0" hangingPunct="1">
              <a:lnSpc>
                <a:spcPct val="100000"/>
              </a:lnSpc>
              <a:spcBef>
                <a:spcPts val="0"/>
              </a:spcBef>
              <a:spcAft>
                <a:spcPts val="388"/>
              </a:spcAft>
              <a:buClrTx/>
              <a:buSzTx/>
              <a:buFont typeface="+mj-lt"/>
              <a:buAutoNum type="arabicPeriod"/>
              <a:tabLst/>
              <a:defRPr/>
            </a:pPr>
            <a:r>
              <a:rPr kumimoji="0" lang="en-US" sz="900" b="0" i="0"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How might we better understand any historical harms that surround certain stakeholders/communities?</a:t>
            </a:r>
          </a:p>
          <a:p>
            <a:pPr marL="221891" marR="0" lvl="1" indent="-221891" algn="l" defTabSz="457200" rtl="0" eaLnBrk="1" fontAlgn="auto" latinLnBrk="0" hangingPunct="1">
              <a:lnSpc>
                <a:spcPct val="100000"/>
              </a:lnSpc>
              <a:spcBef>
                <a:spcPts val="0"/>
              </a:spcBef>
              <a:spcAft>
                <a:spcPts val="388"/>
              </a:spcAft>
              <a:buClrTx/>
              <a:buSzTx/>
              <a:buFont typeface="+mj-lt"/>
              <a:buAutoNum type="arabicPeriod"/>
              <a:tabLst/>
              <a:defRPr/>
            </a:pPr>
            <a:r>
              <a:rPr kumimoji="0" lang="en-US" sz="900" b="0" i="0"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Are there any quadrants that are over- or under-represented?</a:t>
            </a:r>
          </a:p>
          <a:p>
            <a:pPr marL="221891" marR="0" lvl="1" indent="-221891" algn="l" defTabSz="457200" rtl="0" eaLnBrk="1" fontAlgn="auto" latinLnBrk="0" hangingPunct="1">
              <a:lnSpc>
                <a:spcPct val="100000"/>
              </a:lnSpc>
              <a:spcBef>
                <a:spcPts val="0"/>
              </a:spcBef>
              <a:spcAft>
                <a:spcPts val="388"/>
              </a:spcAft>
              <a:buClrTx/>
              <a:buSzTx/>
              <a:buFont typeface="+mj-lt"/>
              <a:buAutoNum type="arabicPeriod"/>
              <a:tabLst/>
              <a:defRPr/>
            </a:pPr>
            <a:r>
              <a:rPr kumimoji="0" lang="en-US" sz="900" b="0" i="0"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If we imagine that our team moves on to another effort, how might we empower stakeholders to continue this work?</a:t>
            </a:r>
          </a:p>
          <a:p>
            <a:pPr marL="221891" marR="0" lvl="1" indent="-221891" algn="l" defTabSz="457200" rtl="0" eaLnBrk="1" fontAlgn="auto" latinLnBrk="0" hangingPunct="1">
              <a:lnSpc>
                <a:spcPct val="100000"/>
              </a:lnSpc>
              <a:spcBef>
                <a:spcPts val="0"/>
              </a:spcBef>
              <a:spcAft>
                <a:spcPts val="388"/>
              </a:spcAft>
              <a:buClrTx/>
              <a:buSzTx/>
              <a:buFont typeface="+mj-lt"/>
              <a:buAutoNum type="arabicPeriod"/>
              <a:tabLst/>
              <a:defRPr/>
            </a:pPr>
            <a:r>
              <a:rPr kumimoji="0" lang="en-US" sz="900" b="0" i="0" u="none" strike="noStrike" kern="1200" cap="none" spc="0" normalizeH="0" baseline="0" noProof="0" dirty="0">
                <a:ln>
                  <a:noFill/>
                </a:ln>
                <a:solidFill>
                  <a:prstClr val="black"/>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What is the team’s vision for local, community ownership over this effort?</a:t>
            </a:r>
          </a:p>
          <a:p>
            <a:pPr marL="0" marR="0" lvl="0" indent="0" algn="l" defTabSz="457200" rtl="0" eaLnBrk="1" fontAlgn="base" latinLnBrk="0" hangingPunct="1">
              <a:lnSpc>
                <a:spcPct val="100000"/>
              </a:lnSpc>
              <a:spcBef>
                <a:spcPts val="0"/>
              </a:spcBef>
              <a:spcAft>
                <a:spcPts val="388"/>
              </a:spcAft>
              <a:buClrTx/>
              <a:buSzTx/>
              <a:buFontTx/>
              <a:buNone/>
              <a:tabLst/>
              <a:defRPr/>
            </a:pPr>
            <a:endParaRPr kumimoji="0" lang="en-US" sz="900" b="1" i="0" u="none" strike="noStrike" kern="1200" cap="all" spc="0" normalizeH="0" baseline="0" noProof="0" dirty="0">
              <a:ln>
                <a:noFill/>
              </a:ln>
              <a:solidFill>
                <a:srgbClr val="00000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endParaRPr>
          </a:p>
          <a:p>
            <a:pPr marL="0" marR="0" lvl="0" indent="0" algn="l" defTabSz="457200" rtl="0" eaLnBrk="1" fontAlgn="base" latinLnBrk="0" hangingPunct="1">
              <a:lnSpc>
                <a:spcPct val="100000"/>
              </a:lnSpc>
              <a:spcBef>
                <a:spcPts val="0"/>
              </a:spcBef>
              <a:spcAft>
                <a:spcPts val="388"/>
              </a:spcAft>
              <a:buClrTx/>
              <a:buSzTx/>
              <a:buFontTx/>
              <a:buNone/>
              <a:tabLst/>
              <a:defRPr/>
            </a:pPr>
            <a:r>
              <a:rPr kumimoji="0" lang="en-US" sz="900" b="1" i="0" u="none" strike="noStrike" kern="1200" cap="all" spc="0" normalizeH="0" baseline="0" noProof="0" dirty="0">
                <a:ln>
                  <a:noFill/>
                </a:ln>
                <a:solidFill>
                  <a:srgbClr val="00000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rPr>
              <a:t>TIPS</a:t>
            </a:r>
          </a:p>
          <a:p>
            <a:pPr marL="171450" marR="0" lvl="0" indent="-171450" algn="l"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900" dirty="0">
                <a:solidFill>
                  <a:srgbClr val="000000"/>
                </a:solidFill>
                <a:latin typeface="Trade Gothic LT Pro" panose="020B0503040303020004" pitchFamily="34" charset="0"/>
              </a:rPr>
              <a:t>You may find it useful to go through all steps for a single stakeholder, then repeat all steps for each stakeholder.</a:t>
            </a:r>
          </a:p>
          <a:p>
            <a:pPr marL="171450" indent="-171450">
              <a:lnSpc>
                <a:spcPct val="120000"/>
              </a:lnSpc>
              <a:buFont typeface="Arial" panose="020B0604020202020204" pitchFamily="34" charset="0"/>
              <a:buChar char="•"/>
              <a:defRPr/>
            </a:pPr>
            <a:r>
              <a:rPr kumimoji="0" lang="en-US" sz="900" b="0" i="0" u="none" strike="noStrike" kern="1200" cap="none" spc="0" normalizeH="0" baseline="0" noProof="0" dirty="0">
                <a:ln>
                  <a:noFill/>
                </a:ln>
                <a:solidFill>
                  <a:srgbClr val="000000"/>
                </a:solidFill>
                <a:effectLst/>
                <a:uLnTx/>
                <a:uFillTx/>
                <a:latin typeface="Trade Gothic LT Pro" panose="020B0503040303020004" pitchFamily="34" charset="0"/>
                <a:ea typeface="Helvetica Neue" panose="02000503000000020004" pitchFamily="2" charset="0"/>
                <a:cs typeface="Helvetica Neue" panose="02000503000000020004" pitchFamily="2" charset="0"/>
              </a:rPr>
              <a:t>If </a:t>
            </a:r>
            <a:r>
              <a:rPr lang="en-US" sz="900" dirty="0">
                <a:solidFill>
                  <a:srgbClr val="000000"/>
                </a:solidFill>
                <a:latin typeface="Trade Gothic LT Pro" panose="020B0503040303020004" pitchFamily="34" charset="0"/>
              </a:rPr>
              <a:t>you need to better understand a particular stakeholder, consider working through the ITK </a:t>
            </a:r>
            <a:r>
              <a:rPr lang="en-US" sz="900" dirty="0" err="1">
                <a:solidFill>
                  <a:srgbClr val="000000"/>
                </a:solidFill>
                <a:latin typeface="Trade Gothic LT Pro" panose="020B0503040303020004" pitchFamily="34" charset="0"/>
              </a:rPr>
              <a:t>Quickstart</a:t>
            </a:r>
            <a:r>
              <a:rPr lang="en-US" sz="900" dirty="0">
                <a:solidFill>
                  <a:srgbClr val="000000"/>
                </a:solidFill>
                <a:latin typeface="Trade Gothic LT Pro" panose="020B0503040303020004" pitchFamily="34" charset="0"/>
              </a:rPr>
              <a:t> Stakeholder Engagement Canvas. </a:t>
            </a:r>
          </a:p>
          <a:p>
            <a:pPr marL="171450" indent="-171450">
              <a:lnSpc>
                <a:spcPct val="120000"/>
              </a:lnSpc>
              <a:buFont typeface="Arial" panose="020B0604020202020204" pitchFamily="34" charset="0"/>
              <a:buChar char="•"/>
              <a:defRPr/>
            </a:pPr>
            <a:r>
              <a:rPr lang="en-US" sz="900" dirty="0">
                <a:solidFill>
                  <a:srgbClr val="000000"/>
                </a:solidFill>
                <a:latin typeface="Trade Gothic LT Pro" panose="020B0503040303020004" pitchFamily="34" charset="0"/>
              </a:rPr>
              <a:t>Facilitator tip: If you have a large set of stakeholders, consider assigning a numbering or an alphabet schema to conserve space in the graph. E.g., on the graph, plot stakeholders as 1, 2, 3 or A, B, C, etc.</a:t>
            </a:r>
          </a:p>
          <a:p>
            <a:pPr marL="0" marR="0" lvl="0" indent="0" algn="l" defTabSz="457200" rtl="0" eaLnBrk="1" fontAlgn="auto" latinLnBrk="0" hangingPunct="1">
              <a:lnSpc>
                <a:spcPct val="12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Trade Gothic LT Pro" panose="020B0503040303020004" pitchFamily="34" charset="0"/>
              <a:ea typeface="Helvetica Neue" panose="02000503000000020004" pitchFamily="2" charset="0"/>
              <a:cs typeface="Helvetica Neue" panose="02000503000000020004" pitchFamily="2" charset="0"/>
            </a:endParaRPr>
          </a:p>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900" b="1" i="0" u="none" strike="noStrike" kern="1200" cap="all" spc="0" normalizeH="0" baseline="0" noProof="0" dirty="0">
                <a:ln>
                  <a:noFill/>
                </a:ln>
                <a:solidFill>
                  <a:srgbClr val="000000"/>
                </a:solidFill>
                <a:effectLst/>
                <a:uLnTx/>
                <a:uFillTx/>
                <a:latin typeface="Trade Gothic LT Pro Bold" panose="020B0503040303020004" pitchFamily="34" charset="0"/>
                <a:ea typeface="Helvetica Neue" panose="02000503000000020004" pitchFamily="2" charset="0"/>
                <a:cs typeface="Helvetica Neue" panose="02000503000000020004" pitchFamily="2" charset="0"/>
              </a:rPr>
              <a:t>BUILDING OFF THE WORK OF OTHERS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Power </a:t>
            </a:r>
            <a:r>
              <a:rPr kumimoji="0" lang="en-US" sz="400" b="0" i="0" u="none" strike="noStrike" kern="1200" cap="none" spc="0" normalizeH="0" baseline="0" noProof="0" dirty="0">
                <a:ln>
                  <a:noFill/>
                </a:ln>
                <a:solidFill>
                  <a:srgbClr val="000000"/>
                </a:solidFill>
                <a:effectLst/>
                <a:uLnTx/>
                <a:uFillTx/>
                <a:latin typeface="Trade Gothic LT Pro" panose="020B0503040303020004"/>
                <a:ea typeface="+mn-ea"/>
                <a:cs typeface="+mn-cs"/>
              </a:rPr>
              <a:t>analysis. </a:t>
            </a:r>
            <a:r>
              <a:rPr kumimoji="0" lang="en-US" sz="400" b="0" i="0" u="none" strike="noStrike" kern="1200" cap="none" spc="0" normalizeH="0" baseline="0" noProof="0" dirty="0">
                <a:ln>
                  <a:noFill/>
                </a:ln>
                <a:solidFill>
                  <a:srgbClr val="000000"/>
                </a:solidFill>
                <a:effectLst/>
                <a:uLnTx/>
                <a:uFillTx/>
                <a:latin typeface="Trade Gothic LT Pro" panose="020B0503040303020004"/>
                <a:ea typeface="+mn-ea"/>
                <a:cs typeface="+mn-cs"/>
                <a:hlinkClick r:id="rId2"/>
              </a:rPr>
              <a:t>https://www.portland.gov/sites/default/files/2020-02/equity-toolkit-decision-support-tool.pdf</a:t>
            </a:r>
            <a:r>
              <a:rPr kumimoji="0" lang="en-US" sz="400" b="0" i="0" u="none" strike="noStrike" kern="1200" cap="none" spc="0" normalizeH="0" baseline="0" noProof="0" dirty="0">
                <a:ln>
                  <a:noFill/>
                </a:ln>
                <a:solidFill>
                  <a:srgbClr val="000000"/>
                </a:solidFill>
                <a:effectLst/>
                <a:uLnTx/>
                <a:uFillTx/>
                <a:latin typeface="Trade Gothic LT Pro" panose="020B0503040303020004"/>
                <a:ea typeface="+mn-ea"/>
                <a:cs typeface="+mn-cs"/>
              </a:rPr>
              <a:t> Section </a:t>
            </a:r>
            <a:r>
              <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C</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Power analysis. </a:t>
            </a:r>
            <a:r>
              <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hlinkClick r:id="rId3"/>
              </a:rPr>
              <a:t>https://naseo.org/data/sites/1/documents/publications/13-0376_0549_000208-KOEWLER FINAL cover.pdf</a:t>
            </a:r>
            <a:r>
              <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Power </a:t>
            </a:r>
            <a:r>
              <a:rPr kumimoji="0" lang="en-US" sz="400" b="0" i="0" u="none" strike="noStrike" kern="1200" cap="none" spc="0" normalizeH="0" baseline="0" noProof="0" dirty="0">
                <a:ln>
                  <a:noFill/>
                </a:ln>
                <a:solidFill>
                  <a:srgbClr val="000000"/>
                </a:solidFill>
                <a:effectLst/>
                <a:uLnTx/>
                <a:uFillTx/>
                <a:latin typeface="Trade Gothic LT Pro" panose="020B0503040303020004"/>
                <a:ea typeface="+mn-ea"/>
                <a:cs typeface="+mn-cs"/>
              </a:rPr>
              <a:t>definition. </a:t>
            </a:r>
            <a:r>
              <a:rPr kumimoji="0" lang="en-US" sz="400" b="0" i="0" u="none" strike="noStrike" kern="1200" cap="none" spc="0" normalizeH="0" baseline="0" noProof="0" dirty="0">
                <a:ln>
                  <a:noFill/>
                </a:ln>
                <a:solidFill>
                  <a:srgbClr val="000000"/>
                </a:solidFill>
                <a:effectLst/>
                <a:uLnTx/>
                <a:uFillTx/>
                <a:latin typeface="Trade Gothic LT Pro" panose="020B0503040303020004"/>
                <a:ea typeface="+mn-ea"/>
                <a:cs typeface="+mn-cs"/>
                <a:hlinkClick r:id="rId4"/>
              </a:rPr>
              <a:t>http://www.nationalforum.com/Electronic Journal Volumes/Fuqua, Jr., Harold E. Leadership and the Effectives Use of Power.pdf</a:t>
            </a:r>
            <a:r>
              <a:rPr kumimoji="0" lang="en-US" sz="400" b="0" i="0" u="none" strike="noStrike" kern="1200" cap="none" spc="0" normalizeH="0" baseline="0" noProof="0" dirty="0">
                <a:ln>
                  <a:noFill/>
                </a:ln>
                <a:solidFill>
                  <a:srgbClr val="000000"/>
                </a:solidFill>
                <a:effectLst/>
                <a:uLnTx/>
                <a:uFillTx/>
                <a:latin typeface="Trade Gothic LT Pro" panose="020B0503040303020004"/>
                <a:ea typeface="+mn-ea"/>
                <a:cs typeface="+mn-cs"/>
              </a:rPr>
              <a:t> P. 1-2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Power definition. </a:t>
            </a:r>
            <a:r>
              <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hlinkClick r:id="rId5"/>
              </a:rPr>
              <a:t>https://www.gobeyonddiversity.com/single-post/2016-1-29-here-are-some-definitions-about-power-privilege-and-oppression</a:t>
            </a:r>
            <a:r>
              <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Lived experience definition. </a:t>
            </a:r>
            <a:r>
              <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hlinkClick r:id="rId6"/>
              </a:rPr>
              <a:t>http://systemschangeeducation.com/educational-innovations/valuing-lived-experience/</a:t>
            </a:r>
            <a:r>
              <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 See “Being a ‘Lived Experience Leader’“</a:t>
            </a:r>
          </a:p>
          <a:p>
            <a:pPr lvl="0">
              <a:defRPr/>
            </a:pPr>
            <a:r>
              <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rPr>
              <a:t>Engagement approaches. </a:t>
            </a:r>
            <a:r>
              <a:rPr lang="en-US" sz="400" dirty="0">
                <a:solidFill>
                  <a:srgbClr val="000000"/>
                </a:solidFill>
                <a:latin typeface="Trade Gothic LT Pro" panose="020B0503040303020004" pitchFamily="34" charset="0"/>
                <a:hlinkClick r:id="rId7"/>
              </a:rPr>
              <a:t>https://d3n8a8pro7vhmx.cloudfront.net/facilitatingpower/pages/53/attachments/original/1596746165/CE2O_SPECTRUM_2020.pdf?1596746165</a:t>
            </a:r>
            <a:endParaRPr lang="en-US" sz="400" dirty="0">
              <a:solidFill>
                <a:srgbClr val="000000"/>
              </a:solidFill>
              <a:latin typeface="Trade Gothic LT Pro" panose="020B0503040303020004" pitchFamily="34" charset="0"/>
            </a:endParaRPr>
          </a:p>
          <a:p>
            <a:pPr lvl="0">
              <a:defRPr/>
            </a:pPr>
            <a:endParaRPr kumimoji="0" lang="en-US" sz="400" b="0" i="0" u="none" strike="noStrike" kern="1200" cap="none" spc="0" normalizeH="0" baseline="0" noProof="0" dirty="0">
              <a:ln>
                <a:noFill/>
              </a:ln>
              <a:solidFill>
                <a:srgbClr val="000000"/>
              </a:solidFill>
              <a:effectLst/>
              <a:uLnTx/>
              <a:uFillTx/>
              <a:latin typeface="Trade Gothic LT Pro" panose="020B0503040303020004" pitchFamily="34" charset="0"/>
              <a:ea typeface="+mn-ea"/>
              <a:cs typeface="+mn-cs"/>
            </a:endParaRPr>
          </a:p>
        </p:txBody>
      </p:sp>
    </p:spTree>
    <p:extLst>
      <p:ext uri="{BB962C8B-B14F-4D97-AF65-F5344CB8AC3E}">
        <p14:creationId xmlns:p14="http://schemas.microsoft.com/office/powerpoint/2010/main" val="1089831931"/>
      </p:ext>
    </p:extLst>
  </p:cSld>
  <p:clrMapOvr>
    <a:masterClrMapping/>
  </p:clrMapOvr>
</p:sld>
</file>

<file path=ppt/theme/theme1.xml><?xml version="1.0" encoding="utf-8"?>
<a:theme xmlns:a="http://schemas.openxmlformats.org/drawingml/2006/main" name="1_Office Theme">
  <a:themeElements>
    <a:clrScheme name="Custom 2">
      <a:dk1>
        <a:srgbClr val="000000"/>
      </a:dk1>
      <a:lt1>
        <a:srgbClr val="FFFFFF"/>
      </a:lt1>
      <a:dk2>
        <a:srgbClr val="0B2338"/>
      </a:dk2>
      <a:lt2>
        <a:srgbClr val="E7E6E6"/>
      </a:lt2>
      <a:accent1>
        <a:srgbClr val="E51D3E"/>
      </a:accent1>
      <a:accent2>
        <a:srgbClr val="ED7D31"/>
      </a:accent2>
      <a:accent3>
        <a:srgbClr val="78C044"/>
      </a:accent3>
      <a:accent4>
        <a:srgbClr val="0DA8D9"/>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2">
      <a:dk1>
        <a:srgbClr val="000000"/>
      </a:dk1>
      <a:lt1>
        <a:srgbClr val="FFFFFF"/>
      </a:lt1>
      <a:dk2>
        <a:srgbClr val="0B2338"/>
      </a:dk2>
      <a:lt2>
        <a:srgbClr val="E7E6E6"/>
      </a:lt2>
      <a:accent1>
        <a:srgbClr val="E51D3E"/>
      </a:accent1>
      <a:accent2>
        <a:srgbClr val="ED7D31"/>
      </a:accent2>
      <a:accent3>
        <a:srgbClr val="78C044"/>
      </a:accent3>
      <a:accent4>
        <a:srgbClr val="0DA8D9"/>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894E99C172A24489941E5861361F779" ma:contentTypeVersion="8" ma:contentTypeDescription="Create a new document." ma:contentTypeScope="" ma:versionID="771431e25d0fe5f94154fb889c3e9476">
  <xsd:schema xmlns:xsd="http://www.w3.org/2001/XMLSchema" xmlns:xs="http://www.w3.org/2001/XMLSchema" xmlns:p="http://schemas.microsoft.com/office/2006/metadata/properties" xmlns:ns2="754fbc98-762c-4a90-9774-edf41ff53b67" targetNamespace="http://schemas.microsoft.com/office/2006/metadata/properties" ma:root="true" ma:fieldsID="aec298c6dc5a8bb722e4e4f30310d181" ns2:_="">
    <xsd:import namespace="754fbc98-762c-4a90-9774-edf41ff53b6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4fbc98-762c-4a90-9774-edf41ff53b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DD80F7E-9034-40CD-8AB7-3E8F91AA0B54}"/>
</file>

<file path=customXml/itemProps2.xml><?xml version="1.0" encoding="utf-8"?>
<ds:datastoreItem xmlns:ds="http://schemas.openxmlformats.org/officeDocument/2006/customXml" ds:itemID="{8516BBB1-1D72-424A-B5A0-2681626E6728}">
  <ds:schemaRefs>
    <ds:schemaRef ds:uri="http://schemas.microsoft.com/sharepoint/v3/contenttype/forms"/>
  </ds:schemaRefs>
</ds:datastoreItem>
</file>

<file path=customXml/itemProps3.xml><?xml version="1.0" encoding="utf-8"?>
<ds:datastoreItem xmlns:ds="http://schemas.openxmlformats.org/officeDocument/2006/customXml" ds:itemID="{97E9386B-B9D4-4DD2-A9A2-BB4405422051}">
  <ds:schemaRefs>
    <ds:schemaRef ds:uri="http://schemas.microsoft.com/office/2006/metadata/properties"/>
    <ds:schemaRef ds:uri="754fbc98-762c-4a90-9774-edf41ff53b67"/>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purl.org/dc/elements/1.1/"/>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27735</TotalTime>
  <Words>1383</Words>
  <Application>Microsoft Office PowerPoint</Application>
  <PresentationFormat>Custom</PresentationFormat>
  <Paragraphs>102</Paragraphs>
  <Slides>2</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vt:i4>
      </vt:variant>
    </vt:vector>
  </HeadingPairs>
  <TitlesOfParts>
    <vt:vector size="8" baseType="lpstr">
      <vt:lpstr>Arial</vt:lpstr>
      <vt:lpstr>Calibri</vt:lpstr>
      <vt:lpstr>Trade Gothic LT Pro</vt:lpstr>
      <vt:lpstr>Trade Gothic LT Pro Bold</vt:lpstr>
      <vt:lpstr>1_Office Theme</vt:lpstr>
      <vt:lpstr>2_Office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ITK Worksheet Updates</dc:title>
  <dc:creator>Moonisha Rahman</dc:creator>
  <cp:lastModifiedBy>Jonathan Rotner</cp:lastModifiedBy>
  <cp:revision>140</cp:revision>
  <cp:lastPrinted>2021-06-21T19:26:52Z</cp:lastPrinted>
  <dcterms:created xsi:type="dcterms:W3CDTF">2021-02-16T17:30:35Z</dcterms:created>
  <dcterms:modified xsi:type="dcterms:W3CDTF">2021-06-25T14:45:42Z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0x0101009894E99C172A24489941E5861361F779</vt:lpwstr>
  </property>
</Properties>
</file>